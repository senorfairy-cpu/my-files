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4" Type="http://schemas.openxmlformats.org/officeDocument/2006/relationships/viewProps" Target="viewProps.xml"/><Relationship Id="rId33" Type="http://schemas.openxmlformats.org/officeDocument/2006/relationships/tableStyles" Target="tableStyles.xml"/><Relationship Id="rId32" Type="http://schemas.openxmlformats.org/officeDocument/2006/relationships/presProps" Target="presProps.xml"/><Relationship Id="rId31" Type="http://schemas.openxmlformats.org/officeDocument/2006/relationships/slide" Target="slides/slide30.xml"/><Relationship Id="rId30" Type="http://schemas.openxmlformats.org/officeDocument/2006/relationships/slide" Target="slides/slide29.xml"/><Relationship Id="rId3" Type="http://schemas.openxmlformats.org/officeDocument/2006/relationships/slide" Target="slides/slide2.xml"/><Relationship Id="rId29" Type="http://schemas.openxmlformats.org/officeDocument/2006/relationships/slide" Target="slides/slide28.xml"/><Relationship Id="rId28" Type="http://schemas.openxmlformats.org/officeDocument/2006/relationships/slide" Target="slides/slide27.xml"/><Relationship Id="rId27" Type="http://schemas.openxmlformats.org/officeDocument/2006/relationships/slide" Target="slides/slide26.xml"/><Relationship Id="rId26" Type="http://schemas.openxmlformats.org/officeDocument/2006/relationships/slide" Target="slides/slide25.xml"/><Relationship Id="rId25" Type="http://schemas.openxmlformats.org/officeDocument/2006/relationships/slide" Target="slides/slide24.xml"/><Relationship Id="rId24" Type="http://schemas.openxmlformats.org/officeDocument/2006/relationships/slide" Target="slides/slide23.xml"/><Relationship Id="rId23" Type="http://schemas.openxmlformats.org/officeDocument/2006/relationships/slide" Target="slides/slide22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15" Type="http://schemas.openxmlformats.org/officeDocument/2006/relationships/image" Target="../media/image18.png"/><Relationship Id="rId14" Type="http://schemas.openxmlformats.org/officeDocument/2006/relationships/image" Target="../media/image17.png"/><Relationship Id="rId13" Type="http://schemas.openxmlformats.org/officeDocument/2006/relationships/image" Target="../media/image16.png"/><Relationship Id="rId12" Type="http://schemas.openxmlformats.org/officeDocument/2006/relationships/image" Target="../media/image15.png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image" Target="../media/image33.png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7" Type="http://schemas.openxmlformats.org/officeDocument/2006/relationships/image" Target="../media/image46.png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image" Target="../media/image64.jpe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image" Target="../media/image90.jpeg"/><Relationship Id="rId5" Type="http://schemas.openxmlformats.org/officeDocument/2006/relationships/image" Target="../media/image89.png"/><Relationship Id="rId4" Type="http://schemas.openxmlformats.org/officeDocument/2006/relationships/image" Target="../media/image88.png"/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3.png"/><Relationship Id="rId8" Type="http://schemas.openxmlformats.org/officeDocument/2006/relationships/image" Target="../media/image102.png"/><Relationship Id="rId7" Type="http://schemas.openxmlformats.org/officeDocument/2006/relationships/image" Target="../media/image101.png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1" Type="http://schemas.openxmlformats.org/officeDocument/2006/relationships/image" Target="../media/image105.png"/><Relationship Id="rId10" Type="http://schemas.openxmlformats.org/officeDocument/2006/relationships/image" Target="../media/image10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7.png"/><Relationship Id="rId3" Type="http://schemas.openxmlformats.org/officeDocument/2006/relationships/hyperlink" Target="name@example.com" TargetMode="External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641400" y="503993"/>
            <a:ext cx="5895340" cy="37255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ts val="1286"/>
              </a:lnSpc>
              <a:tabLst/>
            </a:pP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PORTFOLIO</a:t>
            </a:r>
            <a:r>
              <a:rPr sz="900" b="1" kern="0" spc="6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900" b="1" kern="0" spc="-12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sz="900" b="1" kern="0" spc="-10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900" b="1" kern="0" spc="-10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6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2230" algn="l" rtl="0" eaLnBrk="0">
              <a:lnSpc>
                <a:spcPct val="94000"/>
              </a:lnSpc>
              <a:spcBef>
                <a:spcPts val="1530"/>
              </a:spcBef>
              <a:tabLst/>
            </a:pPr>
            <a:r>
              <a:rPr sz="5100" b="1" kern="0" spc="-6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Industrial</a:t>
            </a:r>
            <a:r>
              <a:rPr sz="5100" b="1" kern="0" spc="51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5100" b="1" kern="0" spc="-6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Product</a:t>
            </a:r>
            <a:r>
              <a:rPr sz="5100" b="1" kern="0" spc="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5100" b="1" kern="0" spc="-4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Marketing Visual</a:t>
            </a:r>
            <a:r>
              <a:rPr sz="5100" b="1" kern="0" spc="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5100" b="1" kern="0" spc="-6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Designer</a:t>
            </a:r>
            <a:endParaRPr sz="5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3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工业产品视觉</a:t>
            </a:r>
            <a:r>
              <a:rPr sz="1800" kern="0" spc="28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-3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× 海外营销</a:t>
            </a:r>
            <a:r>
              <a:rPr sz="1800" kern="0" spc="24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-3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× AI 创意设计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8"/>
              </a:lnSpc>
              <a:tabLst/>
            </a:pP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Name / Visual</a:t>
            </a:r>
            <a:r>
              <a:rPr sz="900" kern="0" spc="11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Designer</a:t>
            </a:r>
            <a:r>
              <a:rPr sz="900" kern="0" spc="1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</a:t>
            </a:r>
            <a:r>
              <a:rPr sz="900" kern="0" spc="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Industrial Tec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hnology</a:t>
            </a:r>
            <a:r>
              <a:rPr sz="900" kern="0" spc="1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Products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4008120" y="4495800"/>
            <a:ext cx="1338580" cy="393700"/>
          </a:xfrm>
          <a:prstGeom prst="rect">
            <a:avLst/>
          </a:prstGeom>
          <a:solidFill>
            <a:srgbClr val="12C8F4">
              <a:alpha val="13725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2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0" algn="l" rtl="0" eaLnBrk="0">
              <a:lnSpc>
                <a:spcPct val="88000"/>
              </a:lnSpc>
              <a:tabLst/>
            </a:pPr>
            <a:r>
              <a:rPr sz="1000" b="1" kern="0" spc="40" dirty="0">
                <a:solidFill>
                  <a:srgbClr val="DFF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多语言本地化视觉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1807463" y="4495800"/>
            <a:ext cx="1069848" cy="393192"/>
            <a:chOff x="0" y="0"/>
            <a:chExt cx="1069848" cy="393192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069848" cy="393192"/>
            </a:xfrm>
            <a:prstGeom prst="rect">
              <a:avLst/>
            </a:prstGeom>
          </p:spPr>
        </p:pic>
        <p:sp>
          <p:nvSpPr>
            <p:cNvPr id="14" name="textbox 14"/>
            <p:cNvSpPr/>
            <p:nvPr/>
          </p:nvSpPr>
          <p:spPr>
            <a:xfrm>
              <a:off x="-12700" y="-12700"/>
              <a:ext cx="1095375" cy="4210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149860" algn="l" rtl="0" eaLnBrk="0">
                <a:lnSpc>
                  <a:spcPct val="88000"/>
                </a:lnSpc>
                <a:spcBef>
                  <a:spcPts val="1"/>
                </a:spcBef>
                <a:tabLst/>
              </a:pPr>
              <a:r>
                <a:rPr sz="1000" b="1" kern="0" spc="40" dirty="0">
                  <a:solidFill>
                    <a:srgbClr val="DFF8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海外营销设计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646175" y="4495800"/>
            <a:ext cx="1069847" cy="393192"/>
            <a:chOff x="0" y="0"/>
            <a:chExt cx="1069847" cy="393192"/>
          </a:xfrm>
        </p:grpSpPr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069847" cy="393192"/>
            </a:xfrm>
            <a:prstGeom prst="rect">
              <a:avLst/>
            </a:prstGeom>
          </p:spPr>
        </p:pic>
        <p:sp>
          <p:nvSpPr>
            <p:cNvPr id="18" name="textbox 18"/>
            <p:cNvSpPr/>
            <p:nvPr/>
          </p:nvSpPr>
          <p:spPr>
            <a:xfrm>
              <a:off x="-12700" y="-12700"/>
              <a:ext cx="1095375" cy="4210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150495" algn="l" rtl="0" eaLnBrk="0">
                <a:lnSpc>
                  <a:spcPct val="88000"/>
                </a:lnSpc>
                <a:spcBef>
                  <a:spcPts val="1"/>
                </a:spcBef>
                <a:tabLst/>
              </a:pPr>
              <a:r>
                <a:rPr sz="1000" b="1" kern="0" spc="40" dirty="0">
                  <a:solidFill>
                    <a:srgbClr val="DFF8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工业产品视觉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2971800" y="4495800"/>
            <a:ext cx="944879" cy="393192"/>
            <a:chOff x="0" y="0"/>
            <a:chExt cx="944879" cy="393192"/>
          </a:xfrm>
        </p:grpSpPr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944879" cy="393192"/>
            </a:xfrm>
            <a:prstGeom prst="rect">
              <a:avLst/>
            </a:prstGeom>
          </p:spPr>
        </p:pic>
        <p:sp>
          <p:nvSpPr>
            <p:cNvPr id="22" name="textbox 22"/>
            <p:cNvSpPr/>
            <p:nvPr/>
          </p:nvSpPr>
          <p:spPr>
            <a:xfrm>
              <a:off x="-12700" y="-12700"/>
              <a:ext cx="970280" cy="4210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marL="146685" algn="l" rtl="0" eaLnBrk="0">
                <a:lnSpc>
                  <a:spcPct val="88000"/>
                </a:lnSpc>
                <a:spcBef>
                  <a:spcPts val="5"/>
                </a:spcBef>
                <a:tabLst/>
              </a:pPr>
              <a:r>
                <a:rPr sz="1000" b="1" kern="0" spc="0" dirty="0">
                  <a:solidFill>
                    <a:srgbClr val="DFF8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  <a:r>
                <a:rPr sz="1000" b="1" kern="0" spc="50" dirty="0">
                  <a:solidFill>
                    <a:srgbClr val="DFF8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视觉生成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 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" name="rect 26"/>
          <p:cNvSpPr/>
          <p:nvPr/>
        </p:nvSpPr>
        <p:spPr>
          <a:xfrm>
            <a:off x="0" y="0"/>
            <a:ext cx="12191701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28" name="table 28"/>
          <p:cNvGraphicFramePr>
            <a:graphicFrameLocks noGrp="1"/>
          </p:cNvGraphicFramePr>
          <p:nvPr/>
        </p:nvGraphicFramePr>
        <p:xfrm>
          <a:off x="4352925" y="2609850"/>
          <a:ext cx="3486150" cy="2676525"/>
        </p:xfrm>
        <a:graphic>
          <a:graphicData uri="http://schemas.openxmlformats.org/drawingml/2006/table">
            <a:tbl>
              <a:tblPr/>
              <a:tblGrid>
                <a:gridCol w="3486150"/>
              </a:tblGrid>
              <a:tr h="26638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14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1145" algn="l" rtl="0" eaLnBrk="0">
                        <a:lnSpc>
                          <a:spcPts val="2374"/>
                        </a:lnSpc>
                        <a:tabLst/>
                      </a:pPr>
                      <a:r>
                        <a:rPr sz="1800" b="1" kern="0" spc="-20" dirty="0">
                          <a:solidFill>
                            <a:srgbClr val="111827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Skill /</a:t>
                      </a:r>
                      <a:r>
                        <a:rPr sz="1800" b="1" kern="0" spc="130" dirty="0">
                          <a:solidFill>
                            <a:srgbClr val="111827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800" b="1" kern="0" spc="-20" dirty="0">
                          <a:solidFill>
                            <a:srgbClr val="111827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Design</a:t>
                      </a:r>
                      <a:endParaRPr sz="18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3375" algn="l" rtl="0" eaLnBrk="0">
                        <a:lnSpc>
                          <a:spcPct val="90000"/>
                        </a:lnSpc>
                        <a:spcBef>
                          <a:spcPts val="1189"/>
                        </a:spcBef>
                        <a:tabLst>
                          <a:tab pos="452119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-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Visual</a:t>
                      </a:r>
                      <a:r>
                        <a:rPr sz="1200" kern="0" spc="1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Des</a:t>
                      </a:r>
                      <a:r>
                        <a:rPr sz="1200" kern="0" spc="-2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ign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3375" algn="l" rtl="0" eaLnBrk="0">
                        <a:lnSpc>
                          <a:spcPts val="1549"/>
                        </a:lnSpc>
                        <a:spcBef>
                          <a:spcPts val="752"/>
                        </a:spcBef>
                        <a:tabLst>
                          <a:tab pos="465455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-2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Marketing</a:t>
                      </a:r>
                      <a:r>
                        <a:rPr sz="1200" kern="0" spc="13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Design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3375" algn="l" rtl="0" eaLnBrk="0">
                        <a:lnSpc>
                          <a:spcPct val="90000"/>
                        </a:lnSpc>
                        <a:spcBef>
                          <a:spcPts val="1053"/>
                        </a:spcBef>
                        <a:tabLst>
                          <a:tab pos="465455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-2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Branding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3375" algn="l" rtl="0" eaLnBrk="0">
                        <a:lnSpc>
                          <a:spcPts val="1549"/>
                        </a:lnSpc>
                        <a:spcBef>
                          <a:spcPts val="6"/>
                        </a:spcBef>
                        <a:tabLst>
                          <a:tab pos="465455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-2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Product</a:t>
                      </a:r>
                      <a:r>
                        <a:rPr sz="1200" kern="0" spc="1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Renderin</a:t>
                      </a:r>
                      <a:r>
                        <a:rPr sz="1200" kern="0" spc="-3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629149" y="4238625"/>
            <a:ext cx="57150" cy="5715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629149" y="3933825"/>
            <a:ext cx="57150" cy="5715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629149" y="3638550"/>
            <a:ext cx="57150" cy="5715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629149" y="3343275"/>
            <a:ext cx="57150" cy="57150"/>
          </a:xfrm>
          <a:prstGeom prst="rect">
            <a:avLst/>
          </a:prstGeom>
        </p:spPr>
      </p:pic>
      <p:graphicFrame>
        <p:nvGraphicFramePr>
          <p:cNvPr id="38" name="table 38"/>
          <p:cNvGraphicFramePr>
            <a:graphicFrameLocks noGrp="1"/>
          </p:cNvGraphicFramePr>
          <p:nvPr/>
        </p:nvGraphicFramePr>
        <p:xfrm>
          <a:off x="647700" y="2609850"/>
          <a:ext cx="3476625" cy="2676525"/>
        </p:xfrm>
        <a:graphic>
          <a:graphicData uri="http://schemas.openxmlformats.org/drawingml/2006/table">
            <a:tbl>
              <a:tblPr/>
              <a:tblGrid>
                <a:gridCol w="3476625"/>
              </a:tblGrid>
              <a:tr h="26638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16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289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800" b="1" kern="0" spc="-20" dirty="0">
                          <a:solidFill>
                            <a:srgbClr val="111827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长期参与</a:t>
                      </a:r>
                      <a:endParaRPr sz="18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3375" algn="l" rtl="0" eaLnBrk="0">
                        <a:lnSpc>
                          <a:spcPct val="87000"/>
                        </a:lnSpc>
                        <a:spcBef>
                          <a:spcPts val="1262"/>
                        </a:spcBef>
                        <a:tabLst>
                          <a:tab pos="449580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-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产品营销海报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3375" algn="l" rtl="0" eaLnBrk="0">
                        <a:lnSpc>
                          <a:spcPct val="87000"/>
                        </a:lnSpc>
                        <a:spcBef>
                          <a:spcPts val="1075"/>
                        </a:spcBef>
                        <a:tabLst>
                          <a:tab pos="449580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-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海外视觉本地化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3375" algn="l" rtl="0" eaLnBrk="0">
                        <a:lnSpc>
                          <a:spcPct val="87000"/>
                        </a:lnSpc>
                        <a:spcBef>
                          <a:spcPts val="1071"/>
                        </a:spcBef>
                        <a:tabLst>
                          <a:tab pos="451484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-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工程应用场景构建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3375" algn="l" rtl="0" eaLnBrk="0">
                        <a:lnSpc>
                          <a:spcPct val="87000"/>
                        </a:lnSpc>
                        <a:spcBef>
                          <a:spcPts val="1151"/>
                        </a:spcBef>
                        <a:tabLst>
                          <a:tab pos="448944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-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AI视觉创意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3375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>
                          <a:tab pos="457834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-2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品牌视觉升级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0" name="picture 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23924" y="4533900"/>
            <a:ext cx="57150" cy="5715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23924" y="4238625"/>
            <a:ext cx="57150" cy="5715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23924" y="3933825"/>
            <a:ext cx="57150" cy="5715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923924" y="3638550"/>
            <a:ext cx="57150" cy="5715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923924" y="3343275"/>
            <a:ext cx="57150" cy="57150"/>
          </a:xfrm>
          <a:prstGeom prst="rect">
            <a:avLst/>
          </a:prstGeom>
        </p:spPr>
      </p:pic>
      <p:graphicFrame>
        <p:nvGraphicFramePr>
          <p:cNvPr id="50" name="table 50"/>
          <p:cNvGraphicFramePr>
            <a:graphicFrameLocks noGrp="1"/>
          </p:cNvGraphicFramePr>
          <p:nvPr/>
        </p:nvGraphicFramePr>
        <p:xfrm>
          <a:off x="8067675" y="2609850"/>
          <a:ext cx="3476625" cy="2676525"/>
        </p:xfrm>
        <a:graphic>
          <a:graphicData uri="http://schemas.openxmlformats.org/drawingml/2006/table">
            <a:tbl>
              <a:tblPr/>
              <a:tblGrid>
                <a:gridCol w="3476625"/>
              </a:tblGrid>
              <a:tr h="26638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14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7175" algn="l" rtl="0" eaLnBrk="0">
                        <a:lnSpc>
                          <a:spcPts val="2374"/>
                        </a:lnSpc>
                        <a:tabLst/>
                      </a:pPr>
                      <a:r>
                        <a:rPr sz="1800" b="1" kern="0" spc="-40" dirty="0">
                          <a:solidFill>
                            <a:srgbClr val="111827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Tools</a:t>
                      </a:r>
                      <a:endParaRPr sz="18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3375" algn="l" rtl="0" eaLnBrk="0">
                        <a:lnSpc>
                          <a:spcPts val="1549"/>
                        </a:lnSpc>
                        <a:spcBef>
                          <a:spcPts val="912"/>
                        </a:spcBef>
                        <a:tabLst>
                          <a:tab pos="459105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-2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Photoshop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3375" algn="l" rtl="0" eaLnBrk="0">
                        <a:lnSpc>
                          <a:spcPts val="1549"/>
                        </a:lnSpc>
                        <a:spcBef>
                          <a:spcPts val="776"/>
                        </a:spcBef>
                        <a:tabLst>
                          <a:tab pos="459105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-2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Illustrator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3375" algn="l" rtl="0" eaLnBrk="0">
                        <a:lnSpc>
                          <a:spcPct val="90000"/>
                        </a:lnSpc>
                        <a:spcBef>
                          <a:spcPts val="1055"/>
                        </a:spcBef>
                        <a:tabLst>
                          <a:tab pos="459105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-3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Figma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3375" algn="l" rtl="0" eaLnBrk="0">
                        <a:lnSpc>
                          <a:spcPts val="1549"/>
                        </a:lnSpc>
                        <a:spcBef>
                          <a:spcPts val="825"/>
                        </a:spcBef>
                        <a:tabLst>
                          <a:tab pos="459105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-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Blender / C4</a:t>
                      </a:r>
                      <a:r>
                        <a:rPr sz="1200" kern="0" spc="-2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3375" algn="l" rtl="0" eaLnBrk="0">
                        <a:lnSpc>
                          <a:spcPct val="90000"/>
                        </a:lnSpc>
                        <a:spcBef>
                          <a:spcPts val="1053"/>
                        </a:spcBef>
                        <a:tabLst>
                          <a:tab pos="459105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-2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Midjourney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3375" algn="l" rtl="0" eaLnBrk="0">
                        <a:lnSpc>
                          <a:spcPct val="81000"/>
                        </a:lnSpc>
                        <a:spcBef>
                          <a:spcPts val="6"/>
                        </a:spcBef>
                        <a:tabLst>
                          <a:tab pos="451484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-2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ChatGPT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2" name="picture 5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8343900" y="4829175"/>
            <a:ext cx="57150" cy="5715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8343900" y="4533900"/>
            <a:ext cx="57150" cy="5715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8343900" y="4238625"/>
            <a:ext cx="57150" cy="5715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8343900" y="3933825"/>
            <a:ext cx="57150" cy="5715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8343900" y="3638550"/>
            <a:ext cx="57150" cy="57150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8343900" y="3343275"/>
            <a:ext cx="57150" cy="57150"/>
          </a:xfrm>
          <a:prstGeom prst="rect">
            <a:avLst/>
          </a:prstGeom>
        </p:spPr>
      </p:pic>
      <p:sp>
        <p:nvSpPr>
          <p:cNvPr id="64" name="textbox 64"/>
          <p:cNvSpPr/>
          <p:nvPr/>
        </p:nvSpPr>
        <p:spPr>
          <a:xfrm>
            <a:off x="639114" y="1658975"/>
            <a:ext cx="7108190" cy="586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3000"/>
              </a:lnSpc>
              <a:tabLst/>
            </a:pPr>
            <a:r>
              <a:rPr sz="1800" kern="0" spc="0" dirty="0">
                <a:solidFill>
                  <a:srgbClr val="25314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专注于工业科技产品视觉与商业传播设计，擅长将复杂技</a:t>
            </a:r>
            <a:r>
              <a:rPr sz="1800" kern="0" spc="-10" dirty="0">
                <a:solidFill>
                  <a:srgbClr val="25314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术产品转化为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2625"/>
              </a:lnSpc>
              <a:tabLst/>
            </a:pPr>
            <a:r>
              <a:rPr sz="1800" kern="0" spc="-70" dirty="0">
                <a:solidFill>
                  <a:srgbClr val="25314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易理解、高可信、高转化的视觉</a:t>
            </a:r>
            <a:r>
              <a:rPr sz="1800" kern="0" spc="-80" dirty="0">
                <a:solidFill>
                  <a:srgbClr val="25314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表达。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637743" y="503993"/>
            <a:ext cx="2327910" cy="8883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ts val="1286"/>
              </a:lnSpc>
              <a:tabLst/>
            </a:pPr>
            <a:r>
              <a:rPr sz="900" b="1" kern="0" spc="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PART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6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sz="900" b="1" kern="0" spc="-6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6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</a:t>
            </a:r>
            <a:r>
              <a:rPr sz="900" b="1" kern="0" spc="2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6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  P</a:t>
            </a:r>
            <a:r>
              <a:rPr sz="900" b="1" kern="0" spc="-10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6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2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tabLst/>
            </a:pPr>
            <a:r>
              <a:rPr sz="3600" b="1" kern="0" spc="-6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About</a:t>
            </a:r>
            <a:r>
              <a:rPr sz="3600" b="1" kern="0" spc="35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600" b="1" kern="0" spc="-6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Me</a:t>
            </a:r>
            <a:endParaRPr sz="3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8"/>
              </a:lnSpc>
              <a:tabLst/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Marketin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Designer</a:t>
            </a:r>
            <a:r>
              <a:rPr sz="900" kern="0" spc="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path 70"/>
          <p:cNvSpPr/>
          <p:nvPr/>
        </p:nvSpPr>
        <p:spPr>
          <a:xfrm>
            <a:off x="4093876" y="5232749"/>
            <a:ext cx="25010" cy="32702"/>
          </a:xfrm>
          <a:custGeom>
            <a:avLst/>
            <a:gdLst/>
            <a:ahLst/>
            <a:cxnLst/>
            <a:rect l="0" t="0" r="0" b="0"/>
            <a:pathLst>
              <a:path w="39" h="51">
                <a:moveTo>
                  <a:pt x="31" y="7"/>
                </a:moveTo>
                <a:cubicBezTo>
                  <a:pt x="29" y="14"/>
                  <a:pt x="25" y="20"/>
                  <a:pt x="21" y="26"/>
                </a:cubicBezTo>
                <a:cubicBezTo>
                  <a:pt x="17" y="33"/>
                  <a:pt x="12" y="38"/>
                  <a:pt x="7" y="44"/>
                </a:cubicBezTo>
              </a:path>
            </a:pathLst>
          </a:custGeom>
          <a:noFill/>
          <a:ln w="9525" cap="flat">
            <a:solidFill>
              <a:srgbClr val="DFE4E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 7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4" name="rect 74"/>
          <p:cNvSpPr/>
          <p:nvPr/>
        </p:nvSpPr>
        <p:spPr>
          <a:xfrm>
            <a:off x="0" y="0"/>
            <a:ext cx="12191701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76" name="table 76"/>
          <p:cNvGraphicFramePr>
            <a:graphicFrameLocks noGrp="1"/>
          </p:cNvGraphicFramePr>
          <p:nvPr/>
        </p:nvGraphicFramePr>
        <p:xfrm>
          <a:off x="647700" y="1800225"/>
          <a:ext cx="2571750" cy="3238500"/>
        </p:xfrm>
        <a:graphic>
          <a:graphicData uri="http://schemas.openxmlformats.org/drawingml/2006/table">
            <a:tbl>
              <a:tblPr/>
              <a:tblGrid>
                <a:gridCol w="2571750"/>
              </a:tblGrid>
              <a:tr h="3225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9559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b="1" kern="0" spc="-30" dirty="0">
                          <a:solidFill>
                            <a:srgbClr val="111827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品牌视觉</a:t>
                      </a:r>
                      <a:endParaRPr sz="18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278129" algn="l" rtl="0" eaLnBrk="0">
                        <a:lnSpc>
                          <a:spcPts val="1681"/>
                        </a:lnSpc>
                        <a:spcBef>
                          <a:spcPts val="848"/>
                        </a:spcBef>
                        <a:tabLst/>
                      </a:pPr>
                      <a:r>
                        <a:rPr sz="1200" b="1" kern="0" spc="6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海报 / </a:t>
                      </a:r>
                      <a:r>
                        <a:rPr sz="1200" b="1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Banner</a:t>
                      </a:r>
                      <a:r>
                        <a:rPr sz="1200" b="1" kern="0" spc="6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展会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129" algn="l" rtl="0" eaLnBrk="0">
                        <a:lnSpc>
                          <a:spcPct val="122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200" kern="0" spc="7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把品牌识别延展到不同商业</a:t>
                      </a: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</a:t>
                      </a:r>
                      <a:r>
                        <a:rPr sz="1200" kern="0" spc="-2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触点。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8" name="table 78"/>
          <p:cNvGraphicFramePr>
            <a:graphicFrameLocks noGrp="1"/>
          </p:cNvGraphicFramePr>
          <p:nvPr/>
        </p:nvGraphicFramePr>
        <p:xfrm>
          <a:off x="6200775" y="1800225"/>
          <a:ext cx="2571750" cy="3238500"/>
        </p:xfrm>
        <a:graphic>
          <a:graphicData uri="http://schemas.openxmlformats.org/drawingml/2006/table">
            <a:tbl>
              <a:tblPr/>
              <a:tblGrid>
                <a:gridCol w="2571750"/>
              </a:tblGrid>
              <a:tr h="3225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7495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b="1" kern="0" spc="-10" dirty="0">
                          <a:solidFill>
                            <a:srgbClr val="111827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创意</a:t>
                      </a:r>
                      <a:endParaRPr sz="18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276859" algn="l" rtl="0" eaLnBrk="0">
                        <a:lnSpc>
                          <a:spcPts val="1681"/>
                        </a:lnSpc>
                        <a:spcBef>
                          <a:spcPts val="861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b="1" kern="0" spc="7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场景生成 / 海外</a:t>
                      </a:r>
                      <a:r>
                        <a:rPr sz="1200" b="1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2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129" indent="1270" algn="l" rtl="0" eaLnBrk="0">
                        <a:lnSpc>
                          <a:spcPct val="122000"/>
                        </a:lnSpc>
                        <a:tabLst/>
                      </a:pPr>
                      <a:r>
                        <a:rPr sz="1200" kern="0" spc="7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 </a:t>
                      </a: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  <a:r>
                        <a:rPr sz="1200" kern="0" spc="7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提高工业视觉</a:t>
                      </a:r>
                      <a:r>
                        <a:rPr sz="1200" kern="0" spc="6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方案探</a:t>
                      </a: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 </a:t>
                      </a:r>
                      <a:r>
                        <a:rPr sz="1200" kern="0" spc="3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索与生产效率。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0" name="table 80"/>
          <p:cNvGraphicFramePr>
            <a:graphicFrameLocks noGrp="1"/>
          </p:cNvGraphicFramePr>
          <p:nvPr/>
        </p:nvGraphicFramePr>
        <p:xfrm>
          <a:off x="3429000" y="1800225"/>
          <a:ext cx="2562225" cy="3238500"/>
        </p:xfrm>
        <a:graphic>
          <a:graphicData uri="http://schemas.openxmlformats.org/drawingml/2006/table">
            <a:tbl>
              <a:tblPr/>
              <a:tblGrid>
                <a:gridCol w="2562225"/>
              </a:tblGrid>
              <a:tr h="3225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3684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b="1" kern="0" spc="-10" dirty="0">
                          <a:solidFill>
                            <a:srgbClr val="111827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产品表达</a:t>
                      </a:r>
                      <a:endParaRPr sz="18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271779" algn="l" rtl="0" eaLnBrk="0">
                        <a:lnSpc>
                          <a:spcPts val="1681"/>
                        </a:lnSpc>
                        <a:spcBef>
                          <a:spcPts val="848"/>
                        </a:spcBef>
                        <a:tabLst/>
                      </a:pPr>
                      <a:r>
                        <a:rPr sz="1200" b="1" kern="0" spc="5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精修 / 合成 /</a:t>
                      </a:r>
                      <a:r>
                        <a:rPr sz="1200" b="1" kern="0" spc="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kern="0" spc="5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9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3050" algn="l" rtl="0" eaLnBrk="0">
                        <a:lnSpc>
                          <a:spcPct val="122000"/>
                        </a:lnSpc>
                        <a:tabLst/>
                      </a:pPr>
                      <a:r>
                        <a:rPr sz="1200" kern="0" spc="7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把技术产品做成可理解、可</a:t>
                      </a: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</a:t>
                      </a:r>
                      <a:r>
                        <a:rPr sz="1200" kern="0" spc="3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信赖的视觉资产。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2" name="table 82"/>
          <p:cNvGraphicFramePr>
            <a:graphicFrameLocks noGrp="1"/>
          </p:cNvGraphicFramePr>
          <p:nvPr/>
        </p:nvGraphicFramePr>
        <p:xfrm>
          <a:off x="8982075" y="1800225"/>
          <a:ext cx="2562225" cy="3238500"/>
        </p:xfrm>
        <a:graphic>
          <a:graphicData uri="http://schemas.openxmlformats.org/drawingml/2006/table">
            <a:tbl>
              <a:tblPr/>
              <a:tblGrid>
                <a:gridCol w="2562225"/>
              </a:tblGrid>
              <a:tr h="3225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6225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b="1" kern="0" spc="-10" dirty="0">
                          <a:solidFill>
                            <a:srgbClr val="111827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多语言营销</a:t>
                      </a:r>
                      <a:endParaRPr sz="18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274954" algn="l" rtl="0" eaLnBrk="0">
                        <a:lnSpc>
                          <a:spcPts val="1681"/>
                        </a:lnSpc>
                        <a:spcBef>
                          <a:spcPts val="861"/>
                        </a:spcBef>
                        <a:tabLst/>
                      </a:pPr>
                      <a:r>
                        <a:rPr sz="1200" b="1" kern="0" spc="5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英语 / 法语 / 阿拉伯语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1940" indent="-8889" algn="l" rtl="0" eaLnBrk="0">
                        <a:lnSpc>
                          <a:spcPct val="122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适配不同市场的语言长</a:t>
                      </a:r>
                      <a:r>
                        <a:rPr sz="1200" kern="0" spc="-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度、</a:t>
                      </a: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 </a:t>
                      </a:r>
                      <a:r>
                        <a:rPr sz="1200" kern="0" spc="3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阅读方向与版式重心。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4" name="textbox 84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8"/>
              </a:lnSpc>
              <a:tabLst/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Marketin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Designer</a:t>
            </a:r>
            <a:r>
              <a:rPr sz="900" kern="0" spc="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642315" y="904062"/>
            <a:ext cx="1847214" cy="5029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600" b="1" kern="0" spc="-2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能力地图</a:t>
            </a:r>
            <a:endParaRPr sz="3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8" name="picture 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38200" y="1990725"/>
            <a:ext cx="590550" cy="590550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619500" y="1990725"/>
            <a:ext cx="590550" cy="590550"/>
          </a:xfrm>
          <a:prstGeom prst="rect">
            <a:avLst/>
          </a:prstGeom>
        </p:spPr>
      </p:pic>
      <p:pic>
        <p:nvPicPr>
          <p:cNvPr id="92" name="picture 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391275" y="1990725"/>
            <a:ext cx="590550" cy="590550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172575" y="1990725"/>
            <a:ext cx="590550" cy="590550"/>
          </a:xfrm>
          <a:prstGeom prst="rect">
            <a:avLst/>
          </a:prstGeom>
        </p:spPr>
      </p:pic>
      <p:sp>
        <p:nvSpPr>
          <p:cNvPr id="96" name="textbox 96"/>
          <p:cNvSpPr/>
          <p:nvPr/>
        </p:nvSpPr>
        <p:spPr>
          <a:xfrm>
            <a:off x="645772" y="503993"/>
            <a:ext cx="985519" cy="189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86"/>
              </a:lnSpc>
              <a:tabLst/>
            </a:pPr>
            <a:r>
              <a:rPr sz="900" b="1" kern="0" spc="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PART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6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sz="900" b="1" kern="0" spc="-6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6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</a:t>
            </a:r>
            <a:r>
              <a:rPr sz="900" b="1" kern="0" spc="2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6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  P</a:t>
            </a:r>
            <a:r>
              <a:rPr sz="900" b="1" kern="0" spc="-7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6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" name="path 98"/>
          <p:cNvSpPr/>
          <p:nvPr/>
        </p:nvSpPr>
        <p:spPr>
          <a:xfrm>
            <a:off x="3484858" y="1800225"/>
            <a:ext cx="44153" cy="16411"/>
          </a:xfrm>
          <a:custGeom>
            <a:avLst/>
            <a:gdLst/>
            <a:ahLst/>
            <a:cxnLst/>
            <a:rect l="0" t="0" r="0" b="0"/>
            <a:pathLst>
              <a:path w="69" h="25">
                <a:moveTo>
                  <a:pt x="7" y="18"/>
                </a:moveTo>
                <a:cubicBezTo>
                  <a:pt x="16" y="14"/>
                  <a:pt x="25" y="12"/>
                  <a:pt x="34" y="10"/>
                </a:cubicBezTo>
                <a:cubicBezTo>
                  <a:pt x="43" y="8"/>
                  <a:pt x="52" y="7"/>
                  <a:pt x="62" y="7"/>
                </a:cubicBezTo>
              </a:path>
            </a:pathLst>
          </a:custGeom>
          <a:noFill/>
          <a:ln w="9525" cap="flat">
            <a:solidFill>
              <a:srgbClr val="DFE4E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0" name="path 100"/>
          <p:cNvSpPr/>
          <p:nvPr/>
        </p:nvSpPr>
        <p:spPr>
          <a:xfrm>
            <a:off x="9037933" y="1800225"/>
            <a:ext cx="44153" cy="16411"/>
          </a:xfrm>
          <a:custGeom>
            <a:avLst/>
            <a:gdLst/>
            <a:ahLst/>
            <a:cxnLst/>
            <a:rect l="0" t="0" r="0" b="0"/>
            <a:pathLst>
              <a:path w="69" h="25">
                <a:moveTo>
                  <a:pt x="7" y="18"/>
                </a:moveTo>
                <a:cubicBezTo>
                  <a:pt x="16" y="14"/>
                  <a:pt x="25" y="12"/>
                  <a:pt x="34" y="10"/>
                </a:cubicBezTo>
                <a:cubicBezTo>
                  <a:pt x="43" y="8"/>
                  <a:pt x="52" y="7"/>
                  <a:pt x="62" y="7"/>
                </a:cubicBezTo>
              </a:path>
            </a:pathLst>
          </a:custGeom>
          <a:noFill/>
          <a:ln w="9525" cap="flat">
            <a:solidFill>
              <a:srgbClr val="DFE4E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2" name="path 102"/>
          <p:cNvSpPr/>
          <p:nvPr/>
        </p:nvSpPr>
        <p:spPr>
          <a:xfrm>
            <a:off x="703559" y="1800225"/>
            <a:ext cx="44153" cy="16411"/>
          </a:xfrm>
          <a:custGeom>
            <a:avLst/>
            <a:gdLst/>
            <a:ahLst/>
            <a:cxnLst/>
            <a:rect l="0" t="0" r="0" b="0"/>
            <a:pathLst>
              <a:path w="69" h="25">
                <a:moveTo>
                  <a:pt x="7" y="18"/>
                </a:moveTo>
                <a:cubicBezTo>
                  <a:pt x="16" y="14"/>
                  <a:pt x="25" y="12"/>
                  <a:pt x="34" y="10"/>
                </a:cubicBezTo>
                <a:cubicBezTo>
                  <a:pt x="43" y="8"/>
                  <a:pt x="52" y="7"/>
                  <a:pt x="62" y="7"/>
                </a:cubicBezTo>
              </a:path>
            </a:pathLst>
          </a:custGeom>
          <a:noFill/>
          <a:ln w="9525" cap="flat">
            <a:solidFill>
              <a:srgbClr val="DFE4E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4" name="path 104"/>
          <p:cNvSpPr/>
          <p:nvPr/>
        </p:nvSpPr>
        <p:spPr>
          <a:xfrm>
            <a:off x="6256634" y="1800225"/>
            <a:ext cx="44153" cy="16411"/>
          </a:xfrm>
          <a:custGeom>
            <a:avLst/>
            <a:gdLst/>
            <a:ahLst/>
            <a:cxnLst/>
            <a:rect l="0" t="0" r="0" b="0"/>
            <a:pathLst>
              <a:path w="69" h="25">
                <a:moveTo>
                  <a:pt x="7" y="18"/>
                </a:moveTo>
                <a:cubicBezTo>
                  <a:pt x="16" y="14"/>
                  <a:pt x="25" y="12"/>
                  <a:pt x="34" y="10"/>
                </a:cubicBezTo>
                <a:cubicBezTo>
                  <a:pt x="43" y="8"/>
                  <a:pt x="52" y="7"/>
                  <a:pt x="62" y="7"/>
                </a:cubicBezTo>
              </a:path>
            </a:pathLst>
          </a:custGeom>
          <a:noFill/>
          <a:ln w="9525" cap="flat">
            <a:solidFill>
              <a:srgbClr val="DFE4E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 10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08" name="picture 1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1701" cy="6858000"/>
          </a:xfrm>
          <a:prstGeom prst="rect">
            <a:avLst/>
          </a:prstGeom>
        </p:spPr>
      </p:pic>
      <p:sp>
        <p:nvSpPr>
          <p:cNvPr id="110" name="textbox 110"/>
          <p:cNvSpPr/>
          <p:nvPr/>
        </p:nvSpPr>
        <p:spPr>
          <a:xfrm>
            <a:off x="637286" y="2456618"/>
            <a:ext cx="5579745" cy="41128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954" algn="l" rtl="0" eaLnBrk="0">
              <a:lnSpc>
                <a:spcPts val="1286"/>
              </a:lnSpc>
              <a:tabLst/>
            </a:pP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PART</a:t>
            </a:r>
            <a:r>
              <a:rPr sz="900" b="1" kern="0" spc="5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sz="900" b="1" kern="0" spc="-10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900" b="1" kern="0" spc="23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900" b="1" kern="0" spc="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CORE</a:t>
            </a:r>
            <a:r>
              <a:rPr sz="900" b="1" kern="0" spc="4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PROJECT</a:t>
            </a:r>
            <a:r>
              <a:rPr sz="900" b="1" kern="0" spc="1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sz="900" b="1" kern="0" spc="-6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12700" indent="5080" algn="l" rtl="0" eaLnBrk="0">
              <a:lnSpc>
                <a:spcPct val="99000"/>
              </a:lnSpc>
              <a:spcBef>
                <a:spcPts val="1127"/>
              </a:spcBef>
              <a:tabLst/>
            </a:pPr>
            <a:r>
              <a:rPr sz="3600" b="1" kern="0" spc="-7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TOKNAV</a:t>
            </a:r>
            <a:r>
              <a:rPr sz="3600" b="1" kern="0" spc="37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600" b="1" kern="0" spc="-7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RTK</a:t>
            </a:r>
            <a:r>
              <a:rPr sz="3600" b="1" kern="0" spc="27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600" b="1" kern="0" spc="-7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Marketing</a:t>
            </a:r>
            <a:r>
              <a:rPr sz="3600" b="1" kern="0" spc="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600" b="1" kern="0" spc="-1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Visual Syst</a:t>
            </a:r>
            <a:r>
              <a:rPr sz="3600" b="1" kern="0" spc="-2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em</a:t>
            </a:r>
            <a:endParaRPr sz="3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7000"/>
              </a:lnSpc>
              <a:spcBef>
                <a:spcPts val="542"/>
              </a:spcBef>
              <a:tabLst/>
            </a:pPr>
            <a:r>
              <a:rPr sz="1800" kern="0" spc="-1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海外营销视觉升级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22225" algn="l" rtl="0" eaLnBrk="0">
              <a:lnSpc>
                <a:spcPts val="1258"/>
              </a:lnSpc>
              <a:tabLst/>
            </a:pP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Role: Visual</a:t>
            </a:r>
            <a:r>
              <a:rPr sz="900" kern="0" spc="11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 / Scene</a:t>
            </a:r>
            <a:r>
              <a:rPr sz="900" kern="0" spc="1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Rendering /</a:t>
            </a:r>
            <a:r>
              <a:rPr sz="900" kern="0" spc="11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Poster</a:t>
            </a:r>
            <a:r>
              <a:rPr sz="900" kern="0" spc="11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ign / AI Visual</a:t>
            </a:r>
            <a:r>
              <a:rPr sz="900" kern="0" spc="1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Production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2" name="picture 1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277354" y="1046913"/>
            <a:ext cx="4437379" cy="5105548"/>
          </a:xfrm>
          <a:prstGeom prst="rect">
            <a:avLst/>
          </a:prstGeom>
        </p:spPr>
      </p:pic>
      <p:pic>
        <p:nvPicPr>
          <p:cNvPr id="114" name="picture 1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448550" y="1047750"/>
            <a:ext cx="1962150" cy="4762500"/>
          </a:xfrm>
          <a:prstGeom prst="rect">
            <a:avLst/>
          </a:prstGeom>
        </p:spPr>
      </p:pic>
      <p:pic>
        <p:nvPicPr>
          <p:cNvPr id="116" name="picture 1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582150" y="1047750"/>
            <a:ext cx="1962150" cy="4762500"/>
          </a:xfrm>
          <a:prstGeom prst="rect">
            <a:avLst/>
          </a:prstGeom>
        </p:spPr>
      </p:pic>
      <p:sp>
        <p:nvSpPr>
          <p:cNvPr id="118" name="textbox 118"/>
          <p:cNvSpPr/>
          <p:nvPr/>
        </p:nvSpPr>
        <p:spPr>
          <a:xfrm>
            <a:off x="11395354" y="6416951"/>
            <a:ext cx="161925" cy="1327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900" kern="0" spc="-1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P4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 1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2" name="rect 122"/>
          <p:cNvSpPr/>
          <p:nvPr/>
        </p:nvSpPr>
        <p:spPr>
          <a:xfrm>
            <a:off x="0" y="0"/>
            <a:ext cx="12191701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24" name="table 124"/>
          <p:cNvGraphicFramePr>
            <a:graphicFrameLocks noGrp="1"/>
          </p:cNvGraphicFramePr>
          <p:nvPr/>
        </p:nvGraphicFramePr>
        <p:xfrm>
          <a:off x="647700" y="1704975"/>
          <a:ext cx="5314950" cy="1790700"/>
        </p:xfrm>
        <a:graphic>
          <a:graphicData uri="http://schemas.openxmlformats.org/drawingml/2006/table">
            <a:tbl>
              <a:tblPr/>
              <a:tblGrid>
                <a:gridCol w="5314950"/>
              </a:tblGrid>
              <a:tr h="177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065" algn="l" rtl="0" eaLnBrk="0">
                        <a:lnSpc>
                          <a:spcPct val="90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800" b="1" kern="0" spc="-20" dirty="0">
                          <a:solidFill>
                            <a:srgbClr val="111827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Challenge</a:t>
                      </a:r>
                      <a:endParaRPr sz="18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3375" algn="l" rtl="0" eaLnBrk="0">
                        <a:lnSpc>
                          <a:spcPct val="87000"/>
                        </a:lnSpc>
                        <a:spcBef>
                          <a:spcPts val="1114"/>
                        </a:spcBef>
                        <a:tabLst>
                          <a:tab pos="449580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-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产品科技感不足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3375" algn="l" rtl="0" eaLnBrk="0">
                        <a:lnSpc>
                          <a:spcPct val="87000"/>
                        </a:lnSpc>
                        <a:spcBef>
                          <a:spcPts val="1069"/>
                        </a:spcBef>
                        <a:tabLst>
                          <a:tab pos="449580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-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海外视觉不统一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7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3375" algn="l" rtl="0" eaLnBrk="0">
                        <a:lnSpc>
                          <a:spcPct val="87000"/>
                        </a:lnSpc>
                        <a:tabLst>
                          <a:tab pos="449580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-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产品卖点难以理解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26" name="picture 1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23924" y="3028950"/>
            <a:ext cx="57150" cy="57150"/>
          </a:xfrm>
          <a:prstGeom prst="rect">
            <a:avLst/>
          </a:prstGeom>
        </p:spPr>
      </p:pic>
      <p:pic>
        <p:nvPicPr>
          <p:cNvPr id="128" name="picture 1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23924" y="2733675"/>
            <a:ext cx="57150" cy="57150"/>
          </a:xfrm>
          <a:prstGeom prst="rect">
            <a:avLst/>
          </a:prstGeom>
        </p:spPr>
      </p:pic>
      <p:pic>
        <p:nvPicPr>
          <p:cNvPr id="130" name="picture 1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23924" y="2438400"/>
            <a:ext cx="57150" cy="57150"/>
          </a:xfrm>
          <a:prstGeom prst="rect">
            <a:avLst/>
          </a:prstGeom>
        </p:spPr>
      </p:pic>
      <p:graphicFrame>
        <p:nvGraphicFramePr>
          <p:cNvPr id="132" name="table 132"/>
          <p:cNvGraphicFramePr>
            <a:graphicFrameLocks noGrp="1"/>
          </p:cNvGraphicFramePr>
          <p:nvPr/>
        </p:nvGraphicFramePr>
        <p:xfrm>
          <a:off x="6229350" y="1704975"/>
          <a:ext cx="5314950" cy="1790700"/>
        </p:xfrm>
        <a:graphic>
          <a:graphicData uri="http://schemas.openxmlformats.org/drawingml/2006/table">
            <a:tbl>
              <a:tblPr/>
              <a:tblGrid>
                <a:gridCol w="5314950"/>
              </a:tblGrid>
              <a:tr h="177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14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065" algn="l" rtl="0" eaLnBrk="0">
                        <a:lnSpc>
                          <a:spcPts val="2374"/>
                        </a:lnSpc>
                        <a:tabLst/>
                      </a:pPr>
                      <a:r>
                        <a:rPr sz="1800" b="1" kern="0" spc="-30" dirty="0">
                          <a:solidFill>
                            <a:srgbClr val="111827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Goal</a:t>
                      </a:r>
                      <a:endParaRPr sz="18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3375" algn="l" rtl="0" eaLnBrk="0">
                        <a:lnSpc>
                          <a:spcPct val="87000"/>
                        </a:lnSpc>
                        <a:spcBef>
                          <a:spcPts val="1135"/>
                        </a:spcBef>
                        <a:tabLst>
                          <a:tab pos="449580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-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建立统一科技视觉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33375" algn="l" rtl="0" eaLnBrk="0">
                        <a:lnSpc>
                          <a:spcPct val="87000"/>
                        </a:lnSpc>
                        <a:spcBef>
                          <a:spcPts val="1074"/>
                        </a:spcBef>
                        <a:tabLst>
                          <a:tab pos="452755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-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强化专业可信感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8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3375" algn="l" rtl="0" eaLnBrk="0">
                        <a:lnSpc>
                          <a:spcPct val="87000"/>
                        </a:lnSpc>
                        <a:tabLst>
                          <a:tab pos="449580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200" kern="0" spc="-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提升营销效率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34" name="picture 1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505575" y="3028950"/>
            <a:ext cx="57150" cy="57150"/>
          </a:xfrm>
          <a:prstGeom prst="rect">
            <a:avLst/>
          </a:prstGeom>
        </p:spPr>
      </p:pic>
      <p:pic>
        <p:nvPicPr>
          <p:cNvPr id="136" name="picture 1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505575" y="2733675"/>
            <a:ext cx="57150" cy="57150"/>
          </a:xfrm>
          <a:prstGeom prst="rect">
            <a:avLst/>
          </a:prstGeom>
        </p:spPr>
      </p:pic>
      <p:pic>
        <p:nvPicPr>
          <p:cNvPr id="138" name="picture 13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505575" y="2438400"/>
            <a:ext cx="57150" cy="57150"/>
          </a:xfrm>
          <a:prstGeom prst="rect">
            <a:avLst/>
          </a:prstGeom>
        </p:spPr>
      </p:pic>
      <p:sp>
        <p:nvSpPr>
          <p:cNvPr id="140" name="textbox 140"/>
          <p:cNvSpPr/>
          <p:nvPr/>
        </p:nvSpPr>
        <p:spPr>
          <a:xfrm>
            <a:off x="645772" y="503993"/>
            <a:ext cx="4017645" cy="933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86"/>
              </a:lnSpc>
              <a:tabLst/>
            </a:pP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900" b="1" kern="0" spc="-8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</a:t>
            </a:r>
            <a:r>
              <a:rPr sz="900" b="1" kern="0" spc="24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900" b="1" kern="0" spc="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PROJECT</a:t>
            </a:r>
            <a:r>
              <a:rPr sz="900" b="1" kern="0" spc="4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BACKGROU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ND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5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ts val="4748"/>
              </a:lnSpc>
              <a:tabLst/>
            </a:pPr>
            <a:r>
              <a:rPr sz="3600" b="1" kern="0" spc="-2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Challenge</a:t>
            </a:r>
            <a:r>
              <a:rPr sz="3600" b="1" kern="0" spc="-3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&amp;</a:t>
            </a:r>
            <a:r>
              <a:rPr sz="3600" b="1" kern="0" spc="14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600" b="1" kern="0" spc="-3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Goal</a:t>
            </a:r>
            <a:endParaRPr sz="3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8"/>
              </a:lnSpc>
              <a:tabLst/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Marketin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Designer</a:t>
            </a:r>
            <a:r>
              <a:rPr sz="900" kern="0" spc="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05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 1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46" name="picture 1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1701" cy="6858000"/>
          </a:xfrm>
          <a:prstGeom prst="rect">
            <a:avLst/>
          </a:prstGeom>
        </p:spPr>
      </p:pic>
      <p:sp>
        <p:nvSpPr>
          <p:cNvPr id="148" name="textbox 148"/>
          <p:cNvSpPr/>
          <p:nvPr/>
        </p:nvSpPr>
        <p:spPr>
          <a:xfrm>
            <a:off x="4352925" y="2333625"/>
            <a:ext cx="3486150" cy="1428750"/>
          </a:xfrm>
          <a:prstGeom prst="rect">
            <a:avLst/>
          </a:prstGeom>
          <a:solidFill>
            <a:srgbClr val="FFFFFF">
              <a:alpha val="745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69240" algn="l" rtl="0" eaLnBrk="0">
              <a:lnSpc>
                <a:spcPct val="90000"/>
              </a:lnSpc>
              <a:spcBef>
                <a:spcPts val="7"/>
              </a:spcBef>
              <a:tabLst/>
            </a:pPr>
            <a:r>
              <a:rPr sz="1800" b="1" kern="0" spc="-2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Color System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62254" indent="-635" algn="l" rtl="0" eaLnBrk="0">
              <a:lnSpc>
                <a:spcPct val="117000"/>
              </a:lnSpc>
              <a:spcBef>
                <a:spcPts val="1"/>
              </a:spcBef>
              <a:tabLst/>
            </a:pPr>
            <a:r>
              <a:rPr sz="1200" kern="0" spc="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科技蓝、深灰、荧光点缀。用冷色建</a:t>
            </a:r>
            <a:r>
              <a:rPr sz="1200" kern="0" spc="-1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立专业</a:t>
            </a:r>
            <a:r>
              <a:rPr sz="1200" kern="0" spc="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200" kern="0" spc="-2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可信，用高对比强化硬件广告感。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0" name="textbox 150"/>
          <p:cNvSpPr/>
          <p:nvPr/>
        </p:nvSpPr>
        <p:spPr>
          <a:xfrm>
            <a:off x="647700" y="2333625"/>
            <a:ext cx="3476625" cy="1428750"/>
          </a:xfrm>
          <a:prstGeom prst="rect">
            <a:avLst/>
          </a:prstGeom>
          <a:solidFill>
            <a:srgbClr val="FFFFFF">
              <a:alpha val="745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1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76859" algn="l" rtl="0" eaLnBrk="0">
              <a:lnSpc>
                <a:spcPts val="2374"/>
              </a:lnSpc>
              <a:tabLst/>
            </a:pPr>
            <a:r>
              <a:rPr sz="1800" b="1" kern="0" spc="-3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</a:t>
            </a:r>
            <a:r>
              <a:rPr sz="1800" b="1" kern="0" spc="22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b="1" kern="0" spc="-3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Direction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58445" indent="1905" algn="l" rtl="0" eaLnBrk="0">
              <a:lnSpc>
                <a:spcPct val="121000"/>
              </a:lnSpc>
              <a:spcBef>
                <a:spcPts val="4"/>
              </a:spcBef>
              <a:tabLst/>
            </a:pPr>
            <a:r>
              <a:rPr sz="1200" kern="0" spc="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工业科技风 / 海外硬件广告风 /</a:t>
            </a:r>
            <a:r>
              <a:rPr sz="1200" kern="0" spc="-1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深色高端调</a:t>
            </a:r>
            <a:r>
              <a:rPr sz="1200" kern="0" spc="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200" kern="0" spc="-1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性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8067675" y="2333625"/>
            <a:ext cx="3476625" cy="1428750"/>
          </a:xfrm>
          <a:prstGeom prst="rect">
            <a:avLst/>
          </a:prstGeom>
          <a:solidFill>
            <a:srgbClr val="FFFFFF">
              <a:alpha val="745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54634" algn="l" rtl="0" eaLnBrk="0">
              <a:lnSpc>
                <a:spcPct val="90000"/>
              </a:lnSpc>
              <a:spcBef>
                <a:spcPts val="7"/>
              </a:spcBef>
              <a:tabLst/>
            </a:pPr>
            <a:r>
              <a:rPr sz="1800" b="1" kern="0" spc="-2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Visual</a:t>
            </a:r>
            <a:r>
              <a:rPr sz="1800" b="1" kern="0" spc="18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b="1" kern="0" spc="-2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Logic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57175" indent="-1905" algn="l" rtl="0" eaLnBrk="0">
              <a:lnSpc>
                <a:spcPct val="117000"/>
              </a:lnSpc>
              <a:spcBef>
                <a:spcPts val="1"/>
              </a:spcBef>
              <a:tabLst/>
            </a:pPr>
            <a:r>
              <a:rPr sz="1200" kern="0" spc="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从参数页转向商业传播：让精度、稳</a:t>
            </a:r>
            <a:r>
              <a:rPr sz="1200" kern="0" spc="-1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定、可</a:t>
            </a:r>
            <a:r>
              <a:rPr sz="1200" kern="0" spc="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200" kern="0" spc="-1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靠通过场景、光线和产品细</a:t>
            </a:r>
            <a:r>
              <a:rPr sz="1200" kern="0" spc="-2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节被快速感知。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4" name="textbox 154"/>
          <p:cNvSpPr/>
          <p:nvPr/>
        </p:nvSpPr>
        <p:spPr>
          <a:xfrm>
            <a:off x="645772" y="503993"/>
            <a:ext cx="3670300" cy="939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86"/>
              </a:lnSpc>
              <a:tabLst/>
            </a:pPr>
            <a:r>
              <a:rPr sz="900" b="1" kern="0" spc="11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900" b="1" kern="0" spc="-8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1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6</a:t>
            </a:r>
            <a:r>
              <a:rPr sz="900" b="1" kern="0" spc="23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1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900" b="1" kern="0" spc="3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1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</a:t>
            </a:r>
            <a:r>
              <a:rPr sz="900" b="1" kern="0" spc="1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1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STRATEGY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0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275" algn="l" rtl="0" eaLnBrk="0">
              <a:lnSpc>
                <a:spcPct val="90000"/>
              </a:lnSpc>
              <a:tabLst/>
            </a:pPr>
            <a:r>
              <a:rPr sz="3600" b="1" kern="0" spc="-3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 Strategy</a:t>
            </a:r>
            <a:endParaRPr sz="3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6" name="textbox 156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8"/>
              </a:lnSpc>
              <a:tabLst/>
            </a:pP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Industrial</a:t>
            </a:r>
            <a:r>
              <a:rPr sz="900" kern="0" spc="11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Product</a:t>
            </a:r>
            <a:r>
              <a:rPr sz="900" kern="0" spc="1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Marketin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 Visual</a:t>
            </a:r>
            <a:r>
              <a:rPr sz="900" kern="0" spc="1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Designer</a:t>
            </a:r>
            <a:r>
              <a:rPr sz="900" kern="0" spc="1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</a:t>
            </a:r>
            <a:r>
              <a:rPr sz="900" kern="0" spc="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06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8" name="textbox 158"/>
          <p:cNvSpPr/>
          <p:nvPr/>
        </p:nvSpPr>
        <p:spPr>
          <a:xfrm>
            <a:off x="4236720" y="1627632"/>
            <a:ext cx="1308100" cy="384175"/>
          </a:xfrm>
          <a:prstGeom prst="rect">
            <a:avLst/>
          </a:prstGeom>
          <a:solidFill>
            <a:srgbClr val="12C8F4">
              <a:alpha val="14901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41604" algn="l" rtl="0" eaLnBrk="0">
              <a:lnSpc>
                <a:spcPct val="79000"/>
              </a:lnSpc>
              <a:spcBef>
                <a:spcPts val="3"/>
              </a:spcBef>
              <a:tabLst/>
            </a:pPr>
            <a:r>
              <a:rPr sz="1000" b="1" kern="0" spc="20" dirty="0">
                <a:solidFill>
                  <a:srgbClr val="DFF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PROFESSIONAL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8" name="group 8"/>
          <p:cNvGrpSpPr/>
          <p:nvPr/>
        </p:nvGrpSpPr>
        <p:grpSpPr>
          <a:xfrm rot="21600000">
            <a:off x="2923031" y="1627632"/>
            <a:ext cx="1222248" cy="384047"/>
            <a:chOff x="0" y="0"/>
            <a:chExt cx="1222248" cy="384047"/>
          </a:xfrm>
        </p:grpSpPr>
        <p:pic>
          <p:nvPicPr>
            <p:cNvPr id="160" name="picture 16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222248" cy="384047"/>
            </a:xfrm>
            <a:prstGeom prst="rect">
              <a:avLst/>
            </a:prstGeom>
          </p:spPr>
        </p:pic>
        <p:sp>
          <p:nvSpPr>
            <p:cNvPr id="162" name="textbox 162"/>
            <p:cNvSpPr/>
            <p:nvPr/>
          </p:nvSpPr>
          <p:spPr>
            <a:xfrm>
              <a:off x="-12700" y="-12700"/>
              <a:ext cx="1247775" cy="4248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148589" algn="l" rtl="0" eaLnBrk="0">
                <a:lnSpc>
                  <a:spcPct val="79000"/>
                </a:lnSpc>
                <a:spcBef>
                  <a:spcPts val="2"/>
                </a:spcBef>
                <a:tabLst/>
              </a:pPr>
              <a:r>
                <a:rPr sz="1000" b="1" kern="0" spc="20" dirty="0">
                  <a:solidFill>
                    <a:srgbClr val="DFF8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TECHNOLOGY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1752600" y="1627632"/>
            <a:ext cx="1078991" cy="384047"/>
            <a:chOff x="0" y="0"/>
            <a:chExt cx="1078991" cy="384047"/>
          </a:xfrm>
        </p:grpSpPr>
        <p:pic>
          <p:nvPicPr>
            <p:cNvPr id="164" name="picture 16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078991" cy="384047"/>
            </a:xfrm>
            <a:prstGeom prst="rect">
              <a:avLst/>
            </a:prstGeom>
          </p:spPr>
        </p:pic>
        <p:sp>
          <p:nvSpPr>
            <p:cNvPr id="166" name="textbox 166"/>
            <p:cNvSpPr/>
            <p:nvPr/>
          </p:nvSpPr>
          <p:spPr>
            <a:xfrm>
              <a:off x="-12700" y="-12700"/>
              <a:ext cx="1104900" cy="4260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51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53035" algn="l" rtl="0" eaLnBrk="0">
                <a:lnSpc>
                  <a:spcPct val="78000"/>
                </a:lnSpc>
                <a:tabLst/>
              </a:pPr>
              <a:r>
                <a:rPr sz="1000" b="1" kern="0" spc="20" dirty="0">
                  <a:solidFill>
                    <a:srgbClr val="DFF8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RELIABILI</a:t>
              </a:r>
              <a:r>
                <a:rPr sz="1000" b="1" kern="0" spc="10" dirty="0">
                  <a:solidFill>
                    <a:srgbClr val="DFF8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TY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68" name="textbox 168"/>
          <p:cNvSpPr/>
          <p:nvPr/>
        </p:nvSpPr>
        <p:spPr>
          <a:xfrm>
            <a:off x="646175" y="1627632"/>
            <a:ext cx="1012189" cy="384175"/>
          </a:xfrm>
          <a:prstGeom prst="rect">
            <a:avLst/>
          </a:prstGeom>
          <a:solidFill>
            <a:srgbClr val="12C8F4">
              <a:alpha val="1098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46050" algn="l" rtl="0" eaLnBrk="0">
              <a:lnSpc>
                <a:spcPct val="79000"/>
              </a:lnSpc>
              <a:spcBef>
                <a:spcPts val="3"/>
              </a:spcBef>
              <a:tabLst/>
            </a:pPr>
            <a:r>
              <a:rPr sz="1000" b="1" kern="0" spc="10" dirty="0">
                <a:solidFill>
                  <a:srgbClr val="DFF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PRECISION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 1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72" name="picture 1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47700" y="1666875"/>
            <a:ext cx="10896600" cy="3429000"/>
          </a:xfrm>
          <a:prstGeom prst="rect">
            <a:avLst/>
          </a:prstGeom>
        </p:spPr>
      </p:pic>
      <p:sp>
        <p:nvSpPr>
          <p:cNvPr id="174" name="textbox 174"/>
          <p:cNvSpPr/>
          <p:nvPr/>
        </p:nvSpPr>
        <p:spPr>
          <a:xfrm>
            <a:off x="640029" y="503993"/>
            <a:ext cx="2764154" cy="902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ts val="1286"/>
              </a:lnSpc>
              <a:tabLst/>
            </a:pP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900" b="1" kern="0" spc="-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7</a:t>
            </a:r>
            <a:r>
              <a:rPr sz="900" b="1" kern="0" spc="24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900" b="1" kern="0" spc="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PRODUCT</a:t>
            </a:r>
            <a:r>
              <a:rPr sz="900" b="1" kern="0" spc="4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POSTER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SYSTEM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5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600" b="1" kern="0" spc="-1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产品海报系统</a:t>
            </a:r>
            <a:endParaRPr sz="3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6" name="textbox 176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8"/>
              </a:lnSpc>
              <a:tabLst/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Marketin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Designer</a:t>
            </a:r>
            <a:r>
              <a:rPr sz="900" kern="0" spc="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07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8" name="textbox 178"/>
          <p:cNvSpPr/>
          <p:nvPr/>
        </p:nvSpPr>
        <p:spPr>
          <a:xfrm>
            <a:off x="638724" y="5324995"/>
            <a:ext cx="8001000" cy="234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646"/>
              </a:lnSpc>
              <a:tabLst/>
            </a:pPr>
            <a:r>
              <a:rPr sz="1200" kern="0" spc="7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</a:t>
            </a:r>
            <a:r>
              <a:rPr sz="1200" kern="0" spc="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KV</a:t>
            </a:r>
            <a:r>
              <a:rPr sz="1200" kern="0" spc="7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、功能卖点海报、电池、激光、</a:t>
            </a:r>
            <a:r>
              <a:rPr sz="1200" kern="0" spc="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Camera</a:t>
            </a:r>
            <a:r>
              <a:rPr sz="1200" kern="0" spc="7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AR</a:t>
            </a:r>
            <a:r>
              <a:rPr sz="1200" kern="0" spc="7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Stake</a:t>
            </a:r>
            <a:r>
              <a:rPr sz="1200" kern="0" spc="6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等信息模块保持统一排版，形成品牌化产品海报系统。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 18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82" name="picture 1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47700" y="1704975"/>
            <a:ext cx="3457575" cy="4095750"/>
          </a:xfrm>
          <a:prstGeom prst="rect">
            <a:avLst/>
          </a:prstGeom>
        </p:spPr>
      </p:pic>
      <p:pic>
        <p:nvPicPr>
          <p:cNvPr id="184" name="picture 1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086725" y="1704975"/>
            <a:ext cx="3457575" cy="4095750"/>
          </a:xfrm>
          <a:prstGeom prst="rect">
            <a:avLst/>
          </a:prstGeom>
        </p:spPr>
      </p:pic>
      <p:pic>
        <p:nvPicPr>
          <p:cNvPr id="186" name="picture 1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371975" y="1704975"/>
            <a:ext cx="3448050" cy="4095750"/>
          </a:xfrm>
          <a:prstGeom prst="rect">
            <a:avLst/>
          </a:prstGeom>
        </p:spPr>
      </p:pic>
      <p:sp>
        <p:nvSpPr>
          <p:cNvPr id="188" name="textbox 188"/>
          <p:cNvSpPr/>
          <p:nvPr/>
        </p:nvSpPr>
        <p:spPr>
          <a:xfrm>
            <a:off x="641858" y="503993"/>
            <a:ext cx="3219450" cy="902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ts val="1286"/>
              </a:lnSpc>
              <a:tabLst/>
            </a:pPr>
            <a:r>
              <a:rPr sz="900" b="1" kern="0" spc="1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900" b="1" kern="0" spc="-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8</a:t>
            </a:r>
            <a:r>
              <a:rPr sz="900" b="1" kern="0" spc="24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900" b="1" kern="0" spc="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OVERSEAS</a:t>
            </a:r>
            <a:r>
              <a:rPr sz="900" b="1" kern="0" spc="4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LOC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ALIZATION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6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600" b="1" kern="0" spc="-1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海外本地化视觉</a:t>
            </a:r>
            <a:endParaRPr sz="3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0" name="textbox 190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8"/>
              </a:lnSpc>
              <a:tabLst/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Marketin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Designer</a:t>
            </a:r>
            <a:r>
              <a:rPr sz="900" kern="0" spc="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08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2" name="textbox 192"/>
          <p:cNvSpPr/>
          <p:nvPr/>
        </p:nvSpPr>
        <p:spPr>
          <a:xfrm>
            <a:off x="4369069" y="5935624"/>
            <a:ext cx="438784" cy="1981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355"/>
              </a:lnSpc>
              <a:tabLst/>
            </a:pPr>
            <a:r>
              <a:rPr sz="1000" kern="0" spc="0" dirty="0">
                <a:solidFill>
                  <a:srgbClr val="78839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French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4" name="textbox 194"/>
          <p:cNvSpPr/>
          <p:nvPr/>
        </p:nvSpPr>
        <p:spPr>
          <a:xfrm>
            <a:off x="648068" y="5965628"/>
            <a:ext cx="467994" cy="1695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9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000" kern="0" spc="0" dirty="0">
                <a:solidFill>
                  <a:srgbClr val="78839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English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6" name="textbox 196"/>
          <p:cNvSpPr/>
          <p:nvPr/>
        </p:nvSpPr>
        <p:spPr>
          <a:xfrm>
            <a:off x="8078616" y="5965628"/>
            <a:ext cx="429894" cy="150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1000" kern="0" spc="10" dirty="0">
                <a:solidFill>
                  <a:srgbClr val="78839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Arabic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ct 19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00" name="picture 2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1701" cy="6858000"/>
          </a:xfrm>
          <a:prstGeom prst="rect">
            <a:avLst/>
          </a:prstGeom>
        </p:spPr>
      </p:pic>
      <p:graphicFrame>
        <p:nvGraphicFramePr>
          <p:cNvPr id="202" name="table 202"/>
          <p:cNvGraphicFramePr>
            <a:graphicFrameLocks noGrp="1"/>
          </p:cNvGraphicFramePr>
          <p:nvPr/>
        </p:nvGraphicFramePr>
        <p:xfrm>
          <a:off x="647700" y="1666875"/>
          <a:ext cx="3505200" cy="3619500"/>
        </p:xfrm>
        <a:graphic>
          <a:graphicData uri="http://schemas.openxmlformats.org/drawingml/2006/table">
            <a:tbl>
              <a:tblPr/>
              <a:tblGrid>
                <a:gridCol w="3505200"/>
              </a:tblGrid>
              <a:tr h="3606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4" name="table 204"/>
          <p:cNvGraphicFramePr>
            <a:graphicFrameLocks noGrp="1"/>
          </p:cNvGraphicFramePr>
          <p:nvPr/>
        </p:nvGraphicFramePr>
        <p:xfrm>
          <a:off x="4343400" y="1666875"/>
          <a:ext cx="3505200" cy="3619500"/>
        </p:xfrm>
        <a:graphic>
          <a:graphicData uri="http://schemas.openxmlformats.org/drawingml/2006/table">
            <a:tbl>
              <a:tblPr/>
              <a:tblGrid>
                <a:gridCol w="3505200"/>
              </a:tblGrid>
              <a:tr h="3606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6" name="table 206"/>
          <p:cNvGraphicFramePr>
            <a:graphicFrameLocks noGrp="1"/>
          </p:cNvGraphicFramePr>
          <p:nvPr/>
        </p:nvGraphicFramePr>
        <p:xfrm>
          <a:off x="8039100" y="1666875"/>
          <a:ext cx="3505200" cy="3619500"/>
        </p:xfrm>
        <a:graphic>
          <a:graphicData uri="http://schemas.openxmlformats.org/drawingml/2006/table">
            <a:tbl>
              <a:tblPr/>
              <a:tblGrid>
                <a:gridCol w="3505200"/>
              </a:tblGrid>
              <a:tr h="3606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08" name="picture 2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57225" y="1676400"/>
            <a:ext cx="3486150" cy="3600450"/>
          </a:xfrm>
          <a:prstGeom prst="rect">
            <a:avLst/>
          </a:prstGeom>
        </p:spPr>
      </p:pic>
      <p:pic>
        <p:nvPicPr>
          <p:cNvPr id="210" name="picture 2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352925" y="1676400"/>
            <a:ext cx="3486150" cy="3600450"/>
          </a:xfrm>
          <a:prstGeom prst="rect">
            <a:avLst/>
          </a:prstGeom>
        </p:spPr>
      </p:pic>
      <p:pic>
        <p:nvPicPr>
          <p:cNvPr id="212" name="picture 2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048625" y="1676400"/>
            <a:ext cx="3486150" cy="3600450"/>
          </a:xfrm>
          <a:prstGeom prst="rect">
            <a:avLst/>
          </a:prstGeom>
        </p:spPr>
      </p:pic>
      <p:pic>
        <p:nvPicPr>
          <p:cNvPr id="214" name="picture 2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47700" y="5972175"/>
            <a:ext cx="3505200" cy="885824"/>
          </a:xfrm>
          <a:prstGeom prst="rect">
            <a:avLst/>
          </a:prstGeom>
        </p:spPr>
      </p:pic>
      <p:pic>
        <p:nvPicPr>
          <p:cNvPr id="216" name="picture 2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343400" y="5972175"/>
            <a:ext cx="3505200" cy="885824"/>
          </a:xfrm>
          <a:prstGeom prst="rect">
            <a:avLst/>
          </a:prstGeom>
        </p:spPr>
      </p:pic>
      <p:pic>
        <p:nvPicPr>
          <p:cNvPr id="218" name="picture 2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039100" y="5972175"/>
            <a:ext cx="3505200" cy="885824"/>
          </a:xfrm>
          <a:prstGeom prst="rect">
            <a:avLst/>
          </a:prstGeom>
        </p:spPr>
      </p:pic>
      <p:sp>
        <p:nvSpPr>
          <p:cNvPr id="220" name="textbox 220"/>
          <p:cNvSpPr/>
          <p:nvPr/>
        </p:nvSpPr>
        <p:spPr>
          <a:xfrm>
            <a:off x="640029" y="503993"/>
            <a:ext cx="2764154" cy="902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ts val="1286"/>
              </a:lnSpc>
              <a:tabLst/>
            </a:pPr>
            <a:r>
              <a:rPr sz="900" b="1" kern="0" spc="13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900" b="1" kern="0" spc="-12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3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9</a:t>
            </a:r>
            <a:r>
              <a:rPr sz="900" b="1" kern="0" spc="24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3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900" b="1" kern="0" spc="2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3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REAL</a:t>
            </a:r>
            <a:r>
              <a:rPr sz="900" b="1" kern="0" spc="28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3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WORKING</a:t>
            </a:r>
            <a:r>
              <a:rPr sz="900" b="1" kern="0" spc="1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3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</a:t>
            </a:r>
            <a:r>
              <a:rPr sz="900" b="1" kern="0" spc="12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CENARIOS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5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600" b="1" kern="0" spc="-1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产品工作场景</a:t>
            </a:r>
            <a:endParaRPr sz="3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2" name="textbox 222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8"/>
              </a:lnSpc>
              <a:tabLst/>
            </a:pP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Industrial</a:t>
            </a:r>
            <a:r>
              <a:rPr sz="900" kern="0" spc="11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Product</a:t>
            </a:r>
            <a:r>
              <a:rPr sz="900" kern="0" spc="1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Marketin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 Visual</a:t>
            </a:r>
            <a:r>
              <a:rPr sz="900" kern="0" spc="1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Designer</a:t>
            </a:r>
            <a:r>
              <a:rPr sz="900" kern="0" spc="1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</a:t>
            </a:r>
            <a:r>
              <a:rPr sz="900" kern="0" spc="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09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4" name="textbox 224"/>
          <p:cNvSpPr/>
          <p:nvPr/>
        </p:nvSpPr>
        <p:spPr>
          <a:xfrm>
            <a:off x="4334128" y="5431790"/>
            <a:ext cx="1165225" cy="263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8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b="1" kern="0" spc="-1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地下停车场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6" name="textbox 226"/>
          <p:cNvSpPr/>
          <p:nvPr/>
        </p:nvSpPr>
        <p:spPr>
          <a:xfrm>
            <a:off x="8028685" y="5433847"/>
            <a:ext cx="937894" cy="2609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6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800" b="1" kern="0" spc="-1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桥梁检测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8" name="textbox 228"/>
          <p:cNvSpPr/>
          <p:nvPr/>
        </p:nvSpPr>
        <p:spPr>
          <a:xfrm>
            <a:off x="647573" y="5431104"/>
            <a:ext cx="470534" cy="263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7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b="1" kern="0" spc="-3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隧道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ect 2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2" name="group 12"/>
          <p:cNvGrpSpPr/>
          <p:nvPr/>
        </p:nvGrpSpPr>
        <p:grpSpPr>
          <a:xfrm rot="21600000">
            <a:off x="647700" y="1914525"/>
            <a:ext cx="10896600" cy="2000250"/>
            <a:chOff x="0" y="0"/>
            <a:chExt cx="10896600" cy="2000250"/>
          </a:xfrm>
        </p:grpSpPr>
        <p:sp>
          <p:nvSpPr>
            <p:cNvPr id="232" name="path 232"/>
            <p:cNvSpPr/>
            <p:nvPr/>
          </p:nvSpPr>
          <p:spPr>
            <a:xfrm>
              <a:off x="0" y="0"/>
              <a:ext cx="10896600" cy="2000250"/>
            </a:xfrm>
            <a:custGeom>
              <a:avLst/>
              <a:gdLst/>
              <a:ahLst/>
              <a:cxnLst/>
              <a:rect l="0" t="0" r="0" b="0"/>
              <a:pathLst>
                <a:path w="17160" h="3150">
                  <a:moveTo>
                    <a:pt x="7" y="3000"/>
                  </a:moveTo>
                  <a:lnTo>
                    <a:pt x="7" y="150"/>
                  </a:lnTo>
                  <a:cubicBezTo>
                    <a:pt x="7" y="140"/>
                    <a:pt x="8" y="131"/>
                    <a:pt x="10" y="122"/>
                  </a:cubicBezTo>
                  <a:cubicBezTo>
                    <a:pt x="12" y="112"/>
                    <a:pt x="14" y="104"/>
                    <a:pt x="18" y="95"/>
                  </a:cubicBezTo>
                  <a:cubicBezTo>
                    <a:pt x="21" y="86"/>
                    <a:pt x="26" y="78"/>
                    <a:pt x="31" y="70"/>
                  </a:cubicBezTo>
                  <a:cubicBezTo>
                    <a:pt x="36" y="63"/>
                    <a:pt x="42" y="55"/>
                    <a:pt x="49" y="49"/>
                  </a:cubicBezTo>
                  <a:cubicBezTo>
                    <a:pt x="55" y="42"/>
                    <a:pt x="63" y="36"/>
                    <a:pt x="70" y="31"/>
                  </a:cubicBezTo>
                  <a:cubicBezTo>
                    <a:pt x="78" y="26"/>
                    <a:pt x="86" y="21"/>
                    <a:pt x="95" y="18"/>
                  </a:cubicBezTo>
                  <a:cubicBezTo>
                    <a:pt x="104" y="14"/>
                    <a:pt x="113" y="12"/>
                    <a:pt x="122" y="10"/>
                  </a:cubicBezTo>
                  <a:cubicBezTo>
                    <a:pt x="131" y="8"/>
                    <a:pt x="140" y="7"/>
                    <a:pt x="150" y="7"/>
                  </a:cubicBezTo>
                  <a:lnTo>
                    <a:pt x="3060" y="7"/>
                  </a:lnTo>
                  <a:cubicBezTo>
                    <a:pt x="3069" y="7"/>
                    <a:pt x="3078" y="8"/>
                    <a:pt x="3087" y="10"/>
                  </a:cubicBezTo>
                  <a:cubicBezTo>
                    <a:pt x="3096" y="12"/>
                    <a:pt x="3105" y="14"/>
                    <a:pt x="3114" y="18"/>
                  </a:cubicBezTo>
                  <a:cubicBezTo>
                    <a:pt x="3123" y="21"/>
                    <a:pt x="3131" y="26"/>
                    <a:pt x="3139" y="31"/>
                  </a:cubicBezTo>
                  <a:cubicBezTo>
                    <a:pt x="3146" y="36"/>
                    <a:pt x="3154" y="42"/>
                    <a:pt x="3160" y="49"/>
                  </a:cubicBezTo>
                  <a:cubicBezTo>
                    <a:pt x="3167" y="55"/>
                    <a:pt x="3173" y="63"/>
                    <a:pt x="3178" y="70"/>
                  </a:cubicBezTo>
                  <a:cubicBezTo>
                    <a:pt x="3183" y="78"/>
                    <a:pt x="3188" y="86"/>
                    <a:pt x="3191" y="95"/>
                  </a:cubicBezTo>
                  <a:cubicBezTo>
                    <a:pt x="3195" y="104"/>
                    <a:pt x="3197" y="112"/>
                    <a:pt x="3199" y="122"/>
                  </a:cubicBezTo>
                  <a:cubicBezTo>
                    <a:pt x="3201" y="131"/>
                    <a:pt x="3202" y="140"/>
                    <a:pt x="3202" y="150"/>
                  </a:cubicBezTo>
                  <a:lnTo>
                    <a:pt x="3202" y="3000"/>
                  </a:lnTo>
                  <a:cubicBezTo>
                    <a:pt x="3202" y="3009"/>
                    <a:pt x="3201" y="3018"/>
                    <a:pt x="3199" y="3027"/>
                  </a:cubicBezTo>
                  <a:cubicBezTo>
                    <a:pt x="3197" y="3036"/>
                    <a:pt x="3195" y="3045"/>
                    <a:pt x="3191" y="3054"/>
                  </a:cubicBezTo>
                  <a:cubicBezTo>
                    <a:pt x="3188" y="3063"/>
                    <a:pt x="3183" y="3071"/>
                    <a:pt x="3178" y="3079"/>
                  </a:cubicBezTo>
                  <a:cubicBezTo>
                    <a:pt x="3173" y="3086"/>
                    <a:pt x="3167" y="3094"/>
                    <a:pt x="3160" y="3100"/>
                  </a:cubicBezTo>
                  <a:cubicBezTo>
                    <a:pt x="3154" y="3107"/>
                    <a:pt x="3146" y="3113"/>
                    <a:pt x="3139" y="3118"/>
                  </a:cubicBezTo>
                  <a:cubicBezTo>
                    <a:pt x="3131" y="3123"/>
                    <a:pt x="3123" y="3128"/>
                    <a:pt x="3114" y="3131"/>
                  </a:cubicBezTo>
                  <a:cubicBezTo>
                    <a:pt x="3105" y="3135"/>
                    <a:pt x="3096" y="3137"/>
                    <a:pt x="3087" y="3139"/>
                  </a:cubicBezTo>
                  <a:cubicBezTo>
                    <a:pt x="3078" y="3141"/>
                    <a:pt x="3069" y="3142"/>
                    <a:pt x="3060" y="3142"/>
                  </a:cubicBezTo>
                  <a:lnTo>
                    <a:pt x="150" y="3142"/>
                  </a:lnTo>
                  <a:cubicBezTo>
                    <a:pt x="140" y="3142"/>
                    <a:pt x="131" y="3141"/>
                    <a:pt x="122" y="3139"/>
                  </a:cubicBezTo>
                  <a:cubicBezTo>
                    <a:pt x="113" y="3137"/>
                    <a:pt x="104" y="3135"/>
                    <a:pt x="95" y="3131"/>
                  </a:cubicBezTo>
                  <a:cubicBezTo>
                    <a:pt x="86" y="3128"/>
                    <a:pt x="78" y="3123"/>
                    <a:pt x="70" y="3118"/>
                  </a:cubicBezTo>
                  <a:cubicBezTo>
                    <a:pt x="63" y="3113"/>
                    <a:pt x="55" y="3107"/>
                    <a:pt x="49" y="3100"/>
                  </a:cubicBezTo>
                  <a:cubicBezTo>
                    <a:pt x="42" y="3094"/>
                    <a:pt x="36" y="3086"/>
                    <a:pt x="31" y="3079"/>
                  </a:cubicBezTo>
                  <a:cubicBezTo>
                    <a:pt x="26" y="3071"/>
                    <a:pt x="21" y="3063"/>
                    <a:pt x="18" y="3054"/>
                  </a:cubicBezTo>
                  <a:cubicBezTo>
                    <a:pt x="14" y="3045"/>
                    <a:pt x="12" y="3036"/>
                    <a:pt x="10" y="3027"/>
                  </a:cubicBezTo>
                  <a:cubicBezTo>
                    <a:pt x="8" y="3018"/>
                    <a:pt x="7" y="3009"/>
                    <a:pt x="7" y="3000"/>
                  </a:cubicBezTo>
                  <a:moveTo>
                    <a:pt x="3487" y="3000"/>
                  </a:moveTo>
                  <a:lnTo>
                    <a:pt x="3487" y="150"/>
                  </a:lnTo>
                  <a:cubicBezTo>
                    <a:pt x="3487" y="140"/>
                    <a:pt x="3488" y="131"/>
                    <a:pt x="3490" y="122"/>
                  </a:cubicBezTo>
                  <a:cubicBezTo>
                    <a:pt x="3492" y="112"/>
                    <a:pt x="3494" y="104"/>
                    <a:pt x="3498" y="95"/>
                  </a:cubicBezTo>
                  <a:cubicBezTo>
                    <a:pt x="3501" y="86"/>
                    <a:pt x="3506" y="78"/>
                    <a:pt x="3511" y="70"/>
                  </a:cubicBezTo>
                  <a:cubicBezTo>
                    <a:pt x="3516" y="63"/>
                    <a:pt x="3522" y="55"/>
                    <a:pt x="3529" y="49"/>
                  </a:cubicBezTo>
                  <a:cubicBezTo>
                    <a:pt x="3535" y="42"/>
                    <a:pt x="3543" y="36"/>
                    <a:pt x="3550" y="31"/>
                  </a:cubicBezTo>
                  <a:cubicBezTo>
                    <a:pt x="3558" y="26"/>
                    <a:pt x="3566" y="21"/>
                    <a:pt x="3575" y="18"/>
                  </a:cubicBezTo>
                  <a:cubicBezTo>
                    <a:pt x="3584" y="14"/>
                    <a:pt x="3593" y="12"/>
                    <a:pt x="3602" y="10"/>
                  </a:cubicBezTo>
                  <a:cubicBezTo>
                    <a:pt x="3611" y="8"/>
                    <a:pt x="3620" y="7"/>
                    <a:pt x="3630" y="7"/>
                  </a:cubicBezTo>
                  <a:lnTo>
                    <a:pt x="6555" y="7"/>
                  </a:lnTo>
                  <a:cubicBezTo>
                    <a:pt x="6564" y="7"/>
                    <a:pt x="6573" y="8"/>
                    <a:pt x="6582" y="10"/>
                  </a:cubicBezTo>
                  <a:cubicBezTo>
                    <a:pt x="6591" y="12"/>
                    <a:pt x="6600" y="14"/>
                    <a:pt x="6609" y="18"/>
                  </a:cubicBezTo>
                  <a:cubicBezTo>
                    <a:pt x="6618" y="21"/>
                    <a:pt x="6626" y="26"/>
                    <a:pt x="6634" y="31"/>
                  </a:cubicBezTo>
                  <a:cubicBezTo>
                    <a:pt x="6641" y="36"/>
                    <a:pt x="6649" y="42"/>
                    <a:pt x="6655" y="49"/>
                  </a:cubicBezTo>
                  <a:cubicBezTo>
                    <a:pt x="6662" y="55"/>
                    <a:pt x="6668" y="63"/>
                    <a:pt x="6673" y="70"/>
                  </a:cubicBezTo>
                  <a:cubicBezTo>
                    <a:pt x="6678" y="78"/>
                    <a:pt x="6683" y="86"/>
                    <a:pt x="6686" y="95"/>
                  </a:cubicBezTo>
                  <a:cubicBezTo>
                    <a:pt x="6690" y="104"/>
                    <a:pt x="6692" y="112"/>
                    <a:pt x="6694" y="122"/>
                  </a:cubicBezTo>
                  <a:cubicBezTo>
                    <a:pt x="6696" y="131"/>
                    <a:pt x="6697" y="140"/>
                    <a:pt x="6697" y="150"/>
                  </a:cubicBezTo>
                  <a:lnTo>
                    <a:pt x="6697" y="3000"/>
                  </a:lnTo>
                  <a:cubicBezTo>
                    <a:pt x="6697" y="3009"/>
                    <a:pt x="6696" y="3018"/>
                    <a:pt x="6694" y="3027"/>
                  </a:cubicBezTo>
                  <a:cubicBezTo>
                    <a:pt x="6692" y="3036"/>
                    <a:pt x="6690" y="3045"/>
                    <a:pt x="6686" y="3054"/>
                  </a:cubicBezTo>
                  <a:cubicBezTo>
                    <a:pt x="6683" y="3063"/>
                    <a:pt x="6678" y="3071"/>
                    <a:pt x="6673" y="3079"/>
                  </a:cubicBezTo>
                  <a:cubicBezTo>
                    <a:pt x="6668" y="3086"/>
                    <a:pt x="6662" y="3094"/>
                    <a:pt x="6655" y="3100"/>
                  </a:cubicBezTo>
                  <a:cubicBezTo>
                    <a:pt x="6649" y="3107"/>
                    <a:pt x="6641" y="3113"/>
                    <a:pt x="6634" y="3118"/>
                  </a:cubicBezTo>
                  <a:cubicBezTo>
                    <a:pt x="6626" y="3123"/>
                    <a:pt x="6618" y="3128"/>
                    <a:pt x="6609" y="3131"/>
                  </a:cubicBezTo>
                  <a:cubicBezTo>
                    <a:pt x="6600" y="3135"/>
                    <a:pt x="6591" y="3137"/>
                    <a:pt x="6582" y="3139"/>
                  </a:cubicBezTo>
                  <a:cubicBezTo>
                    <a:pt x="6573" y="3141"/>
                    <a:pt x="6564" y="3142"/>
                    <a:pt x="6555" y="3142"/>
                  </a:cubicBezTo>
                  <a:lnTo>
                    <a:pt x="3630" y="3142"/>
                  </a:lnTo>
                  <a:cubicBezTo>
                    <a:pt x="3620" y="3142"/>
                    <a:pt x="3611" y="3141"/>
                    <a:pt x="3602" y="3139"/>
                  </a:cubicBezTo>
                  <a:cubicBezTo>
                    <a:pt x="3593" y="3137"/>
                    <a:pt x="3584" y="3135"/>
                    <a:pt x="3575" y="3131"/>
                  </a:cubicBezTo>
                  <a:cubicBezTo>
                    <a:pt x="3566" y="3128"/>
                    <a:pt x="3558" y="3123"/>
                    <a:pt x="3550" y="3118"/>
                  </a:cubicBezTo>
                  <a:cubicBezTo>
                    <a:pt x="3543" y="3113"/>
                    <a:pt x="3535" y="3107"/>
                    <a:pt x="3529" y="3100"/>
                  </a:cubicBezTo>
                  <a:cubicBezTo>
                    <a:pt x="3522" y="3094"/>
                    <a:pt x="3516" y="3086"/>
                    <a:pt x="3511" y="3079"/>
                  </a:cubicBezTo>
                  <a:cubicBezTo>
                    <a:pt x="3506" y="3071"/>
                    <a:pt x="3501" y="3063"/>
                    <a:pt x="3498" y="3054"/>
                  </a:cubicBezTo>
                  <a:cubicBezTo>
                    <a:pt x="3494" y="3045"/>
                    <a:pt x="3492" y="3036"/>
                    <a:pt x="3490" y="3027"/>
                  </a:cubicBezTo>
                  <a:cubicBezTo>
                    <a:pt x="3488" y="3018"/>
                    <a:pt x="3487" y="3009"/>
                    <a:pt x="3487" y="3000"/>
                  </a:cubicBezTo>
                  <a:moveTo>
                    <a:pt x="6982" y="3000"/>
                  </a:moveTo>
                  <a:lnTo>
                    <a:pt x="6982" y="150"/>
                  </a:lnTo>
                  <a:cubicBezTo>
                    <a:pt x="6982" y="140"/>
                    <a:pt x="6983" y="131"/>
                    <a:pt x="6985" y="122"/>
                  </a:cubicBezTo>
                  <a:cubicBezTo>
                    <a:pt x="6987" y="112"/>
                    <a:pt x="6989" y="104"/>
                    <a:pt x="6993" y="95"/>
                  </a:cubicBezTo>
                  <a:cubicBezTo>
                    <a:pt x="6996" y="86"/>
                    <a:pt x="7001" y="78"/>
                    <a:pt x="7006" y="70"/>
                  </a:cubicBezTo>
                  <a:cubicBezTo>
                    <a:pt x="7011" y="63"/>
                    <a:pt x="7017" y="55"/>
                    <a:pt x="7024" y="49"/>
                  </a:cubicBezTo>
                  <a:cubicBezTo>
                    <a:pt x="7030" y="42"/>
                    <a:pt x="7038" y="36"/>
                    <a:pt x="7045" y="31"/>
                  </a:cubicBezTo>
                  <a:cubicBezTo>
                    <a:pt x="7053" y="26"/>
                    <a:pt x="7061" y="21"/>
                    <a:pt x="7070" y="18"/>
                  </a:cubicBezTo>
                  <a:cubicBezTo>
                    <a:pt x="7079" y="14"/>
                    <a:pt x="7088" y="12"/>
                    <a:pt x="7097" y="10"/>
                  </a:cubicBezTo>
                  <a:cubicBezTo>
                    <a:pt x="7106" y="8"/>
                    <a:pt x="7115" y="7"/>
                    <a:pt x="7125" y="7"/>
                  </a:cubicBezTo>
                  <a:lnTo>
                    <a:pt x="10035" y="7"/>
                  </a:lnTo>
                  <a:cubicBezTo>
                    <a:pt x="10044" y="7"/>
                    <a:pt x="10053" y="8"/>
                    <a:pt x="10062" y="10"/>
                  </a:cubicBezTo>
                  <a:cubicBezTo>
                    <a:pt x="10071" y="12"/>
                    <a:pt x="10080" y="14"/>
                    <a:pt x="10089" y="18"/>
                  </a:cubicBezTo>
                  <a:cubicBezTo>
                    <a:pt x="10098" y="21"/>
                    <a:pt x="10106" y="26"/>
                    <a:pt x="10114" y="31"/>
                  </a:cubicBezTo>
                  <a:cubicBezTo>
                    <a:pt x="10121" y="36"/>
                    <a:pt x="10129" y="42"/>
                    <a:pt x="10135" y="49"/>
                  </a:cubicBezTo>
                  <a:cubicBezTo>
                    <a:pt x="10142" y="55"/>
                    <a:pt x="10148" y="63"/>
                    <a:pt x="10153" y="70"/>
                  </a:cubicBezTo>
                  <a:cubicBezTo>
                    <a:pt x="10158" y="78"/>
                    <a:pt x="10163" y="86"/>
                    <a:pt x="10166" y="95"/>
                  </a:cubicBezTo>
                  <a:cubicBezTo>
                    <a:pt x="10170" y="104"/>
                    <a:pt x="10172" y="112"/>
                    <a:pt x="10174" y="122"/>
                  </a:cubicBezTo>
                  <a:cubicBezTo>
                    <a:pt x="10176" y="131"/>
                    <a:pt x="10177" y="140"/>
                    <a:pt x="10177" y="150"/>
                  </a:cubicBezTo>
                  <a:lnTo>
                    <a:pt x="10177" y="3000"/>
                  </a:lnTo>
                  <a:cubicBezTo>
                    <a:pt x="10177" y="3009"/>
                    <a:pt x="10176" y="3018"/>
                    <a:pt x="10174" y="3027"/>
                  </a:cubicBezTo>
                  <a:cubicBezTo>
                    <a:pt x="10172" y="3036"/>
                    <a:pt x="10170" y="3045"/>
                    <a:pt x="10166" y="3054"/>
                  </a:cubicBezTo>
                  <a:cubicBezTo>
                    <a:pt x="10163" y="3063"/>
                    <a:pt x="10158" y="3071"/>
                    <a:pt x="10153" y="3079"/>
                  </a:cubicBezTo>
                  <a:cubicBezTo>
                    <a:pt x="10148" y="3086"/>
                    <a:pt x="10142" y="3094"/>
                    <a:pt x="10135" y="3100"/>
                  </a:cubicBezTo>
                  <a:cubicBezTo>
                    <a:pt x="10129" y="3107"/>
                    <a:pt x="10121" y="3113"/>
                    <a:pt x="10114" y="3118"/>
                  </a:cubicBezTo>
                  <a:cubicBezTo>
                    <a:pt x="10106" y="3123"/>
                    <a:pt x="10098" y="3128"/>
                    <a:pt x="10089" y="3131"/>
                  </a:cubicBezTo>
                  <a:cubicBezTo>
                    <a:pt x="10080" y="3135"/>
                    <a:pt x="10071" y="3137"/>
                    <a:pt x="10062" y="3139"/>
                  </a:cubicBezTo>
                  <a:cubicBezTo>
                    <a:pt x="10053" y="3141"/>
                    <a:pt x="10044" y="3142"/>
                    <a:pt x="10035" y="3142"/>
                  </a:cubicBezTo>
                  <a:lnTo>
                    <a:pt x="7125" y="3142"/>
                  </a:lnTo>
                  <a:cubicBezTo>
                    <a:pt x="7115" y="3142"/>
                    <a:pt x="7106" y="3141"/>
                    <a:pt x="7097" y="3139"/>
                  </a:cubicBezTo>
                  <a:cubicBezTo>
                    <a:pt x="7088" y="3137"/>
                    <a:pt x="7079" y="3135"/>
                    <a:pt x="7070" y="3131"/>
                  </a:cubicBezTo>
                  <a:cubicBezTo>
                    <a:pt x="7061" y="3128"/>
                    <a:pt x="7053" y="3123"/>
                    <a:pt x="7045" y="3118"/>
                  </a:cubicBezTo>
                  <a:cubicBezTo>
                    <a:pt x="7038" y="3113"/>
                    <a:pt x="7030" y="3107"/>
                    <a:pt x="7024" y="3100"/>
                  </a:cubicBezTo>
                  <a:cubicBezTo>
                    <a:pt x="7017" y="3094"/>
                    <a:pt x="7011" y="3086"/>
                    <a:pt x="7006" y="3079"/>
                  </a:cubicBezTo>
                  <a:cubicBezTo>
                    <a:pt x="7001" y="3071"/>
                    <a:pt x="6996" y="3063"/>
                    <a:pt x="6993" y="3054"/>
                  </a:cubicBezTo>
                  <a:cubicBezTo>
                    <a:pt x="6989" y="3045"/>
                    <a:pt x="6987" y="3036"/>
                    <a:pt x="6985" y="3027"/>
                  </a:cubicBezTo>
                  <a:cubicBezTo>
                    <a:pt x="6983" y="3018"/>
                    <a:pt x="6982" y="3009"/>
                    <a:pt x="6982" y="3000"/>
                  </a:cubicBezTo>
                  <a:moveTo>
                    <a:pt x="10462" y="3000"/>
                  </a:moveTo>
                  <a:lnTo>
                    <a:pt x="10462" y="150"/>
                  </a:lnTo>
                  <a:cubicBezTo>
                    <a:pt x="10462" y="140"/>
                    <a:pt x="10463" y="131"/>
                    <a:pt x="10465" y="122"/>
                  </a:cubicBezTo>
                  <a:cubicBezTo>
                    <a:pt x="10467" y="112"/>
                    <a:pt x="10469" y="104"/>
                    <a:pt x="10473" y="95"/>
                  </a:cubicBezTo>
                  <a:cubicBezTo>
                    <a:pt x="10476" y="86"/>
                    <a:pt x="10481" y="78"/>
                    <a:pt x="10486" y="70"/>
                  </a:cubicBezTo>
                  <a:cubicBezTo>
                    <a:pt x="10491" y="63"/>
                    <a:pt x="10497" y="55"/>
                    <a:pt x="10504" y="49"/>
                  </a:cubicBezTo>
                  <a:cubicBezTo>
                    <a:pt x="10510" y="42"/>
                    <a:pt x="10518" y="36"/>
                    <a:pt x="10525" y="31"/>
                  </a:cubicBezTo>
                  <a:cubicBezTo>
                    <a:pt x="10533" y="26"/>
                    <a:pt x="10541" y="21"/>
                    <a:pt x="10550" y="18"/>
                  </a:cubicBezTo>
                  <a:cubicBezTo>
                    <a:pt x="10559" y="14"/>
                    <a:pt x="10568" y="12"/>
                    <a:pt x="10577" y="10"/>
                  </a:cubicBezTo>
                  <a:cubicBezTo>
                    <a:pt x="10586" y="8"/>
                    <a:pt x="10595" y="7"/>
                    <a:pt x="10605" y="7"/>
                  </a:cubicBezTo>
                  <a:lnTo>
                    <a:pt x="13530" y="7"/>
                  </a:lnTo>
                  <a:cubicBezTo>
                    <a:pt x="13539" y="7"/>
                    <a:pt x="13548" y="8"/>
                    <a:pt x="13557" y="10"/>
                  </a:cubicBezTo>
                  <a:cubicBezTo>
                    <a:pt x="13566" y="12"/>
                    <a:pt x="13575" y="14"/>
                    <a:pt x="13584" y="18"/>
                  </a:cubicBezTo>
                  <a:cubicBezTo>
                    <a:pt x="13593" y="21"/>
                    <a:pt x="13601" y="26"/>
                    <a:pt x="13609" y="31"/>
                  </a:cubicBezTo>
                  <a:cubicBezTo>
                    <a:pt x="13616" y="36"/>
                    <a:pt x="13624" y="42"/>
                    <a:pt x="13630" y="49"/>
                  </a:cubicBezTo>
                  <a:cubicBezTo>
                    <a:pt x="13637" y="55"/>
                    <a:pt x="13643" y="63"/>
                    <a:pt x="13648" y="70"/>
                  </a:cubicBezTo>
                  <a:cubicBezTo>
                    <a:pt x="13653" y="78"/>
                    <a:pt x="13658" y="86"/>
                    <a:pt x="13661" y="95"/>
                  </a:cubicBezTo>
                  <a:cubicBezTo>
                    <a:pt x="13665" y="104"/>
                    <a:pt x="13667" y="112"/>
                    <a:pt x="13669" y="122"/>
                  </a:cubicBezTo>
                  <a:cubicBezTo>
                    <a:pt x="13671" y="131"/>
                    <a:pt x="13672" y="140"/>
                    <a:pt x="13672" y="150"/>
                  </a:cubicBezTo>
                  <a:lnTo>
                    <a:pt x="13672" y="3000"/>
                  </a:lnTo>
                  <a:cubicBezTo>
                    <a:pt x="13672" y="3009"/>
                    <a:pt x="13671" y="3018"/>
                    <a:pt x="13669" y="3027"/>
                  </a:cubicBezTo>
                  <a:cubicBezTo>
                    <a:pt x="13667" y="3036"/>
                    <a:pt x="13665" y="3045"/>
                    <a:pt x="13661" y="3054"/>
                  </a:cubicBezTo>
                  <a:cubicBezTo>
                    <a:pt x="13658" y="3063"/>
                    <a:pt x="13653" y="3071"/>
                    <a:pt x="13648" y="3079"/>
                  </a:cubicBezTo>
                  <a:cubicBezTo>
                    <a:pt x="13643" y="3086"/>
                    <a:pt x="13637" y="3094"/>
                    <a:pt x="13630" y="3100"/>
                  </a:cubicBezTo>
                  <a:cubicBezTo>
                    <a:pt x="13624" y="3107"/>
                    <a:pt x="13616" y="3113"/>
                    <a:pt x="13609" y="3118"/>
                  </a:cubicBezTo>
                  <a:cubicBezTo>
                    <a:pt x="13601" y="3123"/>
                    <a:pt x="13593" y="3128"/>
                    <a:pt x="13584" y="3131"/>
                  </a:cubicBezTo>
                  <a:cubicBezTo>
                    <a:pt x="13575" y="3135"/>
                    <a:pt x="13566" y="3137"/>
                    <a:pt x="13557" y="3139"/>
                  </a:cubicBezTo>
                  <a:cubicBezTo>
                    <a:pt x="13548" y="3141"/>
                    <a:pt x="13539" y="3142"/>
                    <a:pt x="13530" y="3142"/>
                  </a:cubicBezTo>
                  <a:lnTo>
                    <a:pt x="10605" y="3142"/>
                  </a:lnTo>
                  <a:cubicBezTo>
                    <a:pt x="10595" y="3142"/>
                    <a:pt x="10586" y="3141"/>
                    <a:pt x="10577" y="3139"/>
                  </a:cubicBezTo>
                  <a:cubicBezTo>
                    <a:pt x="10568" y="3137"/>
                    <a:pt x="10559" y="3135"/>
                    <a:pt x="10550" y="3131"/>
                  </a:cubicBezTo>
                  <a:cubicBezTo>
                    <a:pt x="10541" y="3128"/>
                    <a:pt x="10533" y="3123"/>
                    <a:pt x="10525" y="3118"/>
                  </a:cubicBezTo>
                  <a:cubicBezTo>
                    <a:pt x="10518" y="3113"/>
                    <a:pt x="10510" y="3107"/>
                    <a:pt x="10504" y="3100"/>
                  </a:cubicBezTo>
                  <a:cubicBezTo>
                    <a:pt x="10497" y="3094"/>
                    <a:pt x="10491" y="3086"/>
                    <a:pt x="10486" y="3079"/>
                  </a:cubicBezTo>
                  <a:cubicBezTo>
                    <a:pt x="10481" y="3071"/>
                    <a:pt x="10476" y="3063"/>
                    <a:pt x="10473" y="3054"/>
                  </a:cubicBezTo>
                  <a:cubicBezTo>
                    <a:pt x="10469" y="3045"/>
                    <a:pt x="10467" y="3036"/>
                    <a:pt x="10465" y="3027"/>
                  </a:cubicBezTo>
                  <a:cubicBezTo>
                    <a:pt x="10463" y="3018"/>
                    <a:pt x="10462" y="3009"/>
                    <a:pt x="10462" y="3000"/>
                  </a:cubicBezTo>
                  <a:moveTo>
                    <a:pt x="13957" y="3000"/>
                  </a:moveTo>
                  <a:lnTo>
                    <a:pt x="13957" y="150"/>
                  </a:lnTo>
                  <a:cubicBezTo>
                    <a:pt x="13957" y="140"/>
                    <a:pt x="13958" y="131"/>
                    <a:pt x="13960" y="122"/>
                  </a:cubicBezTo>
                  <a:cubicBezTo>
                    <a:pt x="13962" y="112"/>
                    <a:pt x="13964" y="104"/>
                    <a:pt x="13968" y="95"/>
                  </a:cubicBezTo>
                  <a:cubicBezTo>
                    <a:pt x="13971" y="86"/>
                    <a:pt x="13976" y="78"/>
                    <a:pt x="13981" y="70"/>
                  </a:cubicBezTo>
                  <a:cubicBezTo>
                    <a:pt x="13986" y="63"/>
                    <a:pt x="13992" y="55"/>
                    <a:pt x="13999" y="49"/>
                  </a:cubicBezTo>
                  <a:cubicBezTo>
                    <a:pt x="14005" y="42"/>
                    <a:pt x="14013" y="36"/>
                    <a:pt x="14020" y="31"/>
                  </a:cubicBezTo>
                  <a:cubicBezTo>
                    <a:pt x="14028" y="26"/>
                    <a:pt x="14036" y="21"/>
                    <a:pt x="14045" y="18"/>
                  </a:cubicBezTo>
                  <a:cubicBezTo>
                    <a:pt x="14054" y="14"/>
                    <a:pt x="14063" y="12"/>
                    <a:pt x="14072" y="10"/>
                  </a:cubicBezTo>
                  <a:cubicBezTo>
                    <a:pt x="14081" y="8"/>
                    <a:pt x="14090" y="7"/>
                    <a:pt x="14100" y="7"/>
                  </a:cubicBezTo>
                  <a:lnTo>
                    <a:pt x="17010" y="7"/>
                  </a:lnTo>
                  <a:cubicBezTo>
                    <a:pt x="17019" y="7"/>
                    <a:pt x="17028" y="8"/>
                    <a:pt x="17037" y="10"/>
                  </a:cubicBezTo>
                  <a:cubicBezTo>
                    <a:pt x="17046" y="12"/>
                    <a:pt x="17055" y="14"/>
                    <a:pt x="17064" y="18"/>
                  </a:cubicBezTo>
                  <a:cubicBezTo>
                    <a:pt x="17073" y="21"/>
                    <a:pt x="17081" y="26"/>
                    <a:pt x="17089" y="31"/>
                  </a:cubicBezTo>
                  <a:cubicBezTo>
                    <a:pt x="17096" y="36"/>
                    <a:pt x="17104" y="42"/>
                    <a:pt x="17110" y="49"/>
                  </a:cubicBezTo>
                  <a:cubicBezTo>
                    <a:pt x="17117" y="55"/>
                    <a:pt x="17123" y="63"/>
                    <a:pt x="17128" y="70"/>
                  </a:cubicBezTo>
                  <a:cubicBezTo>
                    <a:pt x="17133" y="78"/>
                    <a:pt x="17138" y="86"/>
                    <a:pt x="17141" y="95"/>
                  </a:cubicBezTo>
                  <a:cubicBezTo>
                    <a:pt x="17145" y="104"/>
                    <a:pt x="17147" y="112"/>
                    <a:pt x="17149" y="122"/>
                  </a:cubicBezTo>
                  <a:cubicBezTo>
                    <a:pt x="17151" y="131"/>
                    <a:pt x="17152" y="140"/>
                    <a:pt x="17152" y="150"/>
                  </a:cubicBezTo>
                  <a:lnTo>
                    <a:pt x="17152" y="3000"/>
                  </a:lnTo>
                  <a:cubicBezTo>
                    <a:pt x="17152" y="3009"/>
                    <a:pt x="17151" y="3018"/>
                    <a:pt x="17149" y="3027"/>
                  </a:cubicBezTo>
                  <a:cubicBezTo>
                    <a:pt x="17147" y="3036"/>
                    <a:pt x="17145" y="3045"/>
                    <a:pt x="17141" y="3054"/>
                  </a:cubicBezTo>
                  <a:cubicBezTo>
                    <a:pt x="17138" y="3063"/>
                    <a:pt x="17133" y="3071"/>
                    <a:pt x="17128" y="3079"/>
                  </a:cubicBezTo>
                  <a:cubicBezTo>
                    <a:pt x="17123" y="3086"/>
                    <a:pt x="17117" y="3094"/>
                    <a:pt x="17110" y="3100"/>
                  </a:cubicBezTo>
                  <a:cubicBezTo>
                    <a:pt x="17104" y="3107"/>
                    <a:pt x="17096" y="3113"/>
                    <a:pt x="17089" y="3118"/>
                  </a:cubicBezTo>
                  <a:cubicBezTo>
                    <a:pt x="17081" y="3123"/>
                    <a:pt x="17073" y="3128"/>
                    <a:pt x="17064" y="3131"/>
                  </a:cubicBezTo>
                  <a:cubicBezTo>
                    <a:pt x="17055" y="3135"/>
                    <a:pt x="17046" y="3137"/>
                    <a:pt x="17037" y="3139"/>
                  </a:cubicBezTo>
                  <a:cubicBezTo>
                    <a:pt x="17028" y="3141"/>
                    <a:pt x="17019" y="3142"/>
                    <a:pt x="17010" y="3142"/>
                  </a:cubicBezTo>
                  <a:lnTo>
                    <a:pt x="14100" y="3142"/>
                  </a:lnTo>
                  <a:cubicBezTo>
                    <a:pt x="14090" y="3142"/>
                    <a:pt x="14081" y="3141"/>
                    <a:pt x="14072" y="3139"/>
                  </a:cubicBezTo>
                  <a:cubicBezTo>
                    <a:pt x="14063" y="3137"/>
                    <a:pt x="14054" y="3135"/>
                    <a:pt x="14045" y="3131"/>
                  </a:cubicBezTo>
                  <a:cubicBezTo>
                    <a:pt x="14036" y="3128"/>
                    <a:pt x="14028" y="3123"/>
                    <a:pt x="14020" y="3118"/>
                  </a:cubicBezTo>
                  <a:cubicBezTo>
                    <a:pt x="14013" y="3113"/>
                    <a:pt x="14005" y="3107"/>
                    <a:pt x="13999" y="3100"/>
                  </a:cubicBezTo>
                  <a:cubicBezTo>
                    <a:pt x="13992" y="3094"/>
                    <a:pt x="13986" y="3086"/>
                    <a:pt x="13981" y="3079"/>
                  </a:cubicBezTo>
                  <a:cubicBezTo>
                    <a:pt x="13976" y="3071"/>
                    <a:pt x="13971" y="3063"/>
                    <a:pt x="13968" y="3054"/>
                  </a:cubicBezTo>
                  <a:cubicBezTo>
                    <a:pt x="13964" y="3045"/>
                    <a:pt x="13962" y="3036"/>
                    <a:pt x="13960" y="3027"/>
                  </a:cubicBezTo>
                  <a:cubicBezTo>
                    <a:pt x="13958" y="3018"/>
                    <a:pt x="13957" y="3009"/>
                    <a:pt x="13957" y="3000"/>
                  </a:cubicBezTo>
                </a:path>
              </a:pathLst>
            </a:custGeom>
            <a:noFill/>
            <a:ln w="9525" cap="flat">
              <a:solidFill>
                <a:srgbClr val="DFE4EA"/>
              </a:solidFill>
              <a:prstDash val="solid"/>
              <a:miter lim="4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4" name="textbox 234"/>
            <p:cNvSpPr/>
            <p:nvPr/>
          </p:nvSpPr>
          <p:spPr>
            <a:xfrm>
              <a:off x="2458833" y="94818"/>
              <a:ext cx="873125" cy="12484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5875" algn="l" rtl="0" eaLnBrk="0">
                <a:lnSpc>
                  <a:spcPts val="6331"/>
                </a:lnSpc>
                <a:tabLst/>
              </a:pPr>
              <a:r>
                <a:rPr sz="4800" b="1" kern="0" spc="-110" dirty="0">
                  <a:solidFill>
                    <a:srgbClr val="10BDE9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  <a:endParaRPr sz="48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6"/>
                </a:spcBef>
                <a:tabLst/>
              </a:pPr>
              <a:r>
                <a:rPr sz="1800" b="1" kern="0" spc="-40" dirty="0">
                  <a:solidFill>
                    <a:srgbClr val="111827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Prompt</a:t>
              </a:r>
              <a:endParaRPr sz="18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236" name="textbox 236"/>
            <p:cNvSpPr/>
            <p:nvPr/>
          </p:nvSpPr>
          <p:spPr>
            <a:xfrm>
              <a:off x="6868650" y="94818"/>
              <a:ext cx="774065" cy="12274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3019" algn="l" rtl="0" eaLnBrk="0">
                <a:lnSpc>
                  <a:spcPts val="6331"/>
                </a:lnSpc>
                <a:tabLst/>
              </a:pPr>
              <a:r>
                <a:rPr sz="4800" b="1" kern="0" spc="-110" dirty="0">
                  <a:solidFill>
                    <a:srgbClr val="10BDE9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  <a:endParaRPr sz="48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spcBef>
                  <a:spcPts val="3"/>
                </a:spcBef>
                <a:tabLst/>
              </a:pPr>
              <a:r>
                <a:rPr sz="1800" b="1" kern="0" spc="-20" dirty="0">
                  <a:solidFill>
                    <a:srgbClr val="111827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修图</a:t>
              </a:r>
              <a:endParaRPr sz="18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238" name="textbox 238"/>
            <p:cNvSpPr/>
            <p:nvPr/>
          </p:nvSpPr>
          <p:spPr>
            <a:xfrm>
              <a:off x="4655815" y="94818"/>
              <a:ext cx="773430" cy="12280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2384" algn="l" rtl="0" eaLnBrk="0">
                <a:lnSpc>
                  <a:spcPts val="6331"/>
                </a:lnSpc>
                <a:tabLst/>
              </a:pPr>
              <a:r>
                <a:rPr sz="4800" b="1" kern="0" spc="-110" dirty="0">
                  <a:solidFill>
                    <a:srgbClr val="10BDE9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  <a:endParaRPr sz="48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spcBef>
                  <a:spcPts val="5"/>
                </a:spcBef>
                <a:tabLst/>
              </a:pPr>
              <a:r>
                <a:rPr sz="1800" b="1" kern="0" spc="-20" dirty="0">
                  <a:solidFill>
                    <a:srgbClr val="111827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合成</a:t>
              </a:r>
              <a:endParaRPr sz="18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240" name="textbox 240"/>
            <p:cNvSpPr/>
            <p:nvPr/>
          </p:nvSpPr>
          <p:spPr>
            <a:xfrm>
              <a:off x="9083006" y="94818"/>
              <a:ext cx="773430" cy="12274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2384" algn="l" rtl="0" eaLnBrk="0">
                <a:lnSpc>
                  <a:spcPts val="6331"/>
                </a:lnSpc>
                <a:tabLst/>
              </a:pPr>
              <a:r>
                <a:rPr sz="4800" b="1" kern="0" spc="-110" dirty="0">
                  <a:solidFill>
                    <a:srgbClr val="10BDE9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05</a:t>
              </a:r>
              <a:endParaRPr sz="48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spcBef>
                  <a:spcPts val="1"/>
                </a:spcBef>
                <a:tabLst/>
              </a:pPr>
              <a:r>
                <a:rPr sz="1800" b="1" kern="0" spc="-20" dirty="0">
                  <a:solidFill>
                    <a:srgbClr val="111827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成品</a:t>
              </a:r>
              <a:endParaRPr sz="18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242" name="textbox 242"/>
            <p:cNvSpPr/>
            <p:nvPr/>
          </p:nvSpPr>
          <p:spPr>
            <a:xfrm>
              <a:off x="231597" y="94818"/>
              <a:ext cx="770890" cy="12293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9209" algn="l" rtl="0" eaLnBrk="0">
                <a:lnSpc>
                  <a:spcPts val="6331"/>
                </a:lnSpc>
                <a:tabLst/>
              </a:pPr>
              <a:r>
                <a:rPr sz="4800" b="1" kern="0" spc="-110" dirty="0">
                  <a:solidFill>
                    <a:srgbClr val="10BDE9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  <a:endParaRPr sz="48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72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800" b="1" kern="0" spc="-30" dirty="0">
                  <a:solidFill>
                    <a:srgbClr val="111827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需求</a:t>
              </a:r>
              <a:endParaRPr sz="18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244" name="textbox 244"/>
            <p:cNvSpPr/>
            <p:nvPr/>
          </p:nvSpPr>
          <p:spPr>
            <a:xfrm>
              <a:off x="1916689" y="959707"/>
              <a:ext cx="300354" cy="2178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514"/>
                </a:lnSpc>
                <a:tabLst/>
              </a:pPr>
              <a:r>
                <a:rPr sz="2200" b="1" kern="0" spc="-10" dirty="0">
                  <a:solidFill>
                    <a:srgbClr val="12C8F4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  <a:endParaRPr sz="22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246" name="textbox 246"/>
            <p:cNvSpPr/>
            <p:nvPr/>
          </p:nvSpPr>
          <p:spPr>
            <a:xfrm>
              <a:off x="4130359" y="959707"/>
              <a:ext cx="300354" cy="2178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514"/>
                </a:lnSpc>
                <a:tabLst/>
              </a:pPr>
              <a:r>
                <a:rPr sz="2200" b="1" kern="0" spc="-10" dirty="0">
                  <a:solidFill>
                    <a:srgbClr val="12C8F4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  <a:endParaRPr sz="22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248" name="textbox 248"/>
            <p:cNvSpPr/>
            <p:nvPr/>
          </p:nvSpPr>
          <p:spPr>
            <a:xfrm>
              <a:off x="6343880" y="959707"/>
              <a:ext cx="300354" cy="2178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514"/>
                </a:lnSpc>
                <a:tabLst/>
              </a:pPr>
              <a:r>
                <a:rPr sz="2200" b="1" kern="0" spc="-10" dirty="0">
                  <a:solidFill>
                    <a:srgbClr val="12C8F4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  <a:endParaRPr sz="22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250" name="textbox 250"/>
            <p:cNvSpPr/>
            <p:nvPr/>
          </p:nvSpPr>
          <p:spPr>
            <a:xfrm>
              <a:off x="8557549" y="959707"/>
              <a:ext cx="300354" cy="2178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514"/>
                </a:lnSpc>
                <a:tabLst/>
              </a:pPr>
              <a:r>
                <a:rPr sz="2200" b="1" kern="0" spc="-10" dirty="0">
                  <a:solidFill>
                    <a:srgbClr val="12C8F4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  <a:endParaRPr sz="2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252" name="textbox 252"/>
          <p:cNvSpPr/>
          <p:nvPr/>
        </p:nvSpPr>
        <p:spPr>
          <a:xfrm>
            <a:off x="637743" y="503993"/>
            <a:ext cx="3262629" cy="902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ts val="1286"/>
              </a:lnSpc>
              <a:tabLst/>
            </a:pP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900" b="1" kern="0" spc="-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10</a:t>
            </a:r>
            <a:r>
              <a:rPr sz="900" b="1" kern="0" spc="2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900" b="1" kern="0" spc="25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900" b="1" kern="0" spc="26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VISUAL</a:t>
            </a:r>
            <a:r>
              <a:rPr sz="900" b="1" kern="0" spc="26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WORK</a:t>
            </a:r>
            <a:r>
              <a:rPr sz="900" b="1" kern="0" spc="-8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FLOW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7"/>
              </a:spcBef>
              <a:tabLst/>
            </a:pPr>
            <a:r>
              <a:rPr sz="3600" b="1" kern="0" spc="-1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AI视觉生成流程</a:t>
            </a:r>
            <a:endParaRPr sz="3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4" name="textbox 254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8"/>
              </a:lnSpc>
              <a:tabLst/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Mar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keting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Designer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10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6" name="textbox 256"/>
          <p:cNvSpPr/>
          <p:nvPr/>
        </p:nvSpPr>
        <p:spPr>
          <a:xfrm>
            <a:off x="636781" y="4249242"/>
            <a:ext cx="7487284" cy="187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200" kern="0" spc="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6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辅助用于快速建立工业场景方向，再通过合成、精修与</a:t>
            </a:r>
            <a:r>
              <a:rPr sz="1200" kern="0" spc="5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品牌规范控制，把探索效率转化为可交付素材。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rect 25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0" name="rect 260"/>
          <p:cNvSpPr/>
          <p:nvPr/>
        </p:nvSpPr>
        <p:spPr>
          <a:xfrm>
            <a:off x="0" y="0"/>
            <a:ext cx="12191701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62" name="picture 2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85586" y="1705115"/>
            <a:ext cx="5629145" cy="3773904"/>
          </a:xfrm>
          <a:prstGeom prst="rect">
            <a:avLst/>
          </a:prstGeom>
        </p:spPr>
      </p:pic>
      <p:pic>
        <p:nvPicPr>
          <p:cNvPr id="264" name="picture 2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47700" y="1704975"/>
            <a:ext cx="5286375" cy="3619500"/>
          </a:xfrm>
          <a:prstGeom prst="rect">
            <a:avLst/>
          </a:prstGeom>
        </p:spPr>
      </p:pic>
      <p:pic>
        <p:nvPicPr>
          <p:cNvPr id="266" name="picture 2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257925" y="1704975"/>
            <a:ext cx="5286375" cy="3429000"/>
          </a:xfrm>
          <a:prstGeom prst="rect">
            <a:avLst/>
          </a:prstGeom>
        </p:spPr>
      </p:pic>
      <p:sp>
        <p:nvSpPr>
          <p:cNvPr id="268" name="textbox 268"/>
          <p:cNvSpPr/>
          <p:nvPr/>
        </p:nvSpPr>
        <p:spPr>
          <a:xfrm>
            <a:off x="638724" y="808507"/>
            <a:ext cx="3218179" cy="526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259" algn="l" rtl="0" eaLnBrk="0">
              <a:lnSpc>
                <a:spcPts val="4748"/>
              </a:lnSpc>
              <a:tabLst/>
            </a:pPr>
            <a:r>
              <a:rPr sz="3600" b="1" kern="0" spc="-2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Before / Af</a:t>
            </a:r>
            <a:r>
              <a:rPr sz="3600" b="1" kern="0" spc="-3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ter</a:t>
            </a:r>
            <a:endParaRPr sz="3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8575" algn="l" rtl="0" eaLnBrk="0">
              <a:lnSpc>
                <a:spcPct val="82000"/>
              </a:lnSpc>
              <a:spcBef>
                <a:spcPts val="544"/>
              </a:spcBef>
              <a:tabLst/>
            </a:pPr>
            <a:r>
              <a:rPr sz="1800" b="1" kern="0" spc="-4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Before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646"/>
              </a:lnSpc>
              <a:tabLst/>
            </a:pPr>
            <a:r>
              <a:rPr sz="1200" kern="0" spc="6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普通产品图 / 信息层级弱 / 场景情绪</a:t>
            </a:r>
            <a:r>
              <a:rPr sz="1200" kern="0" spc="5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不足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0" name="textbox 270"/>
          <p:cNvSpPr/>
          <p:nvPr/>
        </p:nvSpPr>
        <p:spPr>
          <a:xfrm>
            <a:off x="6246596" y="5352008"/>
            <a:ext cx="5205729" cy="5613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6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1800" b="1" kern="0" spc="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After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200" kern="0" spc="8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从普通产品图转为高级营销图</a:t>
            </a:r>
            <a:r>
              <a:rPr sz="1200" kern="0" spc="7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：增强场景氛围、产品体积感、信息层级和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2" name="textbox 272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8"/>
              </a:lnSpc>
              <a:tabLst/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Mar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keting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Designer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4" name="textbox 274"/>
          <p:cNvSpPr/>
          <p:nvPr/>
        </p:nvSpPr>
        <p:spPr>
          <a:xfrm>
            <a:off x="645772" y="503993"/>
            <a:ext cx="1733550" cy="189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86"/>
              </a:lnSpc>
              <a:tabLst/>
            </a:pP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11</a:t>
            </a:r>
            <a:r>
              <a:rPr sz="900" b="1" kern="0" spc="2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900" b="1" kern="0" spc="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BEFORE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&amp;</a:t>
            </a:r>
            <a:r>
              <a:rPr sz="900" b="1" kern="0" spc="27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AFTER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6" name="textbox 276"/>
          <p:cNvSpPr/>
          <p:nvPr/>
        </p:nvSpPr>
        <p:spPr>
          <a:xfrm>
            <a:off x="6256073" y="5965361"/>
            <a:ext cx="791844" cy="184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5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kern="0" spc="-10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品牌识别。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rect 27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80" name="picture 2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1701" cy="6858000"/>
          </a:xfrm>
          <a:prstGeom prst="rect">
            <a:avLst/>
          </a:prstGeom>
        </p:spPr>
      </p:pic>
      <p:sp>
        <p:nvSpPr>
          <p:cNvPr id="282" name="textbox 282"/>
          <p:cNvSpPr/>
          <p:nvPr/>
        </p:nvSpPr>
        <p:spPr>
          <a:xfrm>
            <a:off x="641400" y="503993"/>
            <a:ext cx="6605269" cy="3067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ts val="1286"/>
              </a:lnSpc>
              <a:tabLst/>
            </a:pP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PART</a:t>
            </a:r>
            <a:r>
              <a:rPr sz="900" b="1" kern="0" spc="4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sz="900" b="1" kern="0" spc="-8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</a:t>
            </a:r>
            <a:r>
              <a:rPr sz="900" b="1" kern="0" spc="23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900" b="1" kern="0" spc="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CORE</a:t>
            </a:r>
            <a:r>
              <a:rPr sz="900" b="1" kern="0" spc="4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PROJECT</a:t>
            </a:r>
            <a:r>
              <a:rPr sz="900" b="1" kern="0" spc="1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sz="900" b="1" kern="0" spc="-10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8100" indent="23495" algn="l" rtl="0" eaLnBrk="0">
              <a:lnSpc>
                <a:spcPct val="97000"/>
              </a:lnSpc>
              <a:spcBef>
                <a:spcPts val="1541"/>
              </a:spcBef>
              <a:tabLst/>
            </a:pPr>
            <a:r>
              <a:rPr sz="5100" b="1" kern="0" spc="-6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Industrial</a:t>
            </a:r>
            <a:r>
              <a:rPr sz="5100" b="1" kern="0" spc="51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5100" b="1" kern="0" spc="-6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Product</a:t>
            </a:r>
            <a:r>
              <a:rPr sz="5100" b="1" kern="0" spc="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5100" b="1" kern="0" spc="-3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Scene Visual System</a:t>
            </a:r>
            <a:endParaRPr sz="5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4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工业产品场景视觉系统：真实工程可信度与</a:t>
            </a:r>
            <a:r>
              <a:rPr sz="1800" kern="0" spc="-5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商业传播画面的结合。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4" name="textbox 284"/>
          <p:cNvSpPr/>
          <p:nvPr/>
        </p:nvSpPr>
        <p:spPr>
          <a:xfrm>
            <a:off x="647134" y="6412493"/>
            <a:ext cx="10908665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P12</a:t>
            </a:r>
            <a:r>
              <a:rPr sz="900" kern="0" spc="1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</a:t>
            </a:r>
            <a:r>
              <a:rPr sz="900" kern="0" spc="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Engineering Scena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rios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rect 28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88" name="picture 2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47700" y="1704975"/>
            <a:ext cx="10896600" cy="3619500"/>
          </a:xfrm>
          <a:prstGeom prst="rect">
            <a:avLst/>
          </a:prstGeom>
        </p:spPr>
      </p:pic>
      <p:sp>
        <p:nvSpPr>
          <p:cNvPr id="290" name="textbox 290"/>
          <p:cNvSpPr/>
          <p:nvPr/>
        </p:nvSpPr>
        <p:spPr>
          <a:xfrm>
            <a:off x="635971" y="5488254"/>
            <a:ext cx="8584565" cy="796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2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7000"/>
              </a:lnSpc>
              <a:tabLst/>
            </a:pPr>
            <a:r>
              <a:rPr sz="1800" b="1" kern="0" spc="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矿洞                                                隧道          </a:t>
            </a:r>
            <a:r>
              <a:rPr sz="1800" b="1" kern="0" spc="-1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地下停车场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1200" kern="0" spc="4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低照度、高反差和空间纵深，让设备能力进入真实工程语境。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2" name="textbox 292"/>
          <p:cNvSpPr/>
          <p:nvPr/>
        </p:nvSpPr>
        <p:spPr>
          <a:xfrm>
            <a:off x="641858" y="503993"/>
            <a:ext cx="2177414" cy="902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ts val="1286"/>
              </a:lnSpc>
              <a:tabLst/>
            </a:pP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900" b="1" kern="0" spc="-6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13</a:t>
            </a:r>
            <a:r>
              <a:rPr sz="900" b="1" kern="0" spc="24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900" b="1" kern="0" spc="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UNDERGROUND</a:t>
            </a:r>
            <a:r>
              <a:rPr sz="900" b="1" kern="0" spc="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SPACE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3600" b="1" kern="0" spc="-2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地下空间</a:t>
            </a:r>
            <a:endParaRPr sz="3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4" name="textbox 294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8"/>
              </a:lnSpc>
              <a:tabLst/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Mar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keting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Designer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13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rect 29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98" name="picture 2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47700" y="1704975"/>
            <a:ext cx="10896600" cy="3619500"/>
          </a:xfrm>
          <a:prstGeom prst="rect">
            <a:avLst/>
          </a:prstGeom>
        </p:spPr>
      </p:pic>
      <p:sp>
        <p:nvSpPr>
          <p:cNvPr id="300" name="textbox 300"/>
          <p:cNvSpPr/>
          <p:nvPr/>
        </p:nvSpPr>
        <p:spPr>
          <a:xfrm>
            <a:off x="637743" y="5488711"/>
            <a:ext cx="8354059" cy="7956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2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b="1" kern="0" spc="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矿区定位                                         土方测量                                  </a:t>
            </a:r>
            <a:r>
              <a:rPr sz="1800" b="1" kern="0" spc="-1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施工管理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1200" kern="0" spc="4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强调大尺度空间、机械环境与定位精度，让画面具备现场可信度。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2" name="textbox 302"/>
          <p:cNvSpPr/>
          <p:nvPr/>
        </p:nvSpPr>
        <p:spPr>
          <a:xfrm>
            <a:off x="645515" y="503993"/>
            <a:ext cx="3702684" cy="933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86"/>
              </a:lnSpc>
              <a:tabLst/>
            </a:pP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900" b="1" kern="0" spc="-7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14</a:t>
            </a:r>
            <a:r>
              <a:rPr sz="900" b="1" kern="0" spc="2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900" b="1" kern="0" spc="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EARTHWORK</a:t>
            </a:r>
            <a:r>
              <a:rPr sz="900" b="1" kern="0" spc="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&amp;</a:t>
            </a:r>
            <a:r>
              <a:rPr sz="900" b="1" kern="0" spc="4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MINING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5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748"/>
              </a:lnSpc>
              <a:tabLst/>
            </a:pPr>
            <a:r>
              <a:rPr sz="3600" b="1" kern="0" spc="-1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土方工程 / 露天矿</a:t>
            </a:r>
            <a:endParaRPr sz="3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4" name="textbox 304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8"/>
              </a:lnSpc>
              <a:tabLst/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Mar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keting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Designer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t 30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08" name="picture 3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57225" y="1704975"/>
            <a:ext cx="10887075" cy="3619500"/>
          </a:xfrm>
          <a:prstGeom prst="rect">
            <a:avLst/>
          </a:prstGeom>
        </p:spPr>
      </p:pic>
      <p:sp>
        <p:nvSpPr>
          <p:cNvPr id="310" name="textbox 310"/>
          <p:cNvSpPr/>
          <p:nvPr/>
        </p:nvSpPr>
        <p:spPr>
          <a:xfrm>
            <a:off x="636943" y="5488025"/>
            <a:ext cx="8354694" cy="796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7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7000"/>
              </a:lnSpc>
              <a:tabLst/>
            </a:pPr>
            <a:r>
              <a:rPr sz="1800" b="1" kern="0" spc="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高压塔架                                         线路巡检                                 </a:t>
            </a:r>
            <a:r>
              <a:rPr sz="1800" b="1" kern="0" spc="-1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树木扫描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1200" kern="0" spc="5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通过专业场景说明产品在复杂环境中的适用性，而不仅是单一产品展示</a:t>
            </a:r>
            <a:r>
              <a:rPr sz="1200" kern="0" spc="4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2" name="textbox 312"/>
          <p:cNvSpPr/>
          <p:nvPr/>
        </p:nvSpPr>
        <p:spPr>
          <a:xfrm>
            <a:off x="645772" y="503993"/>
            <a:ext cx="4159884" cy="933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86"/>
              </a:lnSpc>
              <a:tabLst/>
            </a:pP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900" b="1" kern="0" spc="-7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15</a:t>
            </a:r>
            <a:r>
              <a:rPr sz="900" b="1" kern="0" spc="2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900" b="1" kern="0" spc="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POWER</a:t>
            </a:r>
            <a:r>
              <a:rPr sz="900" b="1" kern="0" spc="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&amp;</a:t>
            </a:r>
            <a:r>
              <a:rPr sz="900" b="1" kern="0" spc="4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FORES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TRY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5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209" algn="l" rtl="0" eaLnBrk="0">
              <a:lnSpc>
                <a:spcPts val="4748"/>
              </a:lnSpc>
              <a:tabLst/>
            </a:pPr>
            <a:r>
              <a:rPr sz="3600" b="1" kern="0" spc="-2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电力巡检 / 林业调</a:t>
            </a:r>
            <a:r>
              <a:rPr sz="3600" b="1" kern="0" spc="-3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查</a:t>
            </a:r>
            <a:endParaRPr sz="3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4" name="textbox 314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8"/>
              </a:lnSpc>
              <a:tabLst/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Mar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keting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Designer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15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rect 3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18" name="picture 3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47700" y="1704975"/>
            <a:ext cx="10896600" cy="3619500"/>
          </a:xfrm>
          <a:prstGeom prst="rect">
            <a:avLst/>
          </a:prstGeom>
        </p:spPr>
      </p:pic>
      <p:sp>
        <p:nvSpPr>
          <p:cNvPr id="320" name="textbox 320"/>
          <p:cNvSpPr/>
          <p:nvPr/>
        </p:nvSpPr>
        <p:spPr>
          <a:xfrm>
            <a:off x="637105" y="5488940"/>
            <a:ext cx="8354694" cy="7956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3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6000"/>
              </a:lnSpc>
              <a:tabLst/>
            </a:pPr>
            <a:r>
              <a:rPr sz="1800" b="1" kern="0" spc="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建筑保护                                         数据采集                                  </a:t>
            </a:r>
            <a:r>
              <a:rPr sz="1800" b="1" kern="0" spc="-1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点云建模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spcBef>
                <a:spcPts val="3"/>
              </a:spcBef>
              <a:tabLst/>
            </a:pPr>
            <a:r>
              <a:rPr sz="1200" kern="0" spc="3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把不可见的数据能力转化成可视化科技表达</a:t>
            </a:r>
            <a:r>
              <a:rPr sz="1200" kern="0" spc="2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2" name="textbox 322"/>
          <p:cNvSpPr/>
          <p:nvPr/>
        </p:nvSpPr>
        <p:spPr>
          <a:xfrm>
            <a:off x="640029" y="503993"/>
            <a:ext cx="5080000" cy="933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ts val="1286"/>
              </a:lnSpc>
              <a:tabLst/>
            </a:pP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900" b="1" kern="0" spc="-7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16</a:t>
            </a:r>
            <a:r>
              <a:rPr sz="900" b="1" kern="0" spc="24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900" b="1" kern="0" spc="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HERITAGE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&amp;</a:t>
            </a:r>
            <a:r>
              <a:rPr sz="900" b="1" kern="0" spc="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POINT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LOUD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5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748"/>
              </a:lnSpc>
              <a:tabLst/>
            </a:pPr>
            <a:r>
              <a:rPr sz="3600" b="1" kern="0" spc="-1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历史建筑建模 / 点云扫描</a:t>
            </a:r>
            <a:endParaRPr sz="3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4" name="textbox 324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8"/>
              </a:lnSpc>
              <a:tabLst/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Mar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keting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Designer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rect 3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28" name="picture 3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57225" y="1704975"/>
            <a:ext cx="10887075" cy="3619500"/>
          </a:xfrm>
          <a:prstGeom prst="rect">
            <a:avLst/>
          </a:prstGeom>
        </p:spPr>
      </p:pic>
      <p:sp>
        <p:nvSpPr>
          <p:cNvPr id="330" name="textbox 330"/>
          <p:cNvSpPr/>
          <p:nvPr/>
        </p:nvSpPr>
        <p:spPr>
          <a:xfrm>
            <a:off x="637286" y="5488711"/>
            <a:ext cx="8354694" cy="796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7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b="1" kern="0" spc="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桥梁测绘                                         结构监测                                   </a:t>
            </a:r>
            <a:r>
              <a:rPr sz="1800" b="1" kern="0" spc="-1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安全评估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9000"/>
              </a:lnSpc>
              <a:spcBef>
                <a:spcPts val="3"/>
              </a:spcBef>
              <a:tabLst/>
            </a:pPr>
            <a:r>
              <a:rPr sz="1200" kern="0" spc="5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工程场景的重点是可信度：环境、产品、数据反馈和商业文</a:t>
            </a:r>
            <a:r>
              <a:rPr sz="1200" kern="0" spc="4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案需要互相支撑。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2" name="textbox 332"/>
          <p:cNvSpPr/>
          <p:nvPr/>
        </p:nvSpPr>
        <p:spPr>
          <a:xfrm>
            <a:off x="639572" y="503993"/>
            <a:ext cx="4166234" cy="933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ts val="1286"/>
              </a:lnSpc>
              <a:tabLst/>
            </a:pP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900" b="1" kern="0" spc="-7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17</a:t>
            </a:r>
            <a:r>
              <a:rPr sz="900" b="1" kern="0" spc="24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900" b="1" kern="0" spc="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BRIDGE</a:t>
            </a:r>
            <a:r>
              <a:rPr sz="900" b="1" kern="0" spc="4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MONITORI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NG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5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748"/>
              </a:lnSpc>
              <a:tabLst/>
            </a:pPr>
            <a:r>
              <a:rPr sz="3600" b="1" kern="0" spc="-1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桥梁检测 / 结构监测</a:t>
            </a:r>
            <a:endParaRPr sz="3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4" name="textbox 334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8"/>
              </a:lnSpc>
              <a:tabLst/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Mar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keting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Designer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17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rect 3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38" name="picture 3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1701" cy="6858000"/>
          </a:xfrm>
          <a:prstGeom prst="rect">
            <a:avLst/>
          </a:prstGeom>
        </p:spPr>
      </p:pic>
      <p:pic>
        <p:nvPicPr>
          <p:cNvPr id="340" name="picture 3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277354" y="1046913"/>
            <a:ext cx="4437379" cy="5105548"/>
          </a:xfrm>
          <a:prstGeom prst="rect">
            <a:avLst/>
          </a:prstGeom>
        </p:spPr>
      </p:pic>
      <p:sp>
        <p:nvSpPr>
          <p:cNvPr id="342" name="textbox 342"/>
          <p:cNvSpPr/>
          <p:nvPr/>
        </p:nvSpPr>
        <p:spPr>
          <a:xfrm>
            <a:off x="638200" y="2285168"/>
            <a:ext cx="5965825" cy="2232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ts val="1286"/>
              </a:lnSpc>
              <a:tabLst/>
            </a:pPr>
            <a:r>
              <a:rPr sz="900" b="1" kern="0" spc="10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PART</a:t>
            </a:r>
            <a:r>
              <a:rPr sz="900" b="1" kern="0" spc="1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0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sz="900" b="1" kern="0" spc="-14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0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</a:t>
            </a:r>
            <a:r>
              <a:rPr sz="900" b="1" kern="0" spc="23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0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900" b="1" kern="0" spc="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0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CORE</a:t>
            </a:r>
            <a:r>
              <a:rPr sz="900" b="1" kern="0" spc="4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0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ROJECT</a:t>
            </a:r>
            <a:r>
              <a:rPr sz="900" b="1" kern="0" spc="1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sz="900" b="1" kern="0" spc="-7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48894" algn="l" rtl="0" eaLnBrk="0">
              <a:lnSpc>
                <a:spcPct val="99000"/>
              </a:lnSpc>
              <a:spcBef>
                <a:spcPts val="1127"/>
              </a:spcBef>
              <a:tabLst/>
            </a:pPr>
            <a:r>
              <a:rPr sz="3600" b="1" kern="0" spc="-6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Brand</a:t>
            </a:r>
            <a:r>
              <a:rPr sz="3600" b="1" kern="0" spc="35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600" b="1" kern="0" spc="-6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Marketing</a:t>
            </a:r>
            <a:r>
              <a:rPr sz="3600" b="1" kern="0" spc="31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600" b="1" kern="0" spc="-6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Poster</a:t>
            </a:r>
            <a:r>
              <a:rPr sz="3600" b="1" kern="0" spc="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600" b="1" kern="0" spc="-5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</a:t>
            </a:r>
            <a:endParaRPr sz="3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ct val="83000"/>
              </a:lnSpc>
              <a:spcBef>
                <a:spcPts val="550"/>
              </a:spcBef>
              <a:tabLst/>
            </a:pPr>
            <a:r>
              <a:rPr sz="1800" kern="0" spc="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品牌营销海报设计系统：新</a:t>
            </a:r>
            <a:r>
              <a:rPr sz="1800" kern="0" spc="-1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品、卖点、展会与社媒素材统一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2596"/>
              </a:lnSpc>
              <a:tabLst/>
            </a:pPr>
            <a:r>
              <a:rPr sz="1600" kern="0" spc="-13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化。</a:t>
            </a:r>
            <a:endParaRPr sz="1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4" name="textbox 344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8"/>
              </a:lnSpc>
              <a:tabLst/>
            </a:pP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Poster /</a:t>
            </a:r>
            <a:r>
              <a:rPr sz="900" kern="0" spc="11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Banner /</a:t>
            </a:r>
            <a:r>
              <a:rPr sz="900" kern="0" spc="11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Packag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ing /</a:t>
            </a:r>
            <a:r>
              <a:rPr sz="900" kern="0" spc="10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Exhibition / Social</a:t>
            </a:r>
            <a:r>
              <a:rPr sz="900" kern="0" spc="1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Media</a:t>
            </a:r>
            <a:r>
              <a:rPr sz="900" kern="0" spc="1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</a:t>
            </a:r>
            <a:r>
              <a:rPr sz="900" kern="0" spc="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P18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rect 3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8" name="rect 348"/>
          <p:cNvSpPr/>
          <p:nvPr/>
        </p:nvSpPr>
        <p:spPr>
          <a:xfrm>
            <a:off x="0" y="0"/>
            <a:ext cx="12191701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50" name="picture 3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23900" y="2190750"/>
            <a:ext cx="10744200" cy="2381249"/>
          </a:xfrm>
          <a:prstGeom prst="rect">
            <a:avLst/>
          </a:prstGeom>
        </p:spPr>
      </p:pic>
      <p:sp>
        <p:nvSpPr>
          <p:cNvPr id="352" name="textbox 352"/>
          <p:cNvSpPr/>
          <p:nvPr/>
        </p:nvSpPr>
        <p:spPr>
          <a:xfrm>
            <a:off x="645772" y="503993"/>
            <a:ext cx="3603625" cy="933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86"/>
              </a:lnSpc>
              <a:tabLst/>
            </a:pP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900" b="1" kern="0" spc="-7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19</a:t>
            </a:r>
            <a:r>
              <a:rPr sz="900" b="1" kern="0" spc="2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900" b="1" kern="0" spc="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CT</a:t>
            </a:r>
            <a:r>
              <a:rPr sz="900" b="1" kern="0" spc="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LAUNCH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5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748"/>
              </a:lnSpc>
              <a:tabLst/>
            </a:pPr>
            <a:r>
              <a:rPr sz="3600" b="1" kern="0" spc="-5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Product</a:t>
            </a:r>
            <a:r>
              <a:rPr sz="3600" b="1" kern="0" spc="31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600" b="1" kern="0" spc="-5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Launch</a:t>
            </a:r>
            <a:endParaRPr sz="3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4" name="textbox 354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8"/>
              </a:lnSpc>
              <a:tabLst/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Mar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keting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Designer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19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6" name="textbox 356"/>
          <p:cNvSpPr/>
          <p:nvPr/>
        </p:nvSpPr>
        <p:spPr>
          <a:xfrm>
            <a:off x="637266" y="5354304"/>
            <a:ext cx="6468109" cy="187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5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200" kern="0" spc="6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新品海报统一产品角度、标题比例、</a:t>
            </a:r>
            <a:r>
              <a:rPr sz="1200" kern="0" spc="5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参数模块与底部信息，让系列产品在同一系统内表达。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rect 35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0" name="rect 360"/>
          <p:cNvSpPr/>
          <p:nvPr/>
        </p:nvSpPr>
        <p:spPr>
          <a:xfrm>
            <a:off x="0" y="0"/>
            <a:ext cx="12191701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62" name="picture 3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47700" y="1666875"/>
            <a:ext cx="2057400" cy="3429000"/>
          </a:xfrm>
          <a:prstGeom prst="rect">
            <a:avLst/>
          </a:prstGeom>
        </p:spPr>
      </p:pic>
      <p:pic>
        <p:nvPicPr>
          <p:cNvPr id="364" name="picture 3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067300" y="1666875"/>
            <a:ext cx="2057400" cy="3429000"/>
          </a:xfrm>
          <a:prstGeom prst="rect">
            <a:avLst/>
          </a:prstGeom>
        </p:spPr>
      </p:pic>
      <p:pic>
        <p:nvPicPr>
          <p:cNvPr id="366" name="picture 3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277100" y="1666875"/>
            <a:ext cx="2057400" cy="3429000"/>
          </a:xfrm>
          <a:prstGeom prst="rect">
            <a:avLst/>
          </a:prstGeom>
        </p:spPr>
      </p:pic>
      <p:pic>
        <p:nvPicPr>
          <p:cNvPr id="368" name="picture 36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486900" y="1666875"/>
            <a:ext cx="2057400" cy="3429000"/>
          </a:xfrm>
          <a:prstGeom prst="rect">
            <a:avLst/>
          </a:prstGeom>
        </p:spPr>
      </p:pic>
      <p:pic>
        <p:nvPicPr>
          <p:cNvPr id="370" name="picture 37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933700" y="2181225"/>
            <a:ext cx="1905000" cy="2390774"/>
          </a:xfrm>
          <a:prstGeom prst="rect">
            <a:avLst/>
          </a:prstGeom>
        </p:spPr>
      </p:pic>
      <p:sp>
        <p:nvSpPr>
          <p:cNvPr id="372" name="textbox 372"/>
          <p:cNvSpPr/>
          <p:nvPr/>
        </p:nvSpPr>
        <p:spPr>
          <a:xfrm>
            <a:off x="645772" y="503993"/>
            <a:ext cx="4197984" cy="933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86"/>
              </a:lnSpc>
              <a:tabLst/>
            </a:pP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900" b="1" kern="0" spc="-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900" b="1" kern="0" spc="-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sz="900" b="1" kern="0" spc="24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900" b="1" kern="0" spc="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FEATURE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CAMPAIG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5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275" algn="l" rtl="0" eaLnBrk="0">
              <a:lnSpc>
                <a:spcPts val="4748"/>
              </a:lnSpc>
              <a:tabLst/>
            </a:pPr>
            <a:r>
              <a:rPr sz="3600" b="1" kern="0" spc="-3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Feature Campaign</a:t>
            </a:r>
            <a:endParaRPr sz="3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4" name="textbox 374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8"/>
              </a:lnSpc>
              <a:tabLst/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Marketi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Designer</a:t>
            </a:r>
            <a:r>
              <a:rPr sz="900" kern="0" spc="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6" name="textbox 376"/>
          <p:cNvSpPr/>
          <p:nvPr/>
        </p:nvSpPr>
        <p:spPr>
          <a:xfrm>
            <a:off x="637914" y="5353980"/>
            <a:ext cx="5657850" cy="187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200" kern="0" spc="6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卖点海报围绕型号差异组织信息，同时保持品牌色、版面节奏与产品识别</a:t>
            </a:r>
            <a:r>
              <a:rPr sz="1200" kern="0" spc="5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一致。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rect 37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0" name="textbox 380"/>
          <p:cNvSpPr/>
          <p:nvPr/>
        </p:nvSpPr>
        <p:spPr>
          <a:xfrm>
            <a:off x="645772" y="503993"/>
            <a:ext cx="8339455" cy="933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86"/>
              </a:lnSpc>
              <a:tabLst/>
            </a:pP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900" b="1" kern="0" spc="-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900" b="1" kern="0" spc="-6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</a:t>
            </a:r>
            <a:r>
              <a:rPr sz="900" b="1" kern="0" spc="2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900" b="1" kern="0" spc="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EXHIBITION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&amp;</a:t>
            </a:r>
            <a:r>
              <a:rPr sz="900" b="1" kern="0" spc="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OCIAL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5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748"/>
              </a:lnSpc>
              <a:tabLst/>
            </a:pPr>
            <a:r>
              <a:rPr sz="3600" b="1" kern="0" spc="-3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Exhibition</a:t>
            </a:r>
            <a:r>
              <a:rPr sz="3600" b="1" kern="0" spc="32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600" b="1" kern="0" spc="-3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Promotion / Social</a:t>
            </a:r>
            <a:r>
              <a:rPr sz="3600" b="1" kern="0" spc="31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600" b="1" kern="0" spc="-3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Media</a:t>
            </a:r>
            <a:endParaRPr sz="3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82" name="picture 3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47700" y="1666875"/>
            <a:ext cx="2057400" cy="3429000"/>
          </a:xfrm>
          <a:prstGeom prst="rect">
            <a:avLst/>
          </a:prstGeom>
        </p:spPr>
      </p:pic>
      <p:pic>
        <p:nvPicPr>
          <p:cNvPr id="384" name="picture 3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57500" y="1666875"/>
            <a:ext cx="2057400" cy="3429000"/>
          </a:xfrm>
          <a:prstGeom prst="rect">
            <a:avLst/>
          </a:prstGeom>
        </p:spPr>
      </p:pic>
      <p:pic>
        <p:nvPicPr>
          <p:cNvPr id="386" name="picture 3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067300" y="1666875"/>
            <a:ext cx="2057400" cy="3429000"/>
          </a:xfrm>
          <a:prstGeom prst="rect">
            <a:avLst/>
          </a:prstGeom>
        </p:spPr>
      </p:pic>
      <p:pic>
        <p:nvPicPr>
          <p:cNvPr id="388" name="picture 38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277100" y="1666875"/>
            <a:ext cx="2057400" cy="3429000"/>
          </a:xfrm>
          <a:prstGeom prst="rect">
            <a:avLst/>
          </a:prstGeom>
        </p:spPr>
      </p:pic>
      <p:pic>
        <p:nvPicPr>
          <p:cNvPr id="390" name="picture 39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486900" y="1666875"/>
            <a:ext cx="2057400" cy="3429000"/>
          </a:xfrm>
          <a:prstGeom prst="rect">
            <a:avLst/>
          </a:prstGeom>
        </p:spPr>
      </p:pic>
      <p:sp>
        <p:nvSpPr>
          <p:cNvPr id="392" name="textbox 392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8"/>
              </a:lnSpc>
              <a:tabLst/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Marketi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Designer</a:t>
            </a:r>
            <a:r>
              <a:rPr sz="900" kern="0" spc="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21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4" name="textbox 394"/>
          <p:cNvSpPr/>
          <p:nvPr/>
        </p:nvSpPr>
        <p:spPr>
          <a:xfrm>
            <a:off x="637105" y="5354466"/>
            <a:ext cx="5803900" cy="187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200" kern="0" spc="5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社媒</a:t>
            </a:r>
            <a:r>
              <a:rPr sz="1200" kern="0" spc="14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KV</a:t>
            </a:r>
            <a:r>
              <a:rPr sz="1200" kern="0" spc="5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用节日节点和产品信息共同承担品牌曝光，兼</a:t>
            </a:r>
            <a:r>
              <a:rPr sz="1200" kern="0" spc="4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顾传播效率和视觉记忆点。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rect 39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98" name="picture 3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47700" y="1666875"/>
            <a:ext cx="2057400" cy="3429000"/>
          </a:xfrm>
          <a:prstGeom prst="rect">
            <a:avLst/>
          </a:prstGeom>
        </p:spPr>
      </p:pic>
      <p:pic>
        <p:nvPicPr>
          <p:cNvPr id="400" name="picture 4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57500" y="1666875"/>
            <a:ext cx="2057400" cy="3429000"/>
          </a:xfrm>
          <a:prstGeom prst="rect">
            <a:avLst/>
          </a:prstGeom>
        </p:spPr>
      </p:pic>
      <p:pic>
        <p:nvPicPr>
          <p:cNvPr id="402" name="picture 4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067300" y="1666875"/>
            <a:ext cx="2057400" cy="3429000"/>
          </a:xfrm>
          <a:prstGeom prst="rect">
            <a:avLst/>
          </a:prstGeom>
        </p:spPr>
      </p:pic>
      <p:pic>
        <p:nvPicPr>
          <p:cNvPr id="404" name="picture 40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277100" y="1666875"/>
            <a:ext cx="2057400" cy="3429000"/>
          </a:xfrm>
          <a:prstGeom prst="rect">
            <a:avLst/>
          </a:prstGeom>
        </p:spPr>
      </p:pic>
      <p:pic>
        <p:nvPicPr>
          <p:cNvPr id="406" name="picture 40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486900" y="1666875"/>
            <a:ext cx="2057400" cy="3429000"/>
          </a:xfrm>
          <a:prstGeom prst="rect">
            <a:avLst/>
          </a:prstGeom>
        </p:spPr>
      </p:pic>
      <p:sp>
        <p:nvSpPr>
          <p:cNvPr id="408" name="textbox 408"/>
          <p:cNvSpPr/>
          <p:nvPr/>
        </p:nvSpPr>
        <p:spPr>
          <a:xfrm>
            <a:off x="642772" y="503993"/>
            <a:ext cx="5800090" cy="902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ts val="1286"/>
              </a:lnSpc>
              <a:tabLst/>
            </a:pP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900" b="1" kern="0" spc="-10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900" b="1" kern="0" spc="-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900" b="1" kern="0" spc="24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900" b="1" kern="0" spc="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FESTIVAL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CAMPAIGN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7"/>
              </a:spcBef>
              <a:tabLst/>
            </a:pPr>
            <a:r>
              <a:rPr sz="3600" b="1" kern="0" spc="-3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TOKNAV 节日社媒营销视</a:t>
            </a:r>
            <a:r>
              <a:rPr sz="3600" b="1" kern="0" spc="-4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觉</a:t>
            </a:r>
            <a:endParaRPr sz="3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10" name="textbox 410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8"/>
              </a:lnSpc>
              <a:tabLst/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Marketi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Designer</a:t>
            </a:r>
            <a:r>
              <a:rPr sz="900" kern="0" spc="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22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12" name="textbox 412"/>
          <p:cNvSpPr/>
          <p:nvPr/>
        </p:nvSpPr>
        <p:spPr>
          <a:xfrm>
            <a:off x="636781" y="5354951"/>
            <a:ext cx="6468109" cy="1860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200" kern="0" spc="6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春节、元旦、圣诞等</a:t>
            </a:r>
            <a:r>
              <a:rPr sz="1200" kern="0" spc="5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节日内容以品牌蓝为主线，结合节日符号、产品矩阵和社媒信息模块。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rect 4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16" name="picture 4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1701" cy="6858000"/>
          </a:xfrm>
          <a:prstGeom prst="rect">
            <a:avLst/>
          </a:prstGeom>
        </p:spPr>
      </p:pic>
      <p:sp>
        <p:nvSpPr>
          <p:cNvPr id="418" name="textbox 418"/>
          <p:cNvSpPr/>
          <p:nvPr/>
        </p:nvSpPr>
        <p:spPr>
          <a:xfrm>
            <a:off x="637743" y="503993"/>
            <a:ext cx="6513830" cy="24015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ts val="1286"/>
              </a:lnSpc>
              <a:tabLst/>
            </a:pPr>
            <a:r>
              <a:rPr sz="900" b="1" kern="0" spc="12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PART</a:t>
            </a:r>
            <a:r>
              <a:rPr sz="900" b="1" kern="0" spc="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2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sz="900" b="1" kern="0" spc="-6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2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</a:t>
            </a:r>
            <a:r>
              <a:rPr sz="900" b="1" kern="0" spc="24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2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900" b="1" kern="0" spc="1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2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STY</a:t>
            </a:r>
            <a:r>
              <a:rPr sz="900" b="1" kern="0" spc="11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LE</a:t>
            </a:r>
            <a:r>
              <a:rPr sz="900" b="1" kern="0" spc="3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1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EXPLORATION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1909" algn="l" rtl="0" eaLnBrk="0">
              <a:lnSpc>
                <a:spcPts val="6726"/>
              </a:lnSpc>
              <a:spcBef>
                <a:spcPts val="1538"/>
              </a:spcBef>
              <a:tabLst/>
            </a:pPr>
            <a:r>
              <a:rPr sz="5100" b="1" kern="0" spc="-5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Style</a:t>
            </a:r>
            <a:r>
              <a:rPr sz="5100" b="1" kern="0" spc="43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5100" b="1" kern="0" spc="-5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Expl</a:t>
            </a:r>
            <a:r>
              <a:rPr sz="5100" b="1" kern="0" spc="-6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oration</a:t>
            </a:r>
            <a:endParaRPr sz="5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1800" kern="0" spc="-3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风格探索只占少量篇幅，用于</a:t>
            </a:r>
            <a:r>
              <a:rPr sz="1800" kern="0" spc="-4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展示审美跨度与 AI 创意控制能力。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0" name="textbox 420"/>
          <p:cNvSpPr/>
          <p:nvPr/>
        </p:nvSpPr>
        <p:spPr>
          <a:xfrm>
            <a:off x="647134" y="6383642"/>
            <a:ext cx="10909300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8"/>
              </a:lnSpc>
              <a:tabLst/>
            </a:pPr>
            <a:r>
              <a:rPr sz="900" kern="0" spc="11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P23</a:t>
            </a:r>
            <a:r>
              <a:rPr sz="900" kern="0" spc="1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</a:t>
            </a:r>
            <a:r>
              <a:rPr sz="900" kern="0" spc="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Creative</a:t>
            </a:r>
            <a:r>
              <a:rPr sz="900" kern="0" spc="1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Range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rect 4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24" name="picture 4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47699" y="1647825"/>
            <a:ext cx="2581275" cy="2667000"/>
          </a:xfrm>
          <a:prstGeom prst="rect">
            <a:avLst/>
          </a:prstGeom>
        </p:spPr>
      </p:pic>
      <p:pic>
        <p:nvPicPr>
          <p:cNvPr id="426" name="picture 4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419475" y="1647825"/>
            <a:ext cx="2581275" cy="2667000"/>
          </a:xfrm>
          <a:prstGeom prst="rect">
            <a:avLst/>
          </a:prstGeom>
        </p:spPr>
      </p:pic>
      <p:pic>
        <p:nvPicPr>
          <p:cNvPr id="428" name="picture 4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191250" y="1647825"/>
            <a:ext cx="2581275" cy="2667000"/>
          </a:xfrm>
          <a:prstGeom prst="rect">
            <a:avLst/>
          </a:prstGeom>
        </p:spPr>
      </p:pic>
      <p:pic>
        <p:nvPicPr>
          <p:cNvPr id="430" name="picture 4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963025" y="1647825"/>
            <a:ext cx="2581275" cy="2667000"/>
          </a:xfrm>
          <a:prstGeom prst="rect">
            <a:avLst/>
          </a:prstGeom>
        </p:spPr>
      </p:pic>
      <p:pic>
        <p:nvPicPr>
          <p:cNvPr id="432" name="picture 4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47699" y="4505325"/>
            <a:ext cx="2581275" cy="2352674"/>
          </a:xfrm>
          <a:prstGeom prst="rect">
            <a:avLst/>
          </a:prstGeom>
        </p:spPr>
      </p:pic>
      <p:sp>
        <p:nvSpPr>
          <p:cNvPr id="434" name="textbox 434"/>
          <p:cNvSpPr/>
          <p:nvPr/>
        </p:nvSpPr>
        <p:spPr>
          <a:xfrm>
            <a:off x="645772" y="503993"/>
            <a:ext cx="4973320" cy="933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86"/>
              </a:lnSpc>
              <a:tabLst/>
            </a:pP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900" b="1" kern="0" spc="-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900" b="1" kern="0" spc="-1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</a:t>
            </a:r>
            <a:r>
              <a:rPr sz="900" b="1" kern="0" spc="2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900" b="1" kern="0" spc="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CITY</a:t>
            </a:r>
            <a:r>
              <a:rPr sz="900" b="1" kern="0" spc="4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POP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&amp;</a:t>
            </a:r>
            <a:r>
              <a:rPr sz="900" b="1" kern="0" spc="26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VAPO</a:t>
            </a:r>
            <a:r>
              <a:rPr sz="900" b="1" kern="0" spc="9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</a:t>
            </a:r>
            <a:r>
              <a:rPr sz="900" b="1" kern="0" spc="-15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9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WAVE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5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ts val="4748"/>
              </a:lnSpc>
              <a:tabLst/>
            </a:pPr>
            <a:r>
              <a:rPr sz="3600" b="1" kern="0" spc="-4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City</a:t>
            </a:r>
            <a:r>
              <a:rPr sz="3600" b="1" kern="0" spc="30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600" b="1" kern="0" spc="-4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Pop / Vaporwave</a:t>
            </a:r>
            <a:endParaRPr sz="3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36" name="textbox 436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8"/>
              </a:lnSpc>
              <a:tabLst/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Marketi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Designer</a:t>
            </a:r>
            <a:r>
              <a:rPr sz="900" kern="0" spc="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24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rect 4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40" name="picture 4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47699" y="1647825"/>
            <a:ext cx="2581275" cy="2667000"/>
          </a:xfrm>
          <a:prstGeom prst="rect">
            <a:avLst/>
          </a:prstGeom>
        </p:spPr>
      </p:pic>
      <p:pic>
        <p:nvPicPr>
          <p:cNvPr id="442" name="picture 4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419475" y="1647825"/>
            <a:ext cx="2581275" cy="2667000"/>
          </a:xfrm>
          <a:prstGeom prst="rect">
            <a:avLst/>
          </a:prstGeom>
        </p:spPr>
      </p:pic>
      <p:pic>
        <p:nvPicPr>
          <p:cNvPr id="444" name="picture 4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191250" y="1647825"/>
            <a:ext cx="2581275" cy="2667000"/>
          </a:xfrm>
          <a:prstGeom prst="rect">
            <a:avLst/>
          </a:prstGeom>
        </p:spPr>
      </p:pic>
      <p:pic>
        <p:nvPicPr>
          <p:cNvPr id="446" name="picture 4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963025" y="1647825"/>
            <a:ext cx="2581275" cy="2667000"/>
          </a:xfrm>
          <a:prstGeom prst="rect">
            <a:avLst/>
          </a:prstGeom>
        </p:spPr>
      </p:pic>
      <p:pic>
        <p:nvPicPr>
          <p:cNvPr id="448" name="picture 4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47699" y="4505325"/>
            <a:ext cx="2581275" cy="2352674"/>
          </a:xfrm>
          <a:prstGeom prst="rect">
            <a:avLst/>
          </a:prstGeom>
        </p:spPr>
      </p:pic>
      <p:sp>
        <p:nvSpPr>
          <p:cNvPr id="450" name="textbox 450"/>
          <p:cNvSpPr/>
          <p:nvPr/>
        </p:nvSpPr>
        <p:spPr>
          <a:xfrm>
            <a:off x="640943" y="503993"/>
            <a:ext cx="4164965" cy="933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ts val="1286"/>
              </a:lnSpc>
              <a:tabLst/>
            </a:pP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900" b="1" kern="0" spc="-6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900" b="1" kern="0" spc="-7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</a:t>
            </a:r>
            <a:r>
              <a:rPr sz="900" b="1" kern="0" spc="2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900" b="1" kern="0" spc="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ILLUSTRATION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&amp;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COLOR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STUDY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5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748"/>
              </a:lnSpc>
              <a:tabLst/>
            </a:pPr>
            <a:r>
              <a:rPr sz="3600" b="1" kern="0" spc="-1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插画视觉 / 色彩分析</a:t>
            </a:r>
            <a:endParaRPr sz="3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2" name="textbox 452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8"/>
              </a:lnSpc>
              <a:tabLst/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Marketi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Designer</a:t>
            </a:r>
            <a:r>
              <a:rPr sz="900" kern="0" spc="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25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rect 4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56" name="picture 4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47700" y="1666875"/>
            <a:ext cx="2057400" cy="3429000"/>
          </a:xfrm>
          <a:prstGeom prst="rect">
            <a:avLst/>
          </a:prstGeom>
        </p:spPr>
      </p:pic>
      <p:pic>
        <p:nvPicPr>
          <p:cNvPr id="458" name="picture 4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067300" y="1666875"/>
            <a:ext cx="2057400" cy="3429000"/>
          </a:xfrm>
          <a:prstGeom prst="rect">
            <a:avLst/>
          </a:prstGeom>
        </p:spPr>
      </p:pic>
      <p:pic>
        <p:nvPicPr>
          <p:cNvPr id="460" name="picture 4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277100" y="1666875"/>
            <a:ext cx="2057400" cy="3429000"/>
          </a:xfrm>
          <a:prstGeom prst="rect">
            <a:avLst/>
          </a:prstGeom>
        </p:spPr>
      </p:pic>
      <p:pic>
        <p:nvPicPr>
          <p:cNvPr id="462" name="picture 4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486900" y="1666875"/>
            <a:ext cx="2057400" cy="3429000"/>
          </a:xfrm>
          <a:prstGeom prst="rect">
            <a:avLst/>
          </a:prstGeom>
        </p:spPr>
      </p:pic>
      <p:sp>
        <p:nvSpPr>
          <p:cNvPr id="464" name="textbox 464"/>
          <p:cNvSpPr/>
          <p:nvPr/>
        </p:nvSpPr>
        <p:spPr>
          <a:xfrm>
            <a:off x="637743" y="503993"/>
            <a:ext cx="5300979" cy="933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ts val="1286"/>
              </a:lnSpc>
              <a:tabLst/>
            </a:pP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900" b="1" kern="0" spc="-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900" b="1" kern="0" spc="-9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6</a:t>
            </a:r>
            <a:r>
              <a:rPr sz="900" b="1" kern="0" spc="2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900" b="1" kern="0" spc="25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CREATIV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</a:t>
            </a:r>
            <a:r>
              <a:rPr sz="900" b="1" kern="0" spc="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EXPERIMENT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5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748"/>
              </a:lnSpc>
              <a:tabLst/>
            </a:pPr>
            <a:r>
              <a:rPr sz="3600" b="1" kern="0" spc="-2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 Creative</a:t>
            </a:r>
            <a:r>
              <a:rPr sz="3600" b="1" kern="0" spc="31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600" b="1" kern="0" spc="-2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Experim</a:t>
            </a:r>
            <a:r>
              <a:rPr sz="3600" b="1" kern="0" spc="-3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ent</a:t>
            </a:r>
            <a:endParaRPr sz="3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66" name="picture 46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933700" y="2857500"/>
            <a:ext cx="1905000" cy="1038225"/>
          </a:xfrm>
          <a:prstGeom prst="rect">
            <a:avLst/>
          </a:prstGeom>
        </p:spPr>
      </p:pic>
      <p:sp>
        <p:nvSpPr>
          <p:cNvPr id="468" name="textbox 468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8"/>
              </a:lnSpc>
              <a:tabLst/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Marketi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Designer</a:t>
            </a:r>
            <a:r>
              <a:rPr sz="900" kern="0" spc="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26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70" name="textbox 470"/>
          <p:cNvSpPr/>
          <p:nvPr/>
        </p:nvSpPr>
        <p:spPr>
          <a:xfrm>
            <a:off x="636781" y="5355275"/>
            <a:ext cx="6337300" cy="1860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2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200" kern="0" spc="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00" kern="0" spc="10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图像生成用于快速探索节日氛围、产品场景和海外</a:t>
            </a:r>
            <a:r>
              <a:rPr sz="1200" kern="0" spc="15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KV</a:t>
            </a:r>
            <a:r>
              <a:rPr sz="1200" kern="0" spc="5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方向，再进</a:t>
            </a:r>
            <a:r>
              <a:rPr sz="1200" kern="0" spc="4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入人工筛选与精修。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rect 47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74" name="picture 4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47700" y="1666875"/>
            <a:ext cx="2057400" cy="3429000"/>
          </a:xfrm>
          <a:prstGeom prst="rect">
            <a:avLst/>
          </a:prstGeom>
        </p:spPr>
      </p:pic>
      <p:pic>
        <p:nvPicPr>
          <p:cNvPr id="476" name="picture 4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57500" y="1666875"/>
            <a:ext cx="2057400" cy="3429000"/>
          </a:xfrm>
          <a:prstGeom prst="rect">
            <a:avLst/>
          </a:prstGeom>
        </p:spPr>
      </p:pic>
      <p:pic>
        <p:nvPicPr>
          <p:cNvPr id="478" name="picture 4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067300" y="1666875"/>
            <a:ext cx="2057400" cy="3429000"/>
          </a:xfrm>
          <a:prstGeom prst="rect">
            <a:avLst/>
          </a:prstGeom>
        </p:spPr>
      </p:pic>
      <p:pic>
        <p:nvPicPr>
          <p:cNvPr id="480" name="picture 48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277100" y="1666875"/>
            <a:ext cx="2057400" cy="3429000"/>
          </a:xfrm>
          <a:prstGeom prst="rect">
            <a:avLst/>
          </a:prstGeom>
        </p:spPr>
      </p:pic>
      <p:pic>
        <p:nvPicPr>
          <p:cNvPr id="482" name="picture 48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486900" y="1666875"/>
            <a:ext cx="2057400" cy="3429000"/>
          </a:xfrm>
          <a:prstGeom prst="rect">
            <a:avLst/>
          </a:prstGeom>
        </p:spPr>
      </p:pic>
      <p:sp>
        <p:nvSpPr>
          <p:cNvPr id="484" name="textbox 484"/>
          <p:cNvSpPr/>
          <p:nvPr/>
        </p:nvSpPr>
        <p:spPr>
          <a:xfrm>
            <a:off x="644601" y="503993"/>
            <a:ext cx="3673475" cy="9010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ts val="1286"/>
              </a:lnSpc>
              <a:tabLst/>
            </a:pP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900" b="1" kern="0" spc="-6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900" b="1" kern="0" spc="-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7</a:t>
            </a:r>
            <a:r>
              <a:rPr sz="900" b="1" kern="0" spc="2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900" b="1" kern="0" spc="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MULTILINGUAL</a:t>
            </a:r>
            <a:r>
              <a:rPr sz="900" b="1" kern="0" spc="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LOCALIZATION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600" b="1" kern="0" spc="-1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多语言本地化视觉</a:t>
            </a:r>
            <a:endParaRPr sz="3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6" name="textbox 486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8"/>
              </a:lnSpc>
              <a:tabLst/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Marketi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Designer</a:t>
            </a:r>
            <a:r>
              <a:rPr sz="900" kern="0" spc="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27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8" name="textbox 488"/>
          <p:cNvSpPr/>
          <p:nvPr/>
        </p:nvSpPr>
        <p:spPr>
          <a:xfrm>
            <a:off x="648439" y="5354304"/>
            <a:ext cx="6942455" cy="187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2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200" kern="0" spc="50" dirty="0">
                <a:solidFill>
                  <a:srgbClr val="46515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同一视觉框架下适配英语、法语、俄语、阿拉伯语等市场，处理文本长度、阅读方向和版面重心。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rect 49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92" name="picture 4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47700" y="1647825"/>
            <a:ext cx="2076450" cy="1809750"/>
          </a:xfrm>
          <a:prstGeom prst="rect">
            <a:avLst/>
          </a:prstGeom>
        </p:spPr>
      </p:pic>
      <p:pic>
        <p:nvPicPr>
          <p:cNvPr id="494" name="picture 4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47700" y="3590925"/>
            <a:ext cx="2076450" cy="1809750"/>
          </a:xfrm>
          <a:prstGeom prst="rect">
            <a:avLst/>
          </a:prstGeom>
        </p:spPr>
      </p:pic>
      <p:pic>
        <p:nvPicPr>
          <p:cNvPr id="496" name="picture 49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057775" y="1647825"/>
            <a:ext cx="2076450" cy="1809750"/>
          </a:xfrm>
          <a:prstGeom prst="rect">
            <a:avLst/>
          </a:prstGeom>
        </p:spPr>
      </p:pic>
      <p:pic>
        <p:nvPicPr>
          <p:cNvPr id="498" name="picture 49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057775" y="3590925"/>
            <a:ext cx="2076450" cy="1809750"/>
          </a:xfrm>
          <a:prstGeom prst="rect">
            <a:avLst/>
          </a:prstGeom>
        </p:spPr>
      </p:pic>
      <p:pic>
        <p:nvPicPr>
          <p:cNvPr id="500" name="picture 50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467850" y="1647825"/>
            <a:ext cx="2076450" cy="1809750"/>
          </a:xfrm>
          <a:prstGeom prst="rect">
            <a:avLst/>
          </a:prstGeom>
        </p:spPr>
      </p:pic>
      <p:pic>
        <p:nvPicPr>
          <p:cNvPr id="502" name="picture 50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467850" y="3590925"/>
            <a:ext cx="2076450" cy="1809750"/>
          </a:xfrm>
          <a:prstGeom prst="rect">
            <a:avLst/>
          </a:prstGeom>
        </p:spPr>
      </p:pic>
      <p:pic>
        <p:nvPicPr>
          <p:cNvPr id="504" name="picture 50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857500" y="1647825"/>
            <a:ext cx="2066925" cy="1809750"/>
          </a:xfrm>
          <a:prstGeom prst="rect">
            <a:avLst/>
          </a:prstGeom>
        </p:spPr>
      </p:pic>
      <p:pic>
        <p:nvPicPr>
          <p:cNvPr id="506" name="picture 50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857500" y="3590925"/>
            <a:ext cx="2066925" cy="1809750"/>
          </a:xfrm>
          <a:prstGeom prst="rect">
            <a:avLst/>
          </a:prstGeom>
        </p:spPr>
      </p:pic>
      <p:pic>
        <p:nvPicPr>
          <p:cNvPr id="508" name="picture 50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7267575" y="1647825"/>
            <a:ext cx="2066925" cy="1809750"/>
          </a:xfrm>
          <a:prstGeom prst="rect">
            <a:avLst/>
          </a:prstGeom>
        </p:spPr>
      </p:pic>
      <p:pic>
        <p:nvPicPr>
          <p:cNvPr id="510" name="picture 5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7267575" y="3590925"/>
            <a:ext cx="2066925" cy="1809750"/>
          </a:xfrm>
          <a:prstGeom prst="rect">
            <a:avLst/>
          </a:prstGeom>
        </p:spPr>
      </p:pic>
      <p:sp>
        <p:nvSpPr>
          <p:cNvPr id="512" name="textbox 512"/>
          <p:cNvSpPr/>
          <p:nvPr/>
        </p:nvSpPr>
        <p:spPr>
          <a:xfrm>
            <a:off x="642315" y="503993"/>
            <a:ext cx="2442845" cy="9010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86"/>
              </a:lnSpc>
              <a:tabLst/>
            </a:pP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900" b="1" kern="0" spc="-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900" b="1" kern="0" spc="-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8</a:t>
            </a:r>
            <a:r>
              <a:rPr sz="900" b="1" kern="0" spc="2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SELECTED</a:t>
            </a:r>
            <a:r>
              <a:rPr sz="900" b="1" kern="0" spc="27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WORKS</a:t>
            </a:r>
            <a:r>
              <a:rPr sz="900" b="1" kern="0" spc="3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MATRIX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5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600" b="1" kern="0" spc="-20" dirty="0">
                <a:solidFill>
                  <a:srgbClr val="11182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作品矩阵</a:t>
            </a:r>
            <a:endParaRPr sz="3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4" name="textbox 514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8"/>
              </a:lnSpc>
              <a:tabLst/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Marketi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Designer</a:t>
            </a:r>
            <a:r>
              <a:rPr sz="900" kern="0" spc="1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28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rect 5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18" name="picture 5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1701" cy="6858000"/>
          </a:xfrm>
          <a:prstGeom prst="rect">
            <a:avLst/>
          </a:prstGeom>
        </p:spPr>
      </p:pic>
      <p:sp>
        <p:nvSpPr>
          <p:cNvPr id="520" name="textbox 520"/>
          <p:cNvSpPr/>
          <p:nvPr/>
        </p:nvSpPr>
        <p:spPr>
          <a:xfrm>
            <a:off x="645772" y="503993"/>
            <a:ext cx="6996430" cy="24155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86"/>
              </a:lnSpc>
              <a:tabLst/>
            </a:pPr>
            <a:r>
              <a:rPr sz="900" b="1" kern="0" spc="10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PART</a:t>
            </a:r>
            <a:r>
              <a:rPr sz="900" b="1" kern="0" spc="1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0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sz="900" b="1" kern="0" spc="-10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0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6</a:t>
            </a:r>
            <a:r>
              <a:rPr sz="900" b="1" kern="0" spc="23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10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900" b="1" kern="0" spc="1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10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CONT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ACT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1532"/>
              </a:spcBef>
              <a:tabLst/>
            </a:pPr>
            <a:r>
              <a:rPr sz="5100" b="1" kern="0" spc="-5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Thank You</a:t>
            </a:r>
            <a:endParaRPr sz="5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400" dirty="0">
              <a:latin typeface="Arial"/>
              <a:ea typeface="Arial"/>
              <a:cs typeface="Arial"/>
            </a:endParaRPr>
          </a:p>
          <a:p>
            <a:pPr marL="24129" algn="l" rtl="0" eaLnBrk="0">
              <a:lnSpc>
                <a:spcPts val="2323"/>
              </a:lnSpc>
              <a:spcBef>
                <a:spcPts val="3"/>
              </a:spcBef>
              <a:tabLst/>
            </a:pPr>
            <a:r>
              <a:rPr sz="1800" kern="0" spc="-1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Industrial V</a:t>
            </a:r>
            <a:r>
              <a:rPr sz="1800" kern="0" spc="-2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isual</a:t>
            </a:r>
            <a:r>
              <a:rPr sz="1800" kern="0" spc="16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-2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 /</a:t>
            </a:r>
            <a:r>
              <a:rPr sz="1800" kern="0" spc="16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-2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Marketing</a:t>
            </a:r>
            <a:r>
              <a:rPr sz="1800" kern="0" spc="17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-2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 / AI Creative</a:t>
            </a:r>
            <a:r>
              <a:rPr sz="1800" kern="0" spc="17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-2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2" name="textbox 522"/>
          <p:cNvSpPr/>
          <p:nvPr/>
        </p:nvSpPr>
        <p:spPr>
          <a:xfrm>
            <a:off x="647134" y="6383642"/>
            <a:ext cx="10909300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8"/>
              </a:lnSpc>
              <a:tabLst/>
            </a:pP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Email:</a:t>
            </a:r>
            <a:r>
              <a:rPr sz="900" kern="0" spc="10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B9C8D2"/>
                      <wpsdc:folHlinkClr xmlns:wpsdc="http://www.wps.cn/officeDocument/2017/drawingmlCustomData" val="B9C8D2"/>
                      <wpsdc:hlinkUnderline xmlns:wpsdc="http://www.wps.cn/officeDocument/2017/drawingmlCustomData" val="0"/>
                    </a:ext>
                  </a:extLst>
                </a:hlinkClick>
              </a:rPr>
              <a:t>name@example.com</a:t>
            </a:r>
            <a:r>
              <a:rPr sz="900" kern="0" spc="1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</a:t>
            </a:r>
            <a:r>
              <a:rPr sz="900" kern="0" spc="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Behance /</a:t>
            </a:r>
            <a:r>
              <a:rPr sz="900" kern="0" spc="11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Portf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olio</a:t>
            </a:r>
            <a:r>
              <a:rPr sz="900" kern="0" spc="1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Link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4" name="textbox 524"/>
          <p:cNvSpPr/>
          <p:nvPr/>
        </p:nvSpPr>
        <p:spPr>
          <a:xfrm>
            <a:off x="646175" y="3179064"/>
            <a:ext cx="1859279" cy="384175"/>
          </a:xfrm>
          <a:prstGeom prst="rect">
            <a:avLst/>
          </a:prstGeom>
          <a:solidFill>
            <a:srgbClr val="12C8F4">
              <a:alpha val="14901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6050" algn="l" rtl="0" eaLnBrk="0">
              <a:lnSpc>
                <a:spcPts val="1384"/>
              </a:lnSpc>
              <a:spcBef>
                <a:spcPts val="5"/>
              </a:spcBef>
              <a:tabLst/>
            </a:pPr>
            <a:r>
              <a:rPr sz="1000" b="1" kern="0" spc="20" dirty="0">
                <a:solidFill>
                  <a:srgbClr val="DFF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Industria</a:t>
            </a:r>
            <a:r>
              <a:rPr sz="1000" b="1" kern="0" spc="10" dirty="0">
                <a:solidFill>
                  <a:srgbClr val="DFF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 Visual</a:t>
            </a:r>
            <a:r>
              <a:rPr sz="1000" b="1" kern="0" spc="100" dirty="0">
                <a:solidFill>
                  <a:srgbClr val="DFF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10" dirty="0">
                <a:solidFill>
                  <a:srgbClr val="DFF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14" name="group 14"/>
          <p:cNvGrpSpPr/>
          <p:nvPr/>
        </p:nvGrpSpPr>
        <p:grpSpPr>
          <a:xfrm rot="21600000">
            <a:off x="4151376" y="3179064"/>
            <a:ext cx="1508759" cy="384047"/>
            <a:chOff x="0" y="0"/>
            <a:chExt cx="1508759" cy="384047"/>
          </a:xfrm>
        </p:grpSpPr>
        <p:pic>
          <p:nvPicPr>
            <p:cNvPr id="526" name="picture 52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508759" cy="384047"/>
            </a:xfrm>
            <a:prstGeom prst="rect">
              <a:avLst/>
            </a:prstGeom>
          </p:spPr>
        </p:pic>
        <p:sp>
          <p:nvSpPr>
            <p:cNvPr id="528" name="textbox 528"/>
            <p:cNvSpPr/>
            <p:nvPr/>
          </p:nvSpPr>
          <p:spPr>
            <a:xfrm>
              <a:off x="-12700" y="-12700"/>
              <a:ext cx="1534160" cy="4095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151764" algn="l" rtl="0" eaLnBrk="0">
                <a:lnSpc>
                  <a:spcPts val="1384"/>
                </a:lnSpc>
                <a:tabLst/>
              </a:pPr>
              <a:r>
                <a:rPr sz="1000" b="1" kern="0" spc="20" dirty="0">
                  <a:solidFill>
                    <a:srgbClr val="DFF8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AI Creative</a:t>
              </a:r>
              <a:r>
                <a:rPr sz="1000" b="1" kern="0" spc="100" dirty="0">
                  <a:solidFill>
                    <a:srgbClr val="DFF8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000" b="1" kern="0" spc="10" dirty="0">
                  <a:solidFill>
                    <a:srgbClr val="DFF8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Design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530" name="textbox 530"/>
          <p:cNvSpPr/>
          <p:nvPr/>
        </p:nvSpPr>
        <p:spPr>
          <a:xfrm>
            <a:off x="2599944" y="3179064"/>
            <a:ext cx="1460500" cy="384175"/>
          </a:xfrm>
          <a:prstGeom prst="rect">
            <a:avLst/>
          </a:prstGeom>
          <a:solidFill>
            <a:srgbClr val="12C8F4">
              <a:alpha val="18431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0970" algn="l" rtl="0" eaLnBrk="0">
              <a:lnSpc>
                <a:spcPts val="1384"/>
              </a:lnSpc>
              <a:spcBef>
                <a:spcPts val="5"/>
              </a:spcBef>
              <a:tabLst/>
            </a:pPr>
            <a:r>
              <a:rPr sz="1000" b="1" kern="0" spc="10" dirty="0">
                <a:solidFill>
                  <a:srgbClr val="DFF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Marketing</a:t>
            </a:r>
            <a:r>
              <a:rPr sz="1000" b="1" kern="0" spc="130" dirty="0">
                <a:solidFill>
                  <a:srgbClr val="DFF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10" dirty="0">
                <a:solidFill>
                  <a:srgbClr val="DFF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rect 5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34" name="picture 5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1701" cy="6858000"/>
          </a:xfrm>
          <a:prstGeom prst="rect">
            <a:avLst/>
          </a:prstGeom>
        </p:spPr>
      </p:pic>
      <p:sp>
        <p:nvSpPr>
          <p:cNvPr id="536" name="textbox 536"/>
          <p:cNvSpPr/>
          <p:nvPr/>
        </p:nvSpPr>
        <p:spPr>
          <a:xfrm>
            <a:off x="638238" y="503993"/>
            <a:ext cx="7059930" cy="37249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ts val="1286"/>
              </a:lnSpc>
              <a:tabLst/>
            </a:pP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PORTFOLIO</a:t>
            </a:r>
            <a:r>
              <a:rPr sz="900" b="1" kern="0" spc="6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900" b="1" kern="0" spc="-12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sz="900" b="1" kern="0" spc="-10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900" b="1" kern="0" spc="-10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6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spcBef>
                <a:spcPts val="1541"/>
              </a:spcBef>
              <a:tabLst/>
            </a:pPr>
            <a:r>
              <a:rPr sz="5100" b="1" kern="0" spc="-3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Visual</a:t>
            </a:r>
            <a:r>
              <a:rPr sz="5100" b="1" kern="0" spc="43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5100" b="1" kern="0" spc="-3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Designer for</a:t>
            </a:r>
            <a:endParaRPr sz="5100" dirty="0">
              <a:latin typeface="Microsoft YaHei"/>
              <a:ea typeface="Microsoft YaHei"/>
              <a:cs typeface="Microsoft YaHei"/>
            </a:endParaRPr>
          </a:p>
          <a:p>
            <a:pPr marL="65405" algn="l" rtl="0" eaLnBrk="0">
              <a:lnSpc>
                <a:spcPct val="91000"/>
              </a:lnSpc>
              <a:spcBef>
                <a:spcPts val="64"/>
              </a:spcBef>
              <a:tabLst/>
            </a:pPr>
            <a:r>
              <a:rPr sz="5100" b="1" kern="0" spc="-5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Industrial Technology</a:t>
            </a:r>
            <a:r>
              <a:rPr sz="5100" b="1" kern="0" spc="7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5100" b="1" kern="0" spc="-70" dirty="0">
                <a:solidFill>
                  <a:srgbClr val="F7FB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Products</a:t>
            </a:r>
            <a:endParaRPr sz="5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7000"/>
              </a:lnSpc>
              <a:tabLst/>
            </a:pPr>
            <a:r>
              <a:rPr sz="1800" kern="0" spc="-10" dirty="0">
                <a:solidFill>
                  <a:srgbClr val="DCE8E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工业科技产品视觉设计师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8" name="textbox 538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8"/>
              </a:lnSpc>
              <a:tabLst/>
            </a:pP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Industrial</a:t>
            </a:r>
            <a:r>
              <a:rPr sz="900" kern="0" spc="11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Product Visual · Overseas</a:t>
            </a:r>
            <a:r>
              <a:rPr sz="900" kern="0" spc="1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Marketing ·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AI</a:t>
            </a:r>
            <a:r>
              <a:rPr sz="900" kern="0" spc="7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Creative</a:t>
            </a:r>
            <a:r>
              <a:rPr sz="900" kern="0" spc="1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</a:t>
            </a:r>
            <a:r>
              <a:rPr sz="900" kern="0" spc="1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</a:t>
            </a:r>
            <a:r>
              <a:rPr sz="900" kern="0" spc="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30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0" name="textbox 540"/>
          <p:cNvSpPr/>
          <p:nvPr/>
        </p:nvSpPr>
        <p:spPr>
          <a:xfrm>
            <a:off x="646175" y="4495800"/>
            <a:ext cx="1859279" cy="393700"/>
          </a:xfrm>
          <a:prstGeom prst="rect">
            <a:avLst/>
          </a:prstGeom>
          <a:solidFill>
            <a:srgbClr val="12C8F4">
              <a:alpha val="19215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6050" algn="l" rtl="0" eaLnBrk="0">
              <a:lnSpc>
                <a:spcPts val="1384"/>
              </a:lnSpc>
              <a:spcBef>
                <a:spcPts val="1"/>
              </a:spcBef>
              <a:tabLst/>
            </a:pPr>
            <a:r>
              <a:rPr sz="1000" b="1" kern="0" spc="20" dirty="0">
                <a:solidFill>
                  <a:srgbClr val="DFF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Industria</a:t>
            </a:r>
            <a:r>
              <a:rPr sz="1000" b="1" kern="0" spc="10" dirty="0">
                <a:solidFill>
                  <a:srgbClr val="DFF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 Visual</a:t>
            </a:r>
            <a:r>
              <a:rPr sz="1000" b="1" kern="0" spc="100" dirty="0">
                <a:solidFill>
                  <a:srgbClr val="DFF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10" dirty="0">
                <a:solidFill>
                  <a:srgbClr val="DFF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2" name="textbox 542"/>
          <p:cNvSpPr/>
          <p:nvPr/>
        </p:nvSpPr>
        <p:spPr>
          <a:xfrm>
            <a:off x="4151376" y="4495800"/>
            <a:ext cx="1508760" cy="393700"/>
          </a:xfrm>
          <a:prstGeom prst="rect">
            <a:avLst/>
          </a:prstGeom>
          <a:solidFill>
            <a:srgbClr val="12C8F4">
              <a:alpha val="13333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39064" algn="l" rtl="0" eaLnBrk="0">
              <a:lnSpc>
                <a:spcPts val="1384"/>
              </a:lnSpc>
              <a:spcBef>
                <a:spcPts val="1"/>
              </a:spcBef>
              <a:tabLst/>
            </a:pPr>
            <a:r>
              <a:rPr sz="1000" b="1" kern="0" spc="20" dirty="0">
                <a:solidFill>
                  <a:srgbClr val="DFF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 Creative</a:t>
            </a:r>
            <a:r>
              <a:rPr sz="1000" b="1" kern="0" spc="100" dirty="0">
                <a:solidFill>
                  <a:srgbClr val="DFF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10" dirty="0">
                <a:solidFill>
                  <a:srgbClr val="DFF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4" name="textbox 544"/>
          <p:cNvSpPr/>
          <p:nvPr/>
        </p:nvSpPr>
        <p:spPr>
          <a:xfrm>
            <a:off x="2599944" y="4495800"/>
            <a:ext cx="1460500" cy="393700"/>
          </a:xfrm>
          <a:prstGeom prst="rect">
            <a:avLst/>
          </a:prstGeom>
          <a:solidFill>
            <a:srgbClr val="12C8F4">
              <a:alpha val="12549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0970" algn="l" rtl="0" eaLnBrk="0">
              <a:lnSpc>
                <a:spcPts val="1384"/>
              </a:lnSpc>
              <a:spcBef>
                <a:spcPts val="1"/>
              </a:spcBef>
              <a:tabLst/>
            </a:pPr>
            <a:r>
              <a:rPr sz="1000" b="1" kern="0" spc="10" dirty="0">
                <a:solidFill>
                  <a:srgbClr val="DFF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Marketing</a:t>
            </a:r>
            <a:r>
              <a:rPr sz="1000" b="1" kern="0" spc="130" dirty="0">
                <a:solidFill>
                  <a:srgbClr val="DFF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10" dirty="0">
                <a:solidFill>
                  <a:srgbClr val="DFF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Design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Mozilla/5.0 (Windows NT 10.0; Win64; x64) AppleWebKit/537.36 (KHTML, like Gecko) HeadlessChrome/148.0.0.0 Safari/537.36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Product Visual Portfolio</dc:title>
  <dcterms:created xsi:type="dcterms:W3CDTF">2026-06-09T08:59:23Z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2026-06-09T17:05:08</vt:filetime>
  </property>
</Properties>
</file>