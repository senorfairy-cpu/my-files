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jpe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jpe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jpeg"/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8.jpe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jpe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1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1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1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1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1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47.jpeg"/><Relationship Id="rId4" Type="http://schemas.openxmlformats.org/officeDocument/2006/relationships/image" Target="../media/image46.jpeg"/><Relationship Id="rId3" Type="http://schemas.openxmlformats.org/officeDocument/2006/relationships/image" Target="../media/image45.jpe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1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68.jpeg"/><Relationship Id="rId4" Type="http://schemas.openxmlformats.org/officeDocument/2006/relationships/image" Target="../media/image67.jpeg"/><Relationship Id="rId3" Type="http://schemas.openxmlformats.org/officeDocument/2006/relationships/image" Target="../media/image66.jpeg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7.png"/><Relationship Id="rId8" Type="http://schemas.openxmlformats.org/officeDocument/2006/relationships/image" Target="../media/image76.png"/><Relationship Id="rId7" Type="http://schemas.openxmlformats.org/officeDocument/2006/relationships/image" Target="../media/image75.png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0.jpeg"/><Relationship Id="rId10" Type="http://schemas.openxmlformats.org/officeDocument/2006/relationships/image" Target="../media/image78.png"/><Relationship Id="rId1" Type="http://schemas.openxmlformats.org/officeDocument/2006/relationships/image" Target="../media/image69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9.png"/><Relationship Id="rId2" Type="http://schemas.openxmlformats.org/officeDocument/2006/relationships/hyperlink" Target="name@example.com" TargetMode="External"/><Relationship Id="rId1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641350" y="504190"/>
            <a:ext cx="10373360" cy="3725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ts val="1285"/>
              </a:lnSpc>
            </a:pP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PORTFOLIO</a:t>
            </a:r>
            <a:r>
              <a:rPr sz="900" b="1" kern="0" spc="6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900" b="1" kern="0" spc="-12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900" b="1" kern="0" spc="-10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900" b="1" kern="0" spc="-10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2230" algn="l" rtl="0" eaLnBrk="0">
              <a:lnSpc>
                <a:spcPct val="94000"/>
              </a:lnSpc>
              <a:spcBef>
                <a:spcPts val="1530"/>
              </a:spcBef>
            </a:pPr>
            <a:r>
              <a:rPr sz="5100" b="1" kern="0" spc="-6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5100" b="1" kern="0" spc="51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100" b="1" kern="0" spc="-6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5100" b="1" kern="0" spc="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100" b="1" kern="0" spc="-4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Marketing Visual</a:t>
            </a:r>
            <a:r>
              <a:rPr sz="5100" b="1" kern="0" spc="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100" b="1" kern="0" spc="-6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endParaRPr sz="5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800" kern="0" spc="-3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工业产品视觉</a:t>
            </a:r>
            <a:r>
              <a:rPr sz="1800" kern="0" spc="28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 海外营销</a:t>
            </a:r>
            <a:r>
              <a:rPr sz="1800" kern="0" spc="24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 AI 创意设计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Name / Visual</a:t>
            </a:r>
            <a:r>
              <a:rPr sz="900" kern="0" spc="11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1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sz="900" kern="0" spc="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 Tec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hnology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Products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4008120" y="4495800"/>
            <a:ext cx="1338580" cy="393700"/>
          </a:xfrm>
          <a:prstGeom prst="rect">
            <a:avLst/>
          </a:prstGeom>
          <a:solidFill>
            <a:srgbClr val="12C8F4">
              <a:alpha val="13725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0" algn="l" rtl="0" eaLnBrk="0">
              <a:lnSpc>
                <a:spcPct val="88000"/>
              </a:lnSpc>
            </a:pPr>
            <a:r>
              <a:rPr sz="1000" b="1" kern="0" spc="40" dirty="0">
                <a:solidFill>
                  <a:srgbClr val="DFF8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多语言本地化视觉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" name="group 2"/>
          <p:cNvGrpSpPr/>
          <p:nvPr/>
        </p:nvGrpSpPr>
        <p:grpSpPr>
          <a:xfrm rot="21600000">
            <a:off x="1807463" y="4495800"/>
            <a:ext cx="1069848" cy="393192"/>
            <a:chOff x="0" y="0"/>
            <a:chExt cx="1069848" cy="393192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069848" cy="393192"/>
            </a:xfrm>
            <a:prstGeom prst="rect">
              <a:avLst/>
            </a:prstGeom>
          </p:spPr>
        </p:pic>
        <p:sp>
          <p:nvSpPr>
            <p:cNvPr id="14" name="textbox 14"/>
            <p:cNvSpPr/>
            <p:nvPr/>
          </p:nvSpPr>
          <p:spPr>
            <a:xfrm>
              <a:off x="-12700" y="-12700"/>
              <a:ext cx="1095375" cy="4210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49860" algn="l" rtl="0" eaLnBrk="0">
                <a:lnSpc>
                  <a:spcPct val="88000"/>
                </a:lnSpc>
                <a:spcBef>
                  <a:spcPts val="0"/>
                </a:spcBef>
              </a:pPr>
              <a:r>
                <a:rPr sz="1000" b="1" kern="0" spc="40" dirty="0">
                  <a:solidFill>
                    <a:srgbClr val="DFF8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海外营销设计</a:t>
              </a:r>
              <a:endParaRPr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 rot="21600000">
            <a:off x="646175" y="4495800"/>
            <a:ext cx="1069847" cy="393192"/>
            <a:chOff x="0" y="0"/>
            <a:chExt cx="1069847" cy="393192"/>
          </a:xfrm>
        </p:grpSpPr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069847" cy="393192"/>
            </a:xfrm>
            <a:prstGeom prst="rect">
              <a:avLst/>
            </a:prstGeom>
          </p:spPr>
        </p:pic>
        <p:sp>
          <p:nvSpPr>
            <p:cNvPr id="18" name="textbox 18"/>
            <p:cNvSpPr/>
            <p:nvPr/>
          </p:nvSpPr>
          <p:spPr>
            <a:xfrm>
              <a:off x="-12700" y="-12700"/>
              <a:ext cx="1095375" cy="4210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0495" algn="l" rtl="0" eaLnBrk="0">
                <a:lnSpc>
                  <a:spcPct val="88000"/>
                </a:lnSpc>
                <a:spcBef>
                  <a:spcPts val="0"/>
                </a:spcBef>
              </a:pPr>
              <a:r>
                <a:rPr sz="1000" b="1" kern="0" spc="40" dirty="0">
                  <a:solidFill>
                    <a:srgbClr val="DFF8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工业产品视觉</a:t>
              </a:r>
              <a:endParaRPr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 rot="21600000">
            <a:off x="2971800" y="4495800"/>
            <a:ext cx="944879" cy="393192"/>
            <a:chOff x="0" y="0"/>
            <a:chExt cx="944879" cy="393192"/>
          </a:xfrm>
        </p:grpSpPr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944879" cy="393192"/>
            </a:xfrm>
            <a:prstGeom prst="rect">
              <a:avLst/>
            </a:prstGeom>
          </p:spPr>
        </p:pic>
        <p:sp>
          <p:nvSpPr>
            <p:cNvPr id="22" name="textbox 22"/>
            <p:cNvSpPr/>
            <p:nvPr/>
          </p:nvSpPr>
          <p:spPr>
            <a:xfrm>
              <a:off x="-12700" y="-12700"/>
              <a:ext cx="970280" cy="4210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sz="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46685" algn="l" rtl="0" eaLnBrk="0">
                <a:lnSpc>
                  <a:spcPct val="88000"/>
                </a:lnSpc>
                <a:spcBef>
                  <a:spcPts val="5"/>
                </a:spcBef>
              </a:pPr>
              <a:r>
                <a:rPr sz="1000" b="1" kern="0" spc="0" dirty="0">
                  <a:solidFill>
                    <a:srgbClr val="DFF8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</a:t>
              </a:r>
              <a:r>
                <a:rPr sz="1000" b="1" kern="0" spc="50" dirty="0">
                  <a:solidFill>
                    <a:srgbClr val="DFF8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视觉生成</a:t>
              </a:r>
              <a:endParaRPr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 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" name="rect 26"/>
          <p:cNvSpPr/>
          <p:nvPr/>
        </p:nvSpPr>
        <p:spPr>
          <a:xfrm>
            <a:off x="0" y="0"/>
            <a:ext cx="12191701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" name="textbox 28"/>
          <p:cNvSpPr/>
          <p:nvPr/>
        </p:nvSpPr>
        <p:spPr>
          <a:xfrm>
            <a:off x="636714" y="5132609"/>
            <a:ext cx="10920730" cy="1436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5000"/>
              </a:lnSpc>
            </a:pP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专注于工业科技产品视觉与商业传播设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1800"/>
              </a:lnSpc>
            </a:pP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计，擅长将复杂技术产品转化为易理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8000"/>
              </a:lnSpc>
              <a:spcBef>
                <a:spcPts val="750"/>
              </a:spcBef>
            </a:pPr>
            <a:r>
              <a:rPr sz="1100" kern="0" spc="-3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解、高可信、高转化的视觉表达。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260"/>
              </a:lnSpc>
              <a:spcBef>
                <a:spcPts val="0"/>
              </a:spcBef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Marketin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3924300" y="2085975"/>
          <a:ext cx="2428875" cy="2686050"/>
        </p:xfrm>
        <a:graphic>
          <a:graphicData uri="http://schemas.openxmlformats.org/drawingml/2006/table">
            <a:tbl>
              <a:tblPr/>
              <a:tblGrid>
                <a:gridCol w="2428875"/>
              </a:tblGrid>
              <a:tr h="2673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2890" algn="l" rtl="0" eaLnBrk="0">
                        <a:lnSpc>
                          <a:spcPct val="86000"/>
                        </a:lnSpc>
                      </a:pPr>
                      <a:r>
                        <a:rPr sz="1800" b="1" kern="0" spc="-20" dirty="0">
                          <a:solidFill>
                            <a:srgbClr val="11182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长期参与</a:t>
                      </a:r>
                      <a:endParaRPr sz="1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3375" algn="l" rtl="0" eaLnBrk="0">
                        <a:lnSpc>
                          <a:spcPct val="87000"/>
                        </a:lnSpc>
                        <a:spcBef>
                          <a:spcPts val="1335"/>
                        </a:spcBef>
                        <a:tabLst>
                          <a:tab pos="449580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产品营销海报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3375" algn="l" rtl="0" eaLnBrk="0">
                        <a:lnSpc>
                          <a:spcPct val="87000"/>
                        </a:lnSpc>
                        <a:spcBef>
                          <a:spcPts val="1075"/>
                        </a:spcBef>
                        <a:tabLst>
                          <a:tab pos="449580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海外视觉本地化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3375" algn="l" rtl="0" eaLnBrk="0">
                        <a:lnSpc>
                          <a:spcPct val="87000"/>
                        </a:lnSpc>
                        <a:spcBef>
                          <a:spcPts val="1070"/>
                        </a:spcBef>
                        <a:tabLst>
                          <a:tab pos="450850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工程应用场景构建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3375" algn="l" rtl="0" eaLnBrk="0">
                        <a:lnSpc>
                          <a:spcPct val="87000"/>
                        </a:lnSpc>
                        <a:spcBef>
                          <a:spcPts val="1075"/>
                        </a:spcBef>
                        <a:tabLst>
                          <a:tab pos="448310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AI视觉创意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337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>
                          <a:tab pos="457200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品牌视觉升级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2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200524" y="4010025"/>
            <a:ext cx="57150" cy="5715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200524" y="3714750"/>
            <a:ext cx="57150" cy="5715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200524" y="3419475"/>
            <a:ext cx="57150" cy="5715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200524" y="3124200"/>
            <a:ext cx="57150" cy="5715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200524" y="2828925"/>
            <a:ext cx="57150" cy="57150"/>
          </a:xfrm>
          <a:prstGeom prst="rect">
            <a:avLst/>
          </a:prstGeom>
        </p:spPr>
      </p:pic>
      <p:graphicFrame>
        <p:nvGraphicFramePr>
          <p:cNvPr id="42" name="table 42"/>
          <p:cNvGraphicFramePr>
            <a:graphicFrameLocks noGrp="1"/>
          </p:cNvGraphicFramePr>
          <p:nvPr/>
        </p:nvGraphicFramePr>
        <p:xfrm>
          <a:off x="9115425" y="2085975"/>
          <a:ext cx="2428875" cy="2686050"/>
        </p:xfrm>
        <a:graphic>
          <a:graphicData uri="http://schemas.openxmlformats.org/drawingml/2006/table">
            <a:tbl>
              <a:tblPr/>
              <a:tblGrid>
                <a:gridCol w="2428875"/>
              </a:tblGrid>
              <a:tr h="2673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4160" algn="l" rtl="0" eaLnBrk="0">
                        <a:lnSpc>
                          <a:spcPts val="2375"/>
                        </a:lnSpc>
                      </a:pPr>
                      <a:r>
                        <a:rPr sz="1800" b="1" kern="0" spc="-40" dirty="0">
                          <a:solidFill>
                            <a:srgbClr val="11182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Tools</a:t>
                      </a:r>
                      <a:endParaRPr sz="1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3375" algn="l" rtl="0" eaLnBrk="0">
                        <a:lnSpc>
                          <a:spcPts val="1550"/>
                        </a:lnSpc>
                        <a:spcBef>
                          <a:spcPts val="985"/>
                        </a:spcBef>
                        <a:tabLst>
                          <a:tab pos="465455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Photoshop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3375" algn="l" rtl="0" eaLnBrk="0">
                        <a:lnSpc>
                          <a:spcPts val="1550"/>
                        </a:lnSpc>
                        <a:spcBef>
                          <a:spcPts val="775"/>
                        </a:spcBef>
                        <a:tabLst>
                          <a:tab pos="465455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Illustrator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3375" algn="l" rtl="0" eaLnBrk="0">
                        <a:lnSpc>
                          <a:spcPct val="90000"/>
                        </a:lnSpc>
                        <a:spcBef>
                          <a:spcPts val="1055"/>
                        </a:spcBef>
                        <a:tabLst>
                          <a:tab pos="465455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kern="0" spc="-3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Figma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3375" algn="l" rtl="0" eaLnBrk="0">
                        <a:lnSpc>
                          <a:spcPts val="1550"/>
                        </a:lnSpc>
                        <a:spcBef>
                          <a:spcPts val="750"/>
                        </a:spcBef>
                        <a:tabLst>
                          <a:tab pos="465455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Blender / C4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3375" algn="l" rtl="0" eaLnBrk="0">
                        <a:lnSpc>
                          <a:spcPct val="90000"/>
                        </a:lnSpc>
                        <a:spcBef>
                          <a:spcPts val="1055"/>
                        </a:spcBef>
                        <a:tabLst>
                          <a:tab pos="465455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Midjourney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3375" algn="l" rtl="0" eaLnBrk="0">
                        <a:lnSpc>
                          <a:spcPct val="81000"/>
                        </a:lnSpc>
                        <a:tabLst>
                          <a:tab pos="457200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ChatGPT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4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391650" y="4314825"/>
            <a:ext cx="57150" cy="5715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391650" y="4010025"/>
            <a:ext cx="57150" cy="5715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391650" y="3714750"/>
            <a:ext cx="57150" cy="5715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391650" y="3419475"/>
            <a:ext cx="57150" cy="5715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391650" y="3124200"/>
            <a:ext cx="57150" cy="5715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391650" y="2828925"/>
            <a:ext cx="57150" cy="57150"/>
          </a:xfrm>
          <a:prstGeom prst="rect">
            <a:avLst/>
          </a:prstGeom>
        </p:spPr>
      </p:pic>
      <p:graphicFrame>
        <p:nvGraphicFramePr>
          <p:cNvPr id="56" name="table 56"/>
          <p:cNvGraphicFramePr>
            <a:graphicFrameLocks noGrp="1"/>
          </p:cNvGraphicFramePr>
          <p:nvPr/>
        </p:nvGraphicFramePr>
        <p:xfrm>
          <a:off x="6524625" y="2085975"/>
          <a:ext cx="2419350" cy="2686050"/>
        </p:xfrm>
        <a:graphic>
          <a:graphicData uri="http://schemas.openxmlformats.org/drawingml/2006/table">
            <a:tbl>
              <a:tblPr/>
              <a:tblGrid>
                <a:gridCol w="2419350"/>
              </a:tblGrid>
              <a:tr h="2673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4795" algn="l" rtl="0" eaLnBrk="0">
                        <a:lnSpc>
                          <a:spcPts val="2375"/>
                        </a:lnSpc>
                      </a:pPr>
                      <a:r>
                        <a:rPr sz="1800" b="1" kern="0" spc="-20" dirty="0">
                          <a:solidFill>
                            <a:srgbClr val="11182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Skill /</a:t>
                      </a:r>
                      <a:r>
                        <a:rPr sz="1800" b="1" kern="0" spc="130" dirty="0">
                          <a:solidFill>
                            <a:srgbClr val="11182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800" b="1" kern="0" spc="-20" dirty="0">
                          <a:solidFill>
                            <a:srgbClr val="11182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Design</a:t>
                      </a:r>
                      <a:endParaRPr sz="1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3375" algn="l" rtl="0" eaLnBrk="0">
                        <a:lnSpc>
                          <a:spcPct val="90000"/>
                        </a:lnSpc>
                        <a:spcBef>
                          <a:spcPts val="1265"/>
                        </a:spcBef>
                        <a:tabLst>
                          <a:tab pos="445135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Visual</a:t>
                      </a:r>
                      <a:r>
                        <a:rPr sz="1200" kern="0" spc="1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Des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ign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3375" algn="l" rtl="0" eaLnBrk="0">
                        <a:lnSpc>
                          <a:spcPts val="1550"/>
                        </a:lnSpc>
                        <a:spcBef>
                          <a:spcPts val="750"/>
                        </a:spcBef>
                        <a:tabLst>
                          <a:tab pos="459105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Marketing</a:t>
                      </a:r>
                      <a:r>
                        <a:rPr sz="1200" kern="0" spc="1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Design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3375" algn="l" rtl="0" eaLnBrk="0">
                        <a:lnSpc>
                          <a:spcPct val="90000"/>
                        </a:lnSpc>
                        <a:spcBef>
                          <a:spcPts val="1055"/>
                        </a:spcBef>
                        <a:tabLst>
                          <a:tab pos="459105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Branding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3375" algn="l" rtl="0" eaLnBrk="0">
                        <a:lnSpc>
                          <a:spcPts val="1550"/>
                        </a:lnSpc>
                        <a:spcBef>
                          <a:spcPts val="5"/>
                        </a:spcBef>
                        <a:tabLst>
                          <a:tab pos="459105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Product</a:t>
                      </a:r>
                      <a:r>
                        <a:rPr sz="1200" kern="0" spc="1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Renderin</a:t>
                      </a:r>
                      <a:r>
                        <a:rPr sz="1200" kern="0" spc="-3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8" name="picture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00850" y="3714750"/>
            <a:ext cx="57150" cy="5715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00850" y="3419475"/>
            <a:ext cx="57150" cy="5715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00850" y="3124200"/>
            <a:ext cx="57150" cy="5715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00850" y="2828925"/>
            <a:ext cx="57150" cy="57150"/>
          </a:xfrm>
          <a:prstGeom prst="rect">
            <a:avLst/>
          </a:prstGeom>
        </p:spPr>
      </p:pic>
      <p:sp>
        <p:nvSpPr>
          <p:cNvPr id="66" name="textbox 66"/>
          <p:cNvSpPr/>
          <p:nvPr/>
        </p:nvSpPr>
        <p:spPr>
          <a:xfrm>
            <a:off x="635000" y="503993"/>
            <a:ext cx="1946910" cy="1089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285"/>
              </a:lnSpc>
            </a:pPr>
            <a:r>
              <a:rPr sz="900" b="1" kern="0" spc="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6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900" b="1" kern="0" spc="-6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6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6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P</a:t>
            </a:r>
            <a:r>
              <a:rPr sz="900" b="1" kern="0" spc="-10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6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  <a:spcBef>
                <a:spcPts val="905"/>
              </a:spcBef>
            </a:pPr>
            <a:r>
              <a:rPr sz="3000" b="1" kern="0" spc="-4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About</a:t>
            </a:r>
            <a:r>
              <a:rPr sz="3000" b="1" kern="0" spc="3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000" b="1" kern="0" spc="-4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1000"/>
              </a:lnSpc>
              <a:spcBef>
                <a:spcPts val="0"/>
              </a:spcBef>
              <a:tabLst>
                <a:tab pos="184150" algn="l"/>
              </a:tabLst>
            </a:pPr>
            <a:r>
              <a:rPr sz="10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111827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8" name="path 68"/>
          <p:cNvSpPr/>
          <p:nvPr/>
        </p:nvSpPr>
        <p:spPr>
          <a:xfrm>
            <a:off x="8913524" y="4718400"/>
            <a:ext cx="25010" cy="32701"/>
          </a:xfrm>
          <a:custGeom>
            <a:avLst/>
            <a:gdLst/>
            <a:ahLst/>
            <a:cxnLst/>
            <a:rect l="0" t="0" r="0" b="0"/>
            <a:pathLst>
              <a:path w="39" h="51">
                <a:moveTo>
                  <a:pt x="31" y="7"/>
                </a:moveTo>
                <a:cubicBezTo>
                  <a:pt x="29" y="14"/>
                  <a:pt x="25" y="20"/>
                  <a:pt x="21" y="26"/>
                </a:cubicBezTo>
                <a:cubicBezTo>
                  <a:pt x="17" y="33"/>
                  <a:pt x="12" y="38"/>
                  <a:pt x="7" y="43"/>
                </a:cubicBezTo>
              </a:path>
            </a:pathLst>
          </a:custGeom>
          <a:noFill/>
          <a:ln w="9525" cap="flat">
            <a:solidFill>
              <a:srgbClr val="DFE4E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 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2" name="rect 72"/>
          <p:cNvSpPr/>
          <p:nvPr/>
        </p:nvSpPr>
        <p:spPr>
          <a:xfrm>
            <a:off x="0" y="0"/>
            <a:ext cx="12191701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74" name="table 74"/>
          <p:cNvGraphicFramePr>
            <a:graphicFrameLocks noGrp="1"/>
          </p:cNvGraphicFramePr>
          <p:nvPr/>
        </p:nvGraphicFramePr>
        <p:xfrm>
          <a:off x="3924300" y="1047750"/>
          <a:ext cx="1781175" cy="4762500"/>
        </p:xfrm>
        <a:graphic>
          <a:graphicData uri="http://schemas.openxmlformats.org/drawingml/2006/table">
            <a:tbl>
              <a:tblPr/>
              <a:tblGrid>
                <a:gridCol w="1781175"/>
              </a:tblGrid>
              <a:tr h="4749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956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1800" b="1" kern="0" spc="-30" dirty="0">
                          <a:solidFill>
                            <a:srgbClr val="11182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品牌视觉</a:t>
                      </a:r>
                      <a:endParaRPr sz="1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79400" indent="-1270" algn="l" rtl="0" eaLnBrk="0">
                        <a:lnSpc>
                          <a:spcPct val="131000"/>
                        </a:lnSpc>
                        <a:spcBef>
                          <a:spcPts val="600"/>
                        </a:spcBef>
                      </a:pPr>
                      <a:r>
                        <a:rPr sz="1200" b="1" kern="0" spc="7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海报 / </a:t>
                      </a:r>
                      <a:r>
                        <a:rPr sz="1200" b="1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Banner</a:t>
                      </a:r>
                      <a:r>
                        <a:rPr sz="1200" b="1" kern="0" spc="7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/</a:t>
                      </a:r>
                      <a:r>
                        <a:rPr sz="1200" b="1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200" b="1" kern="0" spc="5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展会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8130" algn="l" rtl="0" eaLnBrk="0">
                        <a:lnSpc>
                          <a:spcPct val="87000"/>
                        </a:lnSpc>
                        <a:spcBef>
                          <a:spcPts val="370"/>
                        </a:spcBef>
                      </a:pPr>
                      <a:r>
                        <a:rPr sz="1200" kern="0" spc="7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把品牌识别延展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78130" algn="l" rtl="0" eaLnBrk="0">
                        <a:lnSpc>
                          <a:spcPts val="1800"/>
                        </a:lnSpc>
                      </a:pPr>
                      <a:r>
                        <a:rPr sz="1200" kern="0" spc="7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到不同商业触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8765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1100" kern="0" spc="-10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点。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6" name="table 76"/>
          <p:cNvGraphicFramePr>
            <a:graphicFrameLocks noGrp="1"/>
          </p:cNvGraphicFramePr>
          <p:nvPr/>
        </p:nvGraphicFramePr>
        <p:xfrm>
          <a:off x="7820025" y="1047750"/>
          <a:ext cx="1781175" cy="4762500"/>
        </p:xfrm>
        <a:graphic>
          <a:graphicData uri="http://schemas.openxmlformats.org/drawingml/2006/table">
            <a:tbl>
              <a:tblPr/>
              <a:tblGrid>
                <a:gridCol w="1781175"/>
              </a:tblGrid>
              <a:tr h="4749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749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1800" b="1" kern="0" spc="-10" dirty="0">
                          <a:solidFill>
                            <a:srgbClr val="11182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 创意</a:t>
                      </a:r>
                      <a:endParaRPr sz="1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76860" algn="l" rtl="0" eaLnBrk="0">
                        <a:lnSpc>
                          <a:spcPct val="131000"/>
                        </a:lnSpc>
                        <a:spcBef>
                          <a:spcPts val="610"/>
                        </a:spcBef>
                      </a:pPr>
                      <a:r>
                        <a:rPr sz="1200" b="1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  <a:r>
                        <a:rPr sz="1200" b="1" kern="0" spc="6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场景生成 / 海</a:t>
                      </a:r>
                      <a:r>
                        <a:rPr sz="1200" b="1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</a:t>
                      </a:r>
                      <a:r>
                        <a:rPr sz="1200" b="1" kern="0" spc="14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外</a:t>
                      </a:r>
                      <a:r>
                        <a:rPr sz="1200" b="1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KV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9400" algn="l" rtl="0" eaLnBrk="0">
                        <a:lnSpc>
                          <a:spcPct val="88000"/>
                        </a:lnSpc>
                        <a:spcBef>
                          <a:spcPts val="365"/>
                        </a:spcBef>
                      </a:pPr>
                      <a:r>
                        <a:rPr sz="1200" kern="0" spc="6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 </a:t>
                      </a: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  <a:r>
                        <a:rPr sz="1200" kern="0" spc="6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提高工业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78130" algn="l" rtl="0" eaLnBrk="0">
                        <a:lnSpc>
                          <a:spcPts val="1800"/>
                        </a:lnSpc>
                      </a:pPr>
                      <a:r>
                        <a:rPr sz="1200" kern="0" spc="7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视觉方案探索与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78130" algn="l" rtl="0" eaLnBrk="0">
                        <a:lnSpc>
                          <a:spcPts val="1870"/>
                        </a:lnSpc>
                      </a:pPr>
                      <a:r>
                        <a:rPr sz="1200" kern="0" spc="-9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生产效率。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8" name="table 78"/>
          <p:cNvGraphicFramePr>
            <a:graphicFrameLocks noGrp="1"/>
          </p:cNvGraphicFramePr>
          <p:nvPr/>
        </p:nvGraphicFramePr>
        <p:xfrm>
          <a:off x="5876925" y="1047750"/>
          <a:ext cx="1771650" cy="4762500"/>
        </p:xfrm>
        <a:graphic>
          <a:graphicData uri="http://schemas.openxmlformats.org/drawingml/2006/table">
            <a:tbl>
              <a:tblPr/>
              <a:tblGrid>
                <a:gridCol w="1771650"/>
              </a:tblGrid>
              <a:tr h="4749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368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1800" b="1" kern="0" spc="-10" dirty="0">
                          <a:solidFill>
                            <a:srgbClr val="11182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产品表达</a:t>
                      </a:r>
                      <a:endParaRPr sz="1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73050" indent="-1270" algn="l" rtl="0" eaLnBrk="0">
                        <a:lnSpc>
                          <a:spcPct val="133000"/>
                        </a:lnSpc>
                        <a:spcBef>
                          <a:spcPts val="540"/>
                        </a:spcBef>
                      </a:pPr>
                      <a:r>
                        <a:rPr sz="1200" b="1" kern="0" spc="5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精修 / 合成</a:t>
                      </a:r>
                      <a:r>
                        <a:rPr sz="1200" b="1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b="1" kern="0" spc="5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场</a:t>
                      </a:r>
                      <a:r>
                        <a:rPr sz="1200" b="1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</a:t>
                      </a:r>
                      <a:r>
                        <a:rPr sz="1200" b="1" kern="0" spc="4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景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3050" algn="l" rtl="0" eaLnBrk="0">
                        <a:lnSpc>
                          <a:spcPct val="88000"/>
                        </a:lnSpc>
                        <a:spcBef>
                          <a:spcPts val="365"/>
                        </a:spcBef>
                      </a:pPr>
                      <a:r>
                        <a:rPr sz="1200" kern="0" spc="7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把技术产品做成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74320" algn="l" rtl="0" eaLnBrk="0">
                        <a:lnSpc>
                          <a:spcPts val="1790"/>
                        </a:lnSpc>
                      </a:pPr>
                      <a:r>
                        <a:rPr sz="1200" kern="0" spc="7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可理解、可信赖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80035" algn="l" rtl="0" eaLnBrk="0">
                        <a:lnSpc>
                          <a:spcPts val="1885"/>
                        </a:lnSpc>
                      </a:pPr>
                      <a:r>
                        <a:rPr sz="1200" kern="0" spc="-8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的视觉资产。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0" name="table 80"/>
          <p:cNvGraphicFramePr>
            <a:graphicFrameLocks noGrp="1"/>
          </p:cNvGraphicFramePr>
          <p:nvPr/>
        </p:nvGraphicFramePr>
        <p:xfrm>
          <a:off x="9772650" y="1047750"/>
          <a:ext cx="1771650" cy="4762500"/>
        </p:xfrm>
        <a:graphic>
          <a:graphicData uri="http://schemas.openxmlformats.org/drawingml/2006/table">
            <a:tbl>
              <a:tblPr/>
              <a:tblGrid>
                <a:gridCol w="1771650"/>
              </a:tblGrid>
              <a:tr h="4749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622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800" b="1" kern="0" spc="-10" dirty="0">
                          <a:solidFill>
                            <a:srgbClr val="11182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多语言营销</a:t>
                      </a:r>
                      <a:endParaRPr sz="1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73685" indent="1270" algn="l" rtl="0" eaLnBrk="0">
                        <a:lnSpc>
                          <a:spcPct val="131000"/>
                        </a:lnSpc>
                        <a:spcBef>
                          <a:spcPts val="610"/>
                        </a:spcBef>
                      </a:pPr>
                      <a:r>
                        <a:rPr sz="1200" b="1" kern="0" spc="4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英语 / 法语 / 阿</a:t>
                      </a:r>
                      <a:r>
                        <a:rPr sz="1200" b="1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</a:t>
                      </a:r>
                      <a:r>
                        <a:rPr sz="1200" b="1" kern="0" spc="6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拉伯语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3050" algn="l" rtl="0" eaLnBrk="0">
                        <a:lnSpc>
                          <a:spcPct val="88000"/>
                        </a:lnSpc>
                        <a:spcBef>
                          <a:spcPts val="370"/>
                        </a:spcBef>
                      </a:pPr>
                      <a:r>
                        <a:rPr sz="1200" kern="0" spc="7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适配不同市场的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73685" algn="l" rtl="0" eaLnBrk="0">
                        <a:lnSpc>
                          <a:spcPts val="1805"/>
                        </a:lnSpc>
                      </a:pPr>
                      <a:r>
                        <a:rPr sz="1200" kern="0" spc="7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语言长度、阅读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72415" algn="l" rtl="0" eaLnBrk="0">
                        <a:lnSpc>
                          <a:spcPts val="1870"/>
                        </a:lnSpc>
                      </a:pPr>
                      <a:r>
                        <a:rPr sz="1200" kern="0" spc="7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方向与版式重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368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100" kern="0" spc="-10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心。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2" name="textbox 82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Marketin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644572" y="5360923"/>
            <a:ext cx="2444750" cy="419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3175" algn="l" rtl="0" eaLnBrk="0">
              <a:lnSpc>
                <a:spcPct val="121000"/>
              </a:lnSpc>
            </a:pP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四类能力对应后续案例：品牌视</a:t>
            </a:r>
            <a:r>
              <a:rPr sz="1100" kern="0" spc="1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觉、产</a:t>
            </a:r>
            <a:r>
              <a:rPr sz="1100" kern="0" spc="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品表达、AI 创意和多语言营销。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641095" y="921130"/>
            <a:ext cx="1543685" cy="4235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3000" b="1" kern="0" spc="-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能力地图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8" name="picture 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114800" y="1238250"/>
            <a:ext cx="590550" cy="590550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067425" y="1238250"/>
            <a:ext cx="590550" cy="590550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010525" y="1238250"/>
            <a:ext cx="590550" cy="590550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963150" y="1238250"/>
            <a:ext cx="590550" cy="590550"/>
          </a:xfrm>
          <a:prstGeom prst="rect">
            <a:avLst/>
          </a:prstGeom>
        </p:spPr>
      </p:pic>
      <p:sp>
        <p:nvSpPr>
          <p:cNvPr id="96" name="textbox 96"/>
          <p:cNvSpPr/>
          <p:nvPr/>
        </p:nvSpPr>
        <p:spPr>
          <a:xfrm>
            <a:off x="645772" y="503993"/>
            <a:ext cx="985519" cy="189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85"/>
              </a:lnSpc>
            </a:pPr>
            <a:r>
              <a:rPr sz="900" b="1" kern="0" spc="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6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900" b="1" kern="0" spc="-6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6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6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P</a:t>
            </a:r>
            <a:r>
              <a:rPr sz="900" b="1" kern="0" spc="-7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6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8" name="picture 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7700" y="1543050"/>
            <a:ext cx="171450" cy="19050"/>
          </a:xfrm>
          <a:prstGeom prst="rect">
            <a:avLst/>
          </a:prstGeom>
        </p:spPr>
      </p:pic>
      <p:sp>
        <p:nvSpPr>
          <p:cNvPr id="100" name="path 100"/>
          <p:cNvSpPr/>
          <p:nvPr/>
        </p:nvSpPr>
        <p:spPr>
          <a:xfrm>
            <a:off x="9551459" y="5727891"/>
            <a:ext cx="48000" cy="67108"/>
          </a:xfrm>
          <a:custGeom>
            <a:avLst/>
            <a:gdLst/>
            <a:ahLst/>
            <a:cxnLst/>
            <a:rect l="0" t="0" r="0" b="0"/>
            <a:pathLst>
              <a:path w="75" h="105">
                <a:moveTo>
                  <a:pt x="68" y="7"/>
                </a:moveTo>
                <a:cubicBezTo>
                  <a:pt x="66" y="16"/>
                  <a:pt x="63" y="25"/>
                  <a:pt x="59" y="34"/>
                </a:cubicBezTo>
                <a:cubicBezTo>
                  <a:pt x="56" y="42"/>
                  <a:pt x="52" y="51"/>
                  <a:pt x="46" y="58"/>
                </a:cubicBezTo>
                <a:cubicBezTo>
                  <a:pt x="41" y="66"/>
                  <a:pt x="35" y="73"/>
                  <a:pt x="29" y="80"/>
                </a:cubicBezTo>
                <a:cubicBezTo>
                  <a:pt x="22" y="87"/>
                  <a:pt x="15" y="92"/>
                  <a:pt x="7" y="98"/>
                </a:cubicBezTo>
              </a:path>
            </a:pathLst>
          </a:custGeom>
          <a:noFill/>
          <a:ln w="9525" cap="flat">
            <a:solidFill>
              <a:srgbClr val="DFE4E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" name="path 102"/>
          <p:cNvSpPr/>
          <p:nvPr/>
        </p:nvSpPr>
        <p:spPr>
          <a:xfrm>
            <a:off x="3980158" y="1047750"/>
            <a:ext cx="44153" cy="16411"/>
          </a:xfrm>
          <a:custGeom>
            <a:avLst/>
            <a:gdLst/>
            <a:ahLst/>
            <a:cxnLst/>
            <a:rect l="0" t="0" r="0" b="0"/>
            <a:pathLst>
              <a:path w="69" h="25">
                <a:moveTo>
                  <a:pt x="7" y="18"/>
                </a:moveTo>
                <a:cubicBezTo>
                  <a:pt x="16" y="14"/>
                  <a:pt x="25" y="12"/>
                  <a:pt x="34" y="10"/>
                </a:cubicBezTo>
                <a:cubicBezTo>
                  <a:pt x="43" y="8"/>
                  <a:pt x="52" y="7"/>
                  <a:pt x="62" y="7"/>
                </a:cubicBezTo>
              </a:path>
            </a:pathLst>
          </a:custGeom>
          <a:noFill/>
          <a:ln w="9525" cap="flat">
            <a:solidFill>
              <a:srgbClr val="DFE4E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4" name="path 104"/>
          <p:cNvSpPr/>
          <p:nvPr/>
        </p:nvSpPr>
        <p:spPr>
          <a:xfrm>
            <a:off x="7875883" y="1047750"/>
            <a:ext cx="44153" cy="16411"/>
          </a:xfrm>
          <a:custGeom>
            <a:avLst/>
            <a:gdLst/>
            <a:ahLst/>
            <a:cxnLst/>
            <a:rect l="0" t="0" r="0" b="0"/>
            <a:pathLst>
              <a:path w="69" h="25">
                <a:moveTo>
                  <a:pt x="7" y="18"/>
                </a:moveTo>
                <a:cubicBezTo>
                  <a:pt x="16" y="14"/>
                  <a:pt x="25" y="12"/>
                  <a:pt x="34" y="10"/>
                </a:cubicBezTo>
                <a:cubicBezTo>
                  <a:pt x="43" y="8"/>
                  <a:pt x="52" y="7"/>
                  <a:pt x="62" y="7"/>
                </a:cubicBezTo>
              </a:path>
            </a:pathLst>
          </a:custGeom>
          <a:noFill/>
          <a:ln w="9525" cap="flat">
            <a:solidFill>
              <a:srgbClr val="DFE4E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" name="path 106"/>
          <p:cNvSpPr/>
          <p:nvPr/>
        </p:nvSpPr>
        <p:spPr>
          <a:xfrm>
            <a:off x="5932784" y="1047750"/>
            <a:ext cx="44153" cy="16411"/>
          </a:xfrm>
          <a:custGeom>
            <a:avLst/>
            <a:gdLst/>
            <a:ahLst/>
            <a:cxnLst/>
            <a:rect l="0" t="0" r="0" b="0"/>
            <a:pathLst>
              <a:path w="69" h="25">
                <a:moveTo>
                  <a:pt x="7" y="18"/>
                </a:moveTo>
                <a:cubicBezTo>
                  <a:pt x="16" y="14"/>
                  <a:pt x="25" y="12"/>
                  <a:pt x="34" y="10"/>
                </a:cubicBezTo>
                <a:cubicBezTo>
                  <a:pt x="43" y="8"/>
                  <a:pt x="52" y="7"/>
                  <a:pt x="62" y="7"/>
                </a:cubicBezTo>
              </a:path>
            </a:pathLst>
          </a:custGeom>
          <a:noFill/>
          <a:ln w="9525" cap="flat">
            <a:solidFill>
              <a:srgbClr val="DFE4E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" name="path 108"/>
          <p:cNvSpPr/>
          <p:nvPr/>
        </p:nvSpPr>
        <p:spPr>
          <a:xfrm>
            <a:off x="9828510" y="1047750"/>
            <a:ext cx="44152" cy="16411"/>
          </a:xfrm>
          <a:custGeom>
            <a:avLst/>
            <a:gdLst/>
            <a:ahLst/>
            <a:cxnLst/>
            <a:rect l="0" t="0" r="0" b="0"/>
            <a:pathLst>
              <a:path w="69" h="25">
                <a:moveTo>
                  <a:pt x="7" y="18"/>
                </a:moveTo>
                <a:cubicBezTo>
                  <a:pt x="16" y="14"/>
                  <a:pt x="25" y="12"/>
                  <a:pt x="34" y="10"/>
                </a:cubicBezTo>
                <a:cubicBezTo>
                  <a:pt x="43" y="8"/>
                  <a:pt x="52" y="7"/>
                  <a:pt x="62" y="7"/>
                </a:cubicBezTo>
              </a:path>
            </a:pathLst>
          </a:custGeom>
          <a:noFill/>
          <a:ln w="9525" cap="flat">
            <a:solidFill>
              <a:srgbClr val="DFE4E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 1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2" name="picture 1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1701" cy="6858000"/>
          </a:xfrm>
          <a:prstGeom prst="rect">
            <a:avLst/>
          </a:prstGeom>
        </p:spPr>
      </p:pic>
      <p:sp>
        <p:nvSpPr>
          <p:cNvPr id="114" name="textbox 114"/>
          <p:cNvSpPr/>
          <p:nvPr/>
        </p:nvSpPr>
        <p:spPr>
          <a:xfrm>
            <a:off x="637286" y="2456618"/>
            <a:ext cx="5579745" cy="4112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" algn="l" rtl="0" eaLnBrk="0">
              <a:lnSpc>
                <a:spcPts val="1285"/>
              </a:lnSpc>
            </a:pP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</a:t>
            </a:r>
            <a:r>
              <a:rPr sz="900" b="1" kern="0" spc="5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900" b="1" kern="0" spc="-10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900" b="1" kern="0" spc="23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CORE</a:t>
            </a:r>
            <a:r>
              <a:rPr sz="900" b="1" kern="0" spc="4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PROJECT</a:t>
            </a:r>
            <a:r>
              <a:rPr sz="900" b="1" kern="0" spc="1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900" b="1" kern="0" spc="-6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5080" algn="l" rtl="0" eaLnBrk="0">
              <a:lnSpc>
                <a:spcPct val="99000"/>
              </a:lnSpc>
              <a:spcBef>
                <a:spcPts val="1125"/>
              </a:spcBef>
            </a:pPr>
            <a:r>
              <a:rPr sz="3600" b="1" kern="0" spc="-7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TOKNAV</a:t>
            </a:r>
            <a:r>
              <a:rPr sz="3600" b="1" kern="0" spc="37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600" b="1" kern="0" spc="-7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RTK</a:t>
            </a:r>
            <a:r>
              <a:rPr sz="3600" b="1" kern="0" spc="27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600" b="1" kern="0" spc="-7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Marketing</a:t>
            </a:r>
            <a:r>
              <a:rPr sz="3600" b="1" kern="0" spc="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600" b="1" kern="0" spc="-1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Visual Syst</a:t>
            </a:r>
            <a:r>
              <a:rPr sz="3600" b="1" kern="0" spc="-2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87000"/>
              </a:lnSpc>
              <a:spcBef>
                <a:spcPts val="540"/>
              </a:spcBef>
            </a:pPr>
            <a:r>
              <a:rPr sz="1800" kern="0" spc="-1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海外营销视觉升级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Role: Visual</a:t>
            </a:r>
            <a:r>
              <a:rPr sz="900" kern="0" spc="11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 / Scene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Rendering /</a:t>
            </a:r>
            <a:r>
              <a:rPr sz="900" kern="0" spc="11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Poster</a:t>
            </a:r>
            <a:r>
              <a:rPr sz="900" kern="0" spc="11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ign / AI Visual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Production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6" name="picture 1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277354" y="1046913"/>
            <a:ext cx="4437379" cy="5105548"/>
          </a:xfrm>
          <a:prstGeom prst="rect">
            <a:avLst/>
          </a:prstGeom>
        </p:spPr>
      </p:pic>
      <p:pic>
        <p:nvPicPr>
          <p:cNvPr id="118" name="picture 1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448550" y="1047750"/>
            <a:ext cx="1962150" cy="4762500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582150" y="1047750"/>
            <a:ext cx="1962150" cy="4762500"/>
          </a:xfrm>
          <a:prstGeom prst="rect">
            <a:avLst/>
          </a:prstGeom>
        </p:spPr>
      </p:pic>
      <p:sp>
        <p:nvSpPr>
          <p:cNvPr id="122" name="textbox 122"/>
          <p:cNvSpPr/>
          <p:nvPr/>
        </p:nvSpPr>
        <p:spPr>
          <a:xfrm>
            <a:off x="11395354" y="6416951"/>
            <a:ext cx="161925" cy="132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900" kern="0" spc="-1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P4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 1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6" name="rect 126"/>
          <p:cNvSpPr/>
          <p:nvPr/>
        </p:nvSpPr>
        <p:spPr>
          <a:xfrm>
            <a:off x="0" y="0"/>
            <a:ext cx="12191701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28" name="table 128"/>
          <p:cNvGraphicFramePr>
            <a:graphicFrameLocks noGrp="1"/>
          </p:cNvGraphicFramePr>
          <p:nvPr/>
        </p:nvGraphicFramePr>
        <p:xfrm>
          <a:off x="3924300" y="2533650"/>
          <a:ext cx="3724275" cy="1790700"/>
        </p:xfrm>
        <a:graphic>
          <a:graphicData uri="http://schemas.openxmlformats.org/drawingml/2006/table">
            <a:tbl>
              <a:tblPr/>
              <a:tblGrid>
                <a:gridCol w="3724275"/>
              </a:tblGrid>
              <a:tr h="177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6065" algn="l" rtl="0" eaLnBrk="0">
                        <a:lnSpc>
                          <a:spcPct val="90000"/>
                        </a:lnSpc>
                        <a:spcBef>
                          <a:spcPts val="5"/>
                        </a:spcBef>
                      </a:pPr>
                      <a:r>
                        <a:rPr sz="1800" b="1" kern="0" spc="-20" dirty="0">
                          <a:solidFill>
                            <a:srgbClr val="11182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Challenge</a:t>
                      </a:r>
                      <a:endParaRPr sz="1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3375" algn="l" rtl="0" eaLnBrk="0">
                        <a:lnSpc>
                          <a:spcPct val="87000"/>
                        </a:lnSpc>
                        <a:spcBef>
                          <a:spcPts val="1115"/>
                        </a:spcBef>
                        <a:tabLst>
                          <a:tab pos="449580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产品科技感不足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3375" algn="l" rtl="0" eaLnBrk="0">
                        <a:lnSpc>
                          <a:spcPct val="87000"/>
                        </a:lnSpc>
                        <a:spcBef>
                          <a:spcPts val="1145"/>
                        </a:spcBef>
                        <a:tabLst>
                          <a:tab pos="449580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海外视觉不统一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3375" algn="l" rtl="0" eaLnBrk="0">
                        <a:lnSpc>
                          <a:spcPct val="87000"/>
                        </a:lnSpc>
                        <a:tabLst>
                          <a:tab pos="449580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产品卖点难以理解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30" name="picture 1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200524" y="3867150"/>
            <a:ext cx="57150" cy="57150"/>
          </a:xfrm>
          <a:prstGeom prst="rect">
            <a:avLst/>
          </a:prstGeom>
        </p:spPr>
      </p:pic>
      <p:pic>
        <p:nvPicPr>
          <p:cNvPr id="132" name="picture 1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200524" y="3571875"/>
            <a:ext cx="57150" cy="57150"/>
          </a:xfrm>
          <a:prstGeom prst="rect">
            <a:avLst/>
          </a:prstGeom>
        </p:spPr>
      </p:pic>
      <p:pic>
        <p:nvPicPr>
          <p:cNvPr id="134" name="picture 1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200524" y="3267075"/>
            <a:ext cx="57150" cy="57150"/>
          </a:xfrm>
          <a:prstGeom prst="rect">
            <a:avLst/>
          </a:prstGeom>
        </p:spPr>
      </p:pic>
      <p:graphicFrame>
        <p:nvGraphicFramePr>
          <p:cNvPr id="136" name="table 136"/>
          <p:cNvGraphicFramePr>
            <a:graphicFrameLocks noGrp="1"/>
          </p:cNvGraphicFramePr>
          <p:nvPr/>
        </p:nvGraphicFramePr>
        <p:xfrm>
          <a:off x="7820025" y="2533650"/>
          <a:ext cx="3724275" cy="1790700"/>
        </p:xfrm>
        <a:graphic>
          <a:graphicData uri="http://schemas.openxmlformats.org/drawingml/2006/table">
            <a:tbl>
              <a:tblPr/>
              <a:tblGrid>
                <a:gridCol w="3724275"/>
              </a:tblGrid>
              <a:tr h="177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6065" algn="l" rtl="0" eaLnBrk="0">
                        <a:lnSpc>
                          <a:spcPts val="2375"/>
                        </a:lnSpc>
                      </a:pPr>
                      <a:r>
                        <a:rPr sz="1800" b="1" kern="0" spc="-30" dirty="0">
                          <a:solidFill>
                            <a:srgbClr val="11182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Goal</a:t>
                      </a:r>
                      <a:endParaRPr sz="1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3375" algn="l" rtl="0" eaLnBrk="0">
                        <a:lnSpc>
                          <a:spcPct val="87000"/>
                        </a:lnSpc>
                        <a:spcBef>
                          <a:spcPts val="1135"/>
                        </a:spcBef>
                        <a:tabLst>
                          <a:tab pos="449580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建立统一科技视觉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3375" algn="l" rtl="0" eaLnBrk="0">
                        <a:lnSpc>
                          <a:spcPct val="87000"/>
                        </a:lnSpc>
                        <a:spcBef>
                          <a:spcPts val="1150"/>
                        </a:spcBef>
                        <a:tabLst>
                          <a:tab pos="452755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强化专业可信感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3375" algn="l" rtl="0" eaLnBrk="0">
                        <a:lnSpc>
                          <a:spcPct val="87000"/>
                        </a:lnSpc>
                        <a:tabLst>
                          <a:tab pos="449580" algn="l"/>
                        </a:tabLst>
                      </a:pPr>
                      <a:r>
                        <a:rPr sz="1200" kern="0" spc="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46515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提升营销效率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38" name="picture 1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096250" y="3867150"/>
            <a:ext cx="57150" cy="57150"/>
          </a:xfrm>
          <a:prstGeom prst="rect">
            <a:avLst/>
          </a:prstGeom>
        </p:spPr>
      </p:pic>
      <p:pic>
        <p:nvPicPr>
          <p:cNvPr id="140" name="picture 1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096250" y="3571875"/>
            <a:ext cx="57150" cy="57150"/>
          </a:xfrm>
          <a:prstGeom prst="rect">
            <a:avLst/>
          </a:prstGeom>
        </p:spPr>
      </p:pic>
      <p:pic>
        <p:nvPicPr>
          <p:cNvPr id="142" name="picture 1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096250" y="3267075"/>
            <a:ext cx="57150" cy="57150"/>
          </a:xfrm>
          <a:prstGeom prst="rect">
            <a:avLst/>
          </a:prstGeom>
        </p:spPr>
      </p:pic>
      <p:sp>
        <p:nvSpPr>
          <p:cNvPr id="144" name="textbox 144"/>
          <p:cNvSpPr/>
          <p:nvPr/>
        </p:nvSpPr>
        <p:spPr>
          <a:xfrm>
            <a:off x="645772" y="503993"/>
            <a:ext cx="2364739" cy="13614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85"/>
              </a:lnSpc>
            </a:pP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900" b="1" kern="0" spc="-8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sz="900" b="1" kern="0" spc="24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PROJECT</a:t>
            </a:r>
            <a:r>
              <a:rPr sz="900" b="1" kern="0" spc="4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BACKGROU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ND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109000"/>
              </a:lnSpc>
              <a:spcBef>
                <a:spcPts val="0"/>
              </a:spcBef>
            </a:pPr>
            <a:r>
              <a:rPr sz="3000" b="1" kern="0" spc="-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Challenge &amp;</a:t>
            </a:r>
            <a:r>
              <a:rPr sz="3000" b="1" kern="0" spc="3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000" b="1" kern="0" spc="-5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Goal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Marketin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8" name="textbox 148"/>
          <p:cNvSpPr/>
          <p:nvPr/>
        </p:nvSpPr>
        <p:spPr>
          <a:xfrm>
            <a:off x="636143" y="5133038"/>
            <a:ext cx="2453639" cy="647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-635" algn="l" rtl="0" eaLnBrk="0">
              <a:lnSpc>
                <a:spcPct val="126000"/>
              </a:lnSpc>
            </a:pP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先讲问题，再讲目标。让面试官看到设</a:t>
            </a: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计不是堆图，而是围绕商业传播效率解</a:t>
            </a:r>
            <a:r>
              <a:rPr sz="1100" kern="0" spc="-3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决问题。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7700" y="1952625"/>
            <a:ext cx="1714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 1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4" name="picture 1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1701" cy="6858000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3924300" y="2876550"/>
            <a:ext cx="2428875" cy="1762125"/>
          </a:xfrm>
          <a:prstGeom prst="rect">
            <a:avLst/>
          </a:prstGeom>
          <a:solidFill>
            <a:srgbClr val="FFFFFF">
              <a:alpha val="745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6860" algn="l" rtl="0" eaLnBrk="0">
              <a:lnSpc>
                <a:spcPct val="82000"/>
              </a:lnSpc>
            </a:pPr>
            <a:r>
              <a:rPr sz="1800" b="1" kern="0" spc="-3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76860" algn="l" rtl="0" eaLnBrk="0">
              <a:lnSpc>
                <a:spcPts val="2245"/>
              </a:lnSpc>
            </a:pPr>
            <a:r>
              <a:rPr sz="1800" b="1" kern="0" spc="-3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Direction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8445" indent="1905" algn="l" rtl="0" eaLnBrk="0">
              <a:lnSpc>
                <a:spcPct val="118000"/>
              </a:lnSpc>
              <a:spcBef>
                <a:spcPts val="5"/>
              </a:spcBef>
            </a:pPr>
            <a:r>
              <a:rPr sz="1200" kern="0" spc="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工业科技风 / 海</a:t>
            </a:r>
            <a:r>
              <a:rPr sz="1200" kern="0" spc="-1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外硬件广告     </a:t>
            </a:r>
            <a:r>
              <a:rPr sz="1200" kern="0" spc="-1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 / 深色高端调性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9115425" y="2876550"/>
            <a:ext cx="2428875" cy="1762125"/>
          </a:xfrm>
          <a:prstGeom prst="rect">
            <a:avLst/>
          </a:prstGeom>
          <a:solidFill>
            <a:srgbClr val="FFFFFF">
              <a:alpha val="745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985" algn="l" rtl="0" eaLnBrk="0">
              <a:lnSpc>
                <a:spcPct val="90000"/>
              </a:lnSpc>
              <a:spcBef>
                <a:spcPts val="5"/>
              </a:spcBef>
            </a:pPr>
            <a:r>
              <a:rPr sz="1800" b="1" kern="0" spc="-2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Visual</a:t>
            </a:r>
            <a:r>
              <a:rPr sz="1800" b="1" kern="0" spc="18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Logic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1620" algn="l" rtl="0" eaLnBrk="0">
              <a:lnSpc>
                <a:spcPct val="117000"/>
              </a:lnSpc>
              <a:spcBef>
                <a:spcPts val="625"/>
              </a:spcBef>
            </a:pPr>
            <a:r>
              <a:rPr sz="1200" kern="0" spc="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从参数页转向商业传</a:t>
            </a:r>
            <a:r>
              <a:rPr sz="1200" kern="0" spc="-1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播：让</a:t>
            </a:r>
            <a:r>
              <a:rPr sz="1200" kern="0" spc="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200" kern="0" spc="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精度、稳定、可靠通</a:t>
            </a:r>
            <a:r>
              <a:rPr sz="1200" kern="0" spc="-1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过场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2890" indent="4445" algn="l" rtl="0" eaLnBrk="0">
              <a:lnSpc>
                <a:spcPct val="117000"/>
              </a:lnSpc>
              <a:spcBef>
                <a:spcPts val="80"/>
              </a:spcBef>
            </a:pPr>
            <a:r>
              <a:rPr sz="1200" kern="0" spc="-1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景、光线和产品细节被快速</a:t>
            </a:r>
            <a:r>
              <a:rPr sz="1200" kern="0" spc="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200" kern="0" spc="-6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6524625" y="2876550"/>
            <a:ext cx="2419350" cy="1762125"/>
          </a:xfrm>
          <a:prstGeom prst="rect">
            <a:avLst/>
          </a:prstGeom>
          <a:solidFill>
            <a:srgbClr val="FFFFFF">
              <a:alpha val="745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2890" algn="l" rtl="0" eaLnBrk="0">
              <a:lnSpc>
                <a:spcPct val="90000"/>
              </a:lnSpc>
              <a:spcBef>
                <a:spcPts val="5"/>
              </a:spcBef>
            </a:pPr>
            <a:r>
              <a:rPr sz="1800" b="1" kern="0" spc="-2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Color System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5270" algn="l" rtl="0" eaLnBrk="0">
              <a:lnSpc>
                <a:spcPct val="118000"/>
              </a:lnSpc>
              <a:spcBef>
                <a:spcPts val="5"/>
              </a:spcBef>
            </a:pPr>
            <a:r>
              <a:rPr sz="1200" kern="0" spc="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科技蓝、深灰、荧光点</a:t>
            </a:r>
            <a:r>
              <a:rPr sz="1200" kern="0" spc="-1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缀。</a:t>
            </a:r>
            <a:r>
              <a:rPr sz="1200" kern="0" spc="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200" kern="0" spc="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用冷色建立专业可信</a:t>
            </a:r>
            <a:r>
              <a:rPr sz="1200" kern="0" spc="-1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，用高     </a:t>
            </a:r>
            <a:r>
              <a:rPr sz="1200" kern="0" spc="-3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对比强化硬件广告感。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645772" y="503993"/>
            <a:ext cx="1754504" cy="1280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85"/>
              </a:lnSpc>
            </a:pPr>
            <a:r>
              <a:rPr sz="900" b="1" kern="0" spc="11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900" b="1" kern="0" spc="-8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sz="900" b="1" kern="0" spc="23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3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</a:t>
            </a:r>
            <a:r>
              <a:rPr sz="900" b="1" kern="0" spc="1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STRATEGY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" indent="13970" algn="l" rtl="0" eaLnBrk="0">
              <a:lnSpc>
                <a:spcPct val="90000"/>
              </a:lnSpc>
              <a:spcBef>
                <a:spcPts val="0"/>
              </a:spcBef>
            </a:pPr>
            <a:r>
              <a:rPr sz="3000" b="1" kern="0" spc="-5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</a:t>
            </a:r>
            <a:r>
              <a:rPr sz="3000" b="1" kern="0" spc="-1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3000" b="1" kern="0" spc="-4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Strategy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Marketin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 Visual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1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</a:t>
            </a:r>
            <a:r>
              <a:rPr sz="900" kern="0" spc="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636428" y="5132609"/>
            <a:ext cx="2453004" cy="648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270" algn="l" rtl="0" eaLnBrk="0">
              <a:lnSpc>
                <a:spcPct val="126000"/>
              </a:lnSpc>
            </a:pPr>
            <a:r>
              <a:rPr sz="1100" kern="0" spc="2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关键词、方向和色彩系统统一后，后续</a:t>
            </a:r>
            <a:r>
              <a:rPr sz="1100" kern="0" spc="2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海报、场景和本地化版本才能形成品牌</a:t>
            </a:r>
            <a:r>
              <a:rPr sz="1100" kern="0" spc="-4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系统。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7513319" y="2218944"/>
            <a:ext cx="1308100" cy="393700"/>
          </a:xfrm>
          <a:prstGeom prst="rect">
            <a:avLst/>
          </a:prstGeom>
          <a:solidFill>
            <a:srgbClr val="12C8F4">
              <a:alpha val="1647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1605" algn="l" rtl="0" eaLnBrk="0">
              <a:lnSpc>
                <a:spcPct val="79000"/>
              </a:lnSpc>
              <a:spcBef>
                <a:spcPts val="5"/>
              </a:spcBef>
            </a:pPr>
            <a:r>
              <a:rPr sz="1000" b="1" kern="0" spc="20" dirty="0">
                <a:solidFill>
                  <a:srgbClr val="DFF8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PROFESSIONAL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6199632" y="2218944"/>
            <a:ext cx="1222248" cy="393191"/>
            <a:chOff x="0" y="0"/>
            <a:chExt cx="1222248" cy="393191"/>
          </a:xfrm>
        </p:grpSpPr>
        <p:pic>
          <p:nvPicPr>
            <p:cNvPr id="170" name="picture 17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222248" cy="393191"/>
            </a:xfrm>
            <a:prstGeom prst="rect">
              <a:avLst/>
            </a:prstGeom>
          </p:spPr>
        </p:pic>
        <p:sp>
          <p:nvSpPr>
            <p:cNvPr id="172" name="textbox 172"/>
            <p:cNvSpPr/>
            <p:nvPr/>
          </p:nvSpPr>
          <p:spPr>
            <a:xfrm>
              <a:off x="-12700" y="-12700"/>
              <a:ext cx="1247775" cy="4343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</a:pPr>
              <a:endParaRPr sz="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48590" algn="l" rtl="0" eaLnBrk="0">
                <a:lnSpc>
                  <a:spcPct val="79000"/>
                </a:lnSpc>
                <a:spcBef>
                  <a:spcPts val="5"/>
                </a:spcBef>
              </a:pPr>
              <a:r>
                <a:rPr sz="1000" b="1" kern="0" spc="20" dirty="0">
                  <a:solidFill>
                    <a:srgbClr val="DFF8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TECHNOLOGY</a:t>
              </a:r>
              <a:endParaRPr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5029200" y="2218944"/>
            <a:ext cx="1078991" cy="393191"/>
            <a:chOff x="0" y="0"/>
            <a:chExt cx="1078991" cy="393191"/>
          </a:xfrm>
        </p:grpSpPr>
        <p:pic>
          <p:nvPicPr>
            <p:cNvPr id="174" name="picture 17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078991" cy="393191"/>
            </a:xfrm>
            <a:prstGeom prst="rect">
              <a:avLst/>
            </a:prstGeom>
          </p:spPr>
        </p:pic>
        <p:sp>
          <p:nvSpPr>
            <p:cNvPr id="176" name="textbox 176"/>
            <p:cNvSpPr/>
            <p:nvPr/>
          </p:nvSpPr>
          <p:spPr>
            <a:xfrm>
              <a:off x="-12700" y="-12700"/>
              <a:ext cx="1104900" cy="4349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</a:pPr>
              <a:endParaRPr sz="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3035" algn="l" rtl="0" eaLnBrk="0">
                <a:lnSpc>
                  <a:spcPct val="78000"/>
                </a:lnSpc>
                <a:spcBef>
                  <a:spcPts val="5"/>
                </a:spcBef>
              </a:pPr>
              <a:r>
                <a:rPr sz="1000" b="1" kern="0" spc="20" dirty="0">
                  <a:solidFill>
                    <a:srgbClr val="DFF8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RELIABILI</a:t>
              </a:r>
              <a:r>
                <a:rPr sz="1000" b="1" kern="0" spc="10" dirty="0">
                  <a:solidFill>
                    <a:srgbClr val="DFF8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TY</a:t>
              </a:r>
              <a:endParaRPr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78" name="textbox 178"/>
          <p:cNvSpPr/>
          <p:nvPr/>
        </p:nvSpPr>
        <p:spPr>
          <a:xfrm>
            <a:off x="3922776" y="2218944"/>
            <a:ext cx="1012189" cy="393700"/>
          </a:xfrm>
          <a:prstGeom prst="rect">
            <a:avLst/>
          </a:prstGeom>
          <a:solidFill>
            <a:srgbClr val="12C8F4">
              <a:alpha val="9411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0" algn="l" rtl="0" eaLnBrk="0">
              <a:lnSpc>
                <a:spcPct val="79000"/>
              </a:lnSpc>
              <a:spcBef>
                <a:spcPts val="5"/>
              </a:spcBef>
            </a:pPr>
            <a:r>
              <a:rPr sz="1000" b="1" kern="0" spc="10" dirty="0">
                <a:solidFill>
                  <a:srgbClr val="DFF8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PRECISION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0" name="picture 1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47700" y="1952625"/>
            <a:ext cx="1714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 1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4" name="rect 184"/>
          <p:cNvSpPr/>
          <p:nvPr/>
        </p:nvSpPr>
        <p:spPr>
          <a:xfrm>
            <a:off x="0" y="0"/>
            <a:ext cx="12191701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86" name="picture 1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286250" y="1123950"/>
            <a:ext cx="1714500" cy="2152650"/>
          </a:xfrm>
          <a:prstGeom prst="rect">
            <a:avLst/>
          </a:prstGeom>
        </p:spPr>
      </p:pic>
      <p:pic>
        <p:nvPicPr>
          <p:cNvPr id="188" name="picture 1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286250" y="3581400"/>
            <a:ext cx="1714500" cy="2152650"/>
          </a:xfrm>
          <a:prstGeom prst="rect">
            <a:avLst/>
          </a:prstGeom>
        </p:spPr>
      </p:pic>
      <p:pic>
        <p:nvPicPr>
          <p:cNvPr id="190" name="picture 1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77050" y="1123950"/>
            <a:ext cx="1714500" cy="2152650"/>
          </a:xfrm>
          <a:prstGeom prst="rect">
            <a:avLst/>
          </a:prstGeom>
        </p:spPr>
      </p:pic>
      <p:pic>
        <p:nvPicPr>
          <p:cNvPr id="192" name="picture 1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77050" y="3581400"/>
            <a:ext cx="1714500" cy="2152650"/>
          </a:xfrm>
          <a:prstGeom prst="rect">
            <a:avLst/>
          </a:prstGeom>
        </p:spPr>
      </p:pic>
      <p:pic>
        <p:nvPicPr>
          <p:cNvPr id="194" name="picture 1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467850" y="1123950"/>
            <a:ext cx="1714500" cy="2152650"/>
          </a:xfrm>
          <a:prstGeom prst="rect">
            <a:avLst/>
          </a:prstGeom>
        </p:spPr>
      </p:pic>
      <p:sp>
        <p:nvSpPr>
          <p:cNvPr id="196" name="textbox 196"/>
          <p:cNvSpPr/>
          <p:nvPr/>
        </p:nvSpPr>
        <p:spPr>
          <a:xfrm>
            <a:off x="639191" y="503993"/>
            <a:ext cx="2374900" cy="8407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algn="l" rtl="0" eaLnBrk="0">
              <a:lnSpc>
                <a:spcPts val="1285"/>
              </a:lnSpc>
            </a:pP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900" b="1" kern="0" spc="-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sz="900" b="1" kern="0" spc="24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b="1" kern="0" spc="4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POSTER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SYSTEM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0"/>
              </a:spcBef>
            </a:pPr>
            <a:r>
              <a:rPr sz="3000" b="1" kern="0" spc="-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产品海报系统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8" name="textbox 198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Marketin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0" name="textbox 200"/>
          <p:cNvSpPr/>
          <p:nvPr/>
        </p:nvSpPr>
        <p:spPr>
          <a:xfrm>
            <a:off x="637286" y="5132323"/>
            <a:ext cx="2475864" cy="648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87000"/>
              </a:lnSpc>
            </a:pPr>
            <a:r>
              <a:rPr sz="1100" kern="0" spc="-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主KV、功能卖点海报、</a:t>
            </a:r>
            <a:r>
              <a:rPr sz="1100" kern="0" spc="-3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电池、激光、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4445" algn="l" rtl="0" eaLnBrk="0">
              <a:lnSpc>
                <a:spcPct val="140000"/>
              </a:lnSpc>
              <a:spcBef>
                <a:spcPts val="55"/>
              </a:spcBef>
            </a:pPr>
            <a:r>
              <a:rPr sz="1100" kern="0" spc="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Camera</a:t>
            </a: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100" kern="0" spc="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</a:t>
            </a: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kern="0" spc="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Stake</a:t>
            </a: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等信息模块保持统</a:t>
            </a:r>
            <a:r>
              <a:rPr sz="1100" kern="0" spc="1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一排版，形成品牌化产品海报系</a:t>
            </a:r>
            <a:r>
              <a:rPr sz="1100" kern="0" spc="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统。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2" name="picture 20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47700" y="1543050"/>
            <a:ext cx="1714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 20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6" name="rect 206"/>
          <p:cNvSpPr/>
          <p:nvPr/>
        </p:nvSpPr>
        <p:spPr>
          <a:xfrm>
            <a:off x="0" y="0"/>
            <a:ext cx="12191701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08" name="picture 2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924300" y="876300"/>
            <a:ext cx="2362200" cy="4762500"/>
          </a:xfrm>
          <a:prstGeom prst="rect">
            <a:avLst/>
          </a:prstGeom>
        </p:spPr>
      </p:pic>
      <p:pic>
        <p:nvPicPr>
          <p:cNvPr id="210" name="picture 2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48450" y="1895475"/>
            <a:ext cx="2171700" cy="2724149"/>
          </a:xfrm>
          <a:prstGeom prst="rect">
            <a:avLst/>
          </a:prstGeom>
        </p:spPr>
      </p:pic>
      <p:pic>
        <p:nvPicPr>
          <p:cNvPr id="212" name="picture 2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277350" y="1895475"/>
            <a:ext cx="2171700" cy="2724149"/>
          </a:xfrm>
          <a:prstGeom prst="rect">
            <a:avLst/>
          </a:prstGeom>
        </p:spPr>
      </p:pic>
      <p:sp>
        <p:nvSpPr>
          <p:cNvPr id="214" name="textbox 214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Marketin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6" name="textbox 216"/>
          <p:cNvSpPr/>
          <p:nvPr/>
        </p:nvSpPr>
        <p:spPr>
          <a:xfrm>
            <a:off x="640715" y="920750"/>
            <a:ext cx="2687320" cy="4235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3000" b="1" kern="0" spc="-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海外本地化视觉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3924668" y="5773699"/>
            <a:ext cx="5676265" cy="1981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355"/>
              </a:lnSpc>
            </a:pPr>
            <a:r>
              <a:rPr sz="1000" kern="0" spc="0" dirty="0">
                <a:solidFill>
                  <a:srgbClr val="78839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English</a:t>
            </a:r>
            <a:r>
              <a:rPr sz="1000" kern="0" spc="10" dirty="0">
                <a:solidFill>
                  <a:srgbClr val="78839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</a:t>
            </a:r>
            <a:r>
              <a:rPr sz="1000" kern="0" spc="0" dirty="0">
                <a:solidFill>
                  <a:srgbClr val="78839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French</a:t>
            </a:r>
            <a:r>
              <a:rPr sz="1000" kern="0" spc="10" dirty="0">
                <a:solidFill>
                  <a:srgbClr val="78839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</a:t>
            </a:r>
            <a:r>
              <a:rPr sz="1000" kern="0" spc="0" dirty="0">
                <a:solidFill>
                  <a:srgbClr val="78839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Arabic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0" name="textbox 220"/>
          <p:cNvSpPr/>
          <p:nvPr/>
        </p:nvSpPr>
        <p:spPr>
          <a:xfrm>
            <a:off x="636000" y="5361209"/>
            <a:ext cx="2453639" cy="419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0795" algn="l" rtl="0" eaLnBrk="0">
              <a:lnSpc>
                <a:spcPct val="121000"/>
              </a:lnSpc>
            </a:pP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同一视觉框架下适配不同语言版本</a:t>
            </a:r>
            <a:r>
              <a:rPr sz="1100" kern="0" spc="1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，处</a:t>
            </a:r>
            <a:r>
              <a:rPr sz="1100" kern="0" spc="1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理文本长度、阅读方向和版面重心</a:t>
            </a:r>
            <a:r>
              <a:rPr sz="1100" kern="0" spc="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2" name="textbox 222"/>
          <p:cNvSpPr/>
          <p:nvPr/>
        </p:nvSpPr>
        <p:spPr>
          <a:xfrm>
            <a:off x="645772" y="503993"/>
            <a:ext cx="2315845" cy="189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85"/>
              </a:lnSpc>
            </a:pPr>
            <a:r>
              <a:rPr sz="900" b="1" kern="0" spc="1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900" b="1" kern="0" spc="-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900" b="1" kern="0" spc="24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OVERSEAS</a:t>
            </a:r>
            <a:r>
              <a:rPr sz="900" b="1" kern="0" spc="4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ALIZATION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4" name="picture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47700" y="1543050"/>
            <a:ext cx="1714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ct 2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28" name="picture 2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1701" cy="6858000"/>
          </a:xfrm>
          <a:prstGeom prst="rect">
            <a:avLst/>
          </a:prstGeom>
        </p:spPr>
      </p:pic>
      <p:graphicFrame>
        <p:nvGraphicFramePr>
          <p:cNvPr id="230" name="table 230"/>
          <p:cNvGraphicFramePr>
            <a:graphicFrameLocks noGrp="1"/>
          </p:cNvGraphicFramePr>
          <p:nvPr/>
        </p:nvGraphicFramePr>
        <p:xfrm>
          <a:off x="6524625" y="1419225"/>
          <a:ext cx="2419350" cy="1476375"/>
        </p:xfrm>
        <a:graphic>
          <a:graphicData uri="http://schemas.openxmlformats.org/drawingml/2006/table">
            <a:tbl>
              <a:tblPr/>
              <a:tblGrid>
                <a:gridCol w="2419350"/>
              </a:tblGrid>
              <a:tr h="14636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2" name="table 232"/>
          <p:cNvGraphicFramePr>
            <a:graphicFrameLocks noGrp="1"/>
          </p:cNvGraphicFramePr>
          <p:nvPr/>
        </p:nvGraphicFramePr>
        <p:xfrm>
          <a:off x="6524625" y="3524250"/>
          <a:ext cx="2419350" cy="1476375"/>
        </p:xfrm>
        <a:graphic>
          <a:graphicData uri="http://schemas.openxmlformats.org/drawingml/2006/table">
            <a:tbl>
              <a:tblPr/>
              <a:tblGrid>
                <a:gridCol w="2419350"/>
              </a:tblGrid>
              <a:tr h="14636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34" name="picture 2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24300" y="1419225"/>
            <a:ext cx="2409825" cy="1476375"/>
          </a:xfrm>
          <a:prstGeom prst="rect">
            <a:avLst/>
          </a:prstGeom>
        </p:spPr>
      </p:pic>
      <p:pic>
        <p:nvPicPr>
          <p:cNvPr id="236" name="picture 2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134475" y="1419225"/>
            <a:ext cx="2409825" cy="1476375"/>
          </a:xfrm>
          <a:prstGeom prst="rect">
            <a:avLst/>
          </a:prstGeom>
        </p:spPr>
      </p:pic>
      <p:pic>
        <p:nvPicPr>
          <p:cNvPr id="238" name="picture 2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924300" y="3524250"/>
            <a:ext cx="2409825" cy="1476375"/>
          </a:xfrm>
          <a:prstGeom prst="rect">
            <a:avLst/>
          </a:prstGeom>
        </p:spPr>
      </p:pic>
      <p:pic>
        <p:nvPicPr>
          <p:cNvPr id="240" name="picture 2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134475" y="3524250"/>
            <a:ext cx="2409825" cy="1476375"/>
          </a:xfrm>
          <a:prstGeom prst="rect">
            <a:avLst/>
          </a:prstGeom>
        </p:spPr>
      </p:pic>
      <p:pic>
        <p:nvPicPr>
          <p:cNvPr id="242" name="picture 2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534150" y="3533775"/>
            <a:ext cx="2400300" cy="1459957"/>
          </a:xfrm>
          <a:prstGeom prst="rect">
            <a:avLst/>
          </a:prstGeom>
        </p:spPr>
      </p:pic>
      <p:pic>
        <p:nvPicPr>
          <p:cNvPr id="244" name="picture 2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534150" y="1428750"/>
            <a:ext cx="2400300" cy="1459952"/>
          </a:xfrm>
          <a:prstGeom prst="rect">
            <a:avLst/>
          </a:prstGeom>
        </p:spPr>
      </p:pic>
      <p:sp>
        <p:nvSpPr>
          <p:cNvPr id="246" name="textbox 246"/>
          <p:cNvSpPr/>
          <p:nvPr/>
        </p:nvSpPr>
        <p:spPr>
          <a:xfrm>
            <a:off x="639191" y="503993"/>
            <a:ext cx="2470150" cy="8407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algn="l" rtl="0" eaLnBrk="0">
              <a:lnSpc>
                <a:spcPts val="1285"/>
              </a:lnSpc>
            </a:pPr>
            <a:r>
              <a:rPr sz="900" b="1" kern="0" spc="13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900" b="1" kern="0" spc="-12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3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sz="900" b="1" kern="0" spc="24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3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2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3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REAL</a:t>
            </a:r>
            <a:r>
              <a:rPr sz="900" b="1" kern="0" spc="28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3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WORKING</a:t>
            </a:r>
            <a:r>
              <a:rPr sz="900" b="1" kern="0" spc="1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3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sz="900" b="1" kern="0" spc="12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CENARIOS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0"/>
              </a:spcBef>
            </a:pPr>
            <a:r>
              <a:rPr sz="3000" b="1" kern="0" spc="-1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产品工作场景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8" name="textbox 248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Marketin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 Visual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1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</a:t>
            </a:r>
            <a:r>
              <a:rPr sz="900" kern="0" spc="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0" name="textbox 250"/>
          <p:cNvSpPr/>
          <p:nvPr/>
        </p:nvSpPr>
        <p:spPr>
          <a:xfrm>
            <a:off x="637714" y="5361066"/>
            <a:ext cx="2451735" cy="419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1000"/>
              </a:lnSpc>
            </a:pPr>
            <a:r>
              <a:rPr sz="1100" kern="0" spc="2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用真实工程场景增强产品可信度，让工</a:t>
            </a:r>
            <a:r>
              <a:rPr sz="1100" kern="0" spc="1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业设备从参数展示进入应</a:t>
            </a:r>
            <a:r>
              <a:rPr sz="1100" kern="0" spc="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用叙事。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2" name="textbox 252"/>
          <p:cNvSpPr/>
          <p:nvPr/>
        </p:nvSpPr>
        <p:spPr>
          <a:xfrm>
            <a:off x="6517907" y="3016250"/>
            <a:ext cx="975360" cy="2241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500" b="1" kern="0" spc="-1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地下停车场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4" name="textbox 254"/>
          <p:cNvSpPr/>
          <p:nvPr/>
        </p:nvSpPr>
        <p:spPr>
          <a:xfrm>
            <a:off x="9120976" y="5121275"/>
            <a:ext cx="785494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500" b="1" kern="0" spc="-1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铁路工程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6" name="textbox 256"/>
          <p:cNvSpPr/>
          <p:nvPr/>
        </p:nvSpPr>
        <p:spPr>
          <a:xfrm>
            <a:off x="9120405" y="3017964"/>
            <a:ext cx="785494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500" b="1" kern="0" spc="-1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桥梁检测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8" name="textbox 258"/>
          <p:cNvSpPr/>
          <p:nvPr/>
        </p:nvSpPr>
        <p:spPr>
          <a:xfrm>
            <a:off x="6516955" y="5123179"/>
            <a:ext cx="785494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500" b="1" kern="0" spc="-1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水下测深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0" name="textbox 260"/>
          <p:cNvSpPr/>
          <p:nvPr/>
        </p:nvSpPr>
        <p:spPr>
          <a:xfrm>
            <a:off x="3923029" y="5122798"/>
            <a:ext cx="776605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500" b="1" kern="0" spc="-2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电力巡检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2" name="textbox 262"/>
          <p:cNvSpPr/>
          <p:nvPr/>
        </p:nvSpPr>
        <p:spPr>
          <a:xfrm>
            <a:off x="3922077" y="3015678"/>
            <a:ext cx="396240" cy="2241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500" b="1" kern="0" spc="-3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隧道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4" name="picture 2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47700" y="1543050"/>
            <a:ext cx="1714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 2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8" name="rect 268"/>
          <p:cNvSpPr/>
          <p:nvPr/>
        </p:nvSpPr>
        <p:spPr>
          <a:xfrm>
            <a:off x="0" y="0"/>
            <a:ext cx="12191701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3924300" y="2428875"/>
            <a:ext cx="7620000" cy="2000250"/>
            <a:chOff x="0" y="0"/>
            <a:chExt cx="7620000" cy="2000250"/>
          </a:xfrm>
        </p:grpSpPr>
        <p:sp>
          <p:nvSpPr>
            <p:cNvPr id="270" name="path 270"/>
            <p:cNvSpPr/>
            <p:nvPr/>
          </p:nvSpPr>
          <p:spPr>
            <a:xfrm>
              <a:off x="0" y="0"/>
              <a:ext cx="7620000" cy="2000250"/>
            </a:xfrm>
            <a:custGeom>
              <a:avLst/>
              <a:gdLst/>
              <a:ahLst/>
              <a:cxnLst/>
              <a:rect l="0" t="0" r="0" b="0"/>
              <a:pathLst>
                <a:path w="12000" h="3150">
                  <a:moveTo>
                    <a:pt x="7" y="3000"/>
                  </a:moveTo>
                  <a:lnTo>
                    <a:pt x="7" y="150"/>
                  </a:lnTo>
                  <a:cubicBezTo>
                    <a:pt x="7" y="140"/>
                    <a:pt x="8" y="131"/>
                    <a:pt x="10" y="122"/>
                  </a:cubicBezTo>
                  <a:cubicBezTo>
                    <a:pt x="12" y="113"/>
                    <a:pt x="14" y="104"/>
                    <a:pt x="18" y="95"/>
                  </a:cubicBezTo>
                  <a:cubicBezTo>
                    <a:pt x="21" y="86"/>
                    <a:pt x="26" y="78"/>
                    <a:pt x="31" y="70"/>
                  </a:cubicBezTo>
                  <a:cubicBezTo>
                    <a:pt x="36" y="63"/>
                    <a:pt x="42" y="55"/>
                    <a:pt x="49" y="49"/>
                  </a:cubicBezTo>
                  <a:cubicBezTo>
                    <a:pt x="55" y="42"/>
                    <a:pt x="63" y="36"/>
                    <a:pt x="70" y="31"/>
                  </a:cubicBezTo>
                  <a:cubicBezTo>
                    <a:pt x="78" y="26"/>
                    <a:pt x="86" y="21"/>
                    <a:pt x="95" y="18"/>
                  </a:cubicBezTo>
                  <a:cubicBezTo>
                    <a:pt x="104" y="14"/>
                    <a:pt x="113" y="12"/>
                    <a:pt x="122" y="10"/>
                  </a:cubicBezTo>
                  <a:cubicBezTo>
                    <a:pt x="131" y="8"/>
                    <a:pt x="140" y="7"/>
                    <a:pt x="150" y="7"/>
                  </a:cubicBezTo>
                  <a:lnTo>
                    <a:pt x="2040" y="7"/>
                  </a:lnTo>
                  <a:cubicBezTo>
                    <a:pt x="2049" y="7"/>
                    <a:pt x="2058" y="8"/>
                    <a:pt x="2067" y="10"/>
                  </a:cubicBezTo>
                  <a:cubicBezTo>
                    <a:pt x="2076" y="12"/>
                    <a:pt x="2085" y="14"/>
                    <a:pt x="2094" y="18"/>
                  </a:cubicBezTo>
                  <a:cubicBezTo>
                    <a:pt x="2103" y="21"/>
                    <a:pt x="2111" y="26"/>
                    <a:pt x="2119" y="31"/>
                  </a:cubicBezTo>
                  <a:cubicBezTo>
                    <a:pt x="2126" y="36"/>
                    <a:pt x="2134" y="42"/>
                    <a:pt x="2140" y="49"/>
                  </a:cubicBezTo>
                  <a:cubicBezTo>
                    <a:pt x="2147" y="55"/>
                    <a:pt x="2153" y="63"/>
                    <a:pt x="2158" y="70"/>
                  </a:cubicBezTo>
                  <a:cubicBezTo>
                    <a:pt x="2163" y="78"/>
                    <a:pt x="2168" y="86"/>
                    <a:pt x="2171" y="95"/>
                  </a:cubicBezTo>
                  <a:cubicBezTo>
                    <a:pt x="2175" y="104"/>
                    <a:pt x="2177" y="113"/>
                    <a:pt x="2179" y="122"/>
                  </a:cubicBezTo>
                  <a:cubicBezTo>
                    <a:pt x="2181" y="131"/>
                    <a:pt x="2182" y="140"/>
                    <a:pt x="2182" y="150"/>
                  </a:cubicBezTo>
                  <a:lnTo>
                    <a:pt x="2182" y="3000"/>
                  </a:lnTo>
                  <a:cubicBezTo>
                    <a:pt x="2182" y="3009"/>
                    <a:pt x="2181" y="3018"/>
                    <a:pt x="2179" y="3027"/>
                  </a:cubicBezTo>
                  <a:cubicBezTo>
                    <a:pt x="2177" y="3036"/>
                    <a:pt x="2175" y="3045"/>
                    <a:pt x="2171" y="3054"/>
                  </a:cubicBezTo>
                  <a:cubicBezTo>
                    <a:pt x="2168" y="3063"/>
                    <a:pt x="2163" y="3071"/>
                    <a:pt x="2158" y="3079"/>
                  </a:cubicBezTo>
                  <a:cubicBezTo>
                    <a:pt x="2153" y="3086"/>
                    <a:pt x="2147" y="3094"/>
                    <a:pt x="2140" y="3100"/>
                  </a:cubicBezTo>
                  <a:cubicBezTo>
                    <a:pt x="2134" y="3107"/>
                    <a:pt x="2126" y="3113"/>
                    <a:pt x="2119" y="3118"/>
                  </a:cubicBezTo>
                  <a:cubicBezTo>
                    <a:pt x="2111" y="3123"/>
                    <a:pt x="2103" y="3128"/>
                    <a:pt x="2094" y="3131"/>
                  </a:cubicBezTo>
                  <a:cubicBezTo>
                    <a:pt x="2085" y="3135"/>
                    <a:pt x="2076" y="3137"/>
                    <a:pt x="2067" y="3139"/>
                  </a:cubicBezTo>
                  <a:cubicBezTo>
                    <a:pt x="2058" y="3141"/>
                    <a:pt x="2049" y="3142"/>
                    <a:pt x="2040" y="3142"/>
                  </a:cubicBezTo>
                  <a:lnTo>
                    <a:pt x="150" y="3142"/>
                  </a:lnTo>
                  <a:cubicBezTo>
                    <a:pt x="140" y="3142"/>
                    <a:pt x="131" y="3141"/>
                    <a:pt x="122" y="3139"/>
                  </a:cubicBezTo>
                  <a:cubicBezTo>
                    <a:pt x="113" y="3137"/>
                    <a:pt x="104" y="3135"/>
                    <a:pt x="95" y="3131"/>
                  </a:cubicBezTo>
                  <a:cubicBezTo>
                    <a:pt x="86" y="3128"/>
                    <a:pt x="78" y="3123"/>
                    <a:pt x="70" y="3118"/>
                  </a:cubicBezTo>
                  <a:cubicBezTo>
                    <a:pt x="63" y="3113"/>
                    <a:pt x="55" y="3107"/>
                    <a:pt x="49" y="3100"/>
                  </a:cubicBezTo>
                  <a:cubicBezTo>
                    <a:pt x="42" y="3094"/>
                    <a:pt x="36" y="3086"/>
                    <a:pt x="31" y="3079"/>
                  </a:cubicBezTo>
                  <a:cubicBezTo>
                    <a:pt x="26" y="3071"/>
                    <a:pt x="21" y="3063"/>
                    <a:pt x="18" y="3054"/>
                  </a:cubicBezTo>
                  <a:cubicBezTo>
                    <a:pt x="14" y="3045"/>
                    <a:pt x="12" y="3036"/>
                    <a:pt x="10" y="3027"/>
                  </a:cubicBezTo>
                  <a:cubicBezTo>
                    <a:pt x="8" y="3018"/>
                    <a:pt x="7" y="3009"/>
                    <a:pt x="7" y="3000"/>
                  </a:cubicBezTo>
                  <a:moveTo>
                    <a:pt x="2467" y="3000"/>
                  </a:moveTo>
                  <a:lnTo>
                    <a:pt x="2467" y="150"/>
                  </a:lnTo>
                  <a:cubicBezTo>
                    <a:pt x="2467" y="140"/>
                    <a:pt x="2468" y="131"/>
                    <a:pt x="2470" y="122"/>
                  </a:cubicBezTo>
                  <a:cubicBezTo>
                    <a:pt x="2472" y="113"/>
                    <a:pt x="2474" y="104"/>
                    <a:pt x="2478" y="95"/>
                  </a:cubicBezTo>
                  <a:cubicBezTo>
                    <a:pt x="2481" y="86"/>
                    <a:pt x="2486" y="78"/>
                    <a:pt x="2491" y="70"/>
                  </a:cubicBezTo>
                  <a:cubicBezTo>
                    <a:pt x="2496" y="63"/>
                    <a:pt x="2502" y="55"/>
                    <a:pt x="2509" y="49"/>
                  </a:cubicBezTo>
                  <a:cubicBezTo>
                    <a:pt x="2515" y="42"/>
                    <a:pt x="2523" y="36"/>
                    <a:pt x="2530" y="31"/>
                  </a:cubicBezTo>
                  <a:cubicBezTo>
                    <a:pt x="2538" y="26"/>
                    <a:pt x="2546" y="21"/>
                    <a:pt x="2555" y="18"/>
                  </a:cubicBezTo>
                  <a:cubicBezTo>
                    <a:pt x="2564" y="14"/>
                    <a:pt x="2573" y="12"/>
                    <a:pt x="2582" y="10"/>
                  </a:cubicBezTo>
                  <a:cubicBezTo>
                    <a:pt x="2591" y="8"/>
                    <a:pt x="2600" y="7"/>
                    <a:pt x="2610" y="7"/>
                  </a:cubicBezTo>
                  <a:lnTo>
                    <a:pt x="4485" y="7"/>
                  </a:lnTo>
                  <a:cubicBezTo>
                    <a:pt x="4494" y="7"/>
                    <a:pt x="4503" y="8"/>
                    <a:pt x="4512" y="10"/>
                  </a:cubicBezTo>
                  <a:cubicBezTo>
                    <a:pt x="4521" y="12"/>
                    <a:pt x="4530" y="14"/>
                    <a:pt x="4539" y="18"/>
                  </a:cubicBezTo>
                  <a:cubicBezTo>
                    <a:pt x="4548" y="21"/>
                    <a:pt x="4556" y="26"/>
                    <a:pt x="4564" y="31"/>
                  </a:cubicBezTo>
                  <a:cubicBezTo>
                    <a:pt x="4571" y="36"/>
                    <a:pt x="4579" y="42"/>
                    <a:pt x="4585" y="49"/>
                  </a:cubicBezTo>
                  <a:cubicBezTo>
                    <a:pt x="4592" y="55"/>
                    <a:pt x="4598" y="63"/>
                    <a:pt x="4603" y="70"/>
                  </a:cubicBezTo>
                  <a:cubicBezTo>
                    <a:pt x="4608" y="78"/>
                    <a:pt x="4613" y="86"/>
                    <a:pt x="4616" y="95"/>
                  </a:cubicBezTo>
                  <a:cubicBezTo>
                    <a:pt x="4620" y="104"/>
                    <a:pt x="4622" y="113"/>
                    <a:pt x="4624" y="122"/>
                  </a:cubicBezTo>
                  <a:cubicBezTo>
                    <a:pt x="4626" y="131"/>
                    <a:pt x="4627" y="140"/>
                    <a:pt x="4627" y="150"/>
                  </a:cubicBezTo>
                  <a:lnTo>
                    <a:pt x="4627" y="3000"/>
                  </a:lnTo>
                  <a:cubicBezTo>
                    <a:pt x="4627" y="3009"/>
                    <a:pt x="4626" y="3018"/>
                    <a:pt x="4624" y="3027"/>
                  </a:cubicBezTo>
                  <a:cubicBezTo>
                    <a:pt x="4622" y="3036"/>
                    <a:pt x="4620" y="3045"/>
                    <a:pt x="4616" y="3054"/>
                  </a:cubicBezTo>
                  <a:cubicBezTo>
                    <a:pt x="4613" y="3063"/>
                    <a:pt x="4608" y="3071"/>
                    <a:pt x="4603" y="3079"/>
                  </a:cubicBezTo>
                  <a:cubicBezTo>
                    <a:pt x="4598" y="3086"/>
                    <a:pt x="4592" y="3094"/>
                    <a:pt x="4585" y="3100"/>
                  </a:cubicBezTo>
                  <a:cubicBezTo>
                    <a:pt x="4579" y="3107"/>
                    <a:pt x="4571" y="3113"/>
                    <a:pt x="4564" y="3118"/>
                  </a:cubicBezTo>
                  <a:cubicBezTo>
                    <a:pt x="4556" y="3123"/>
                    <a:pt x="4548" y="3128"/>
                    <a:pt x="4539" y="3131"/>
                  </a:cubicBezTo>
                  <a:cubicBezTo>
                    <a:pt x="4530" y="3135"/>
                    <a:pt x="4521" y="3137"/>
                    <a:pt x="4512" y="3139"/>
                  </a:cubicBezTo>
                  <a:cubicBezTo>
                    <a:pt x="4503" y="3141"/>
                    <a:pt x="4494" y="3142"/>
                    <a:pt x="4485" y="3142"/>
                  </a:cubicBezTo>
                  <a:lnTo>
                    <a:pt x="2610" y="3142"/>
                  </a:lnTo>
                  <a:cubicBezTo>
                    <a:pt x="2600" y="3142"/>
                    <a:pt x="2591" y="3141"/>
                    <a:pt x="2582" y="3139"/>
                  </a:cubicBezTo>
                  <a:cubicBezTo>
                    <a:pt x="2573" y="3137"/>
                    <a:pt x="2564" y="3135"/>
                    <a:pt x="2555" y="3131"/>
                  </a:cubicBezTo>
                  <a:cubicBezTo>
                    <a:pt x="2546" y="3128"/>
                    <a:pt x="2538" y="3123"/>
                    <a:pt x="2530" y="3118"/>
                  </a:cubicBezTo>
                  <a:cubicBezTo>
                    <a:pt x="2523" y="3113"/>
                    <a:pt x="2515" y="3107"/>
                    <a:pt x="2509" y="3100"/>
                  </a:cubicBezTo>
                  <a:cubicBezTo>
                    <a:pt x="2502" y="3094"/>
                    <a:pt x="2496" y="3086"/>
                    <a:pt x="2491" y="3079"/>
                  </a:cubicBezTo>
                  <a:cubicBezTo>
                    <a:pt x="2486" y="3071"/>
                    <a:pt x="2481" y="3063"/>
                    <a:pt x="2478" y="3054"/>
                  </a:cubicBezTo>
                  <a:cubicBezTo>
                    <a:pt x="2474" y="3045"/>
                    <a:pt x="2472" y="3036"/>
                    <a:pt x="2470" y="3027"/>
                  </a:cubicBezTo>
                  <a:cubicBezTo>
                    <a:pt x="2468" y="3018"/>
                    <a:pt x="2467" y="3009"/>
                    <a:pt x="2467" y="3000"/>
                  </a:cubicBezTo>
                  <a:moveTo>
                    <a:pt x="4912" y="3000"/>
                  </a:moveTo>
                  <a:lnTo>
                    <a:pt x="4912" y="150"/>
                  </a:lnTo>
                  <a:cubicBezTo>
                    <a:pt x="4912" y="140"/>
                    <a:pt x="4913" y="131"/>
                    <a:pt x="4915" y="122"/>
                  </a:cubicBezTo>
                  <a:cubicBezTo>
                    <a:pt x="4917" y="113"/>
                    <a:pt x="4919" y="104"/>
                    <a:pt x="4923" y="95"/>
                  </a:cubicBezTo>
                  <a:cubicBezTo>
                    <a:pt x="4926" y="86"/>
                    <a:pt x="4931" y="78"/>
                    <a:pt x="4936" y="70"/>
                  </a:cubicBezTo>
                  <a:cubicBezTo>
                    <a:pt x="4941" y="63"/>
                    <a:pt x="4947" y="55"/>
                    <a:pt x="4954" y="49"/>
                  </a:cubicBezTo>
                  <a:cubicBezTo>
                    <a:pt x="4960" y="42"/>
                    <a:pt x="4968" y="36"/>
                    <a:pt x="4975" y="31"/>
                  </a:cubicBezTo>
                  <a:cubicBezTo>
                    <a:pt x="4983" y="26"/>
                    <a:pt x="4991" y="21"/>
                    <a:pt x="5000" y="18"/>
                  </a:cubicBezTo>
                  <a:cubicBezTo>
                    <a:pt x="5009" y="14"/>
                    <a:pt x="5018" y="12"/>
                    <a:pt x="5027" y="10"/>
                  </a:cubicBezTo>
                  <a:cubicBezTo>
                    <a:pt x="5036" y="8"/>
                    <a:pt x="5045" y="7"/>
                    <a:pt x="5055" y="7"/>
                  </a:cubicBezTo>
                  <a:lnTo>
                    <a:pt x="6945" y="7"/>
                  </a:lnTo>
                  <a:cubicBezTo>
                    <a:pt x="6954" y="7"/>
                    <a:pt x="6963" y="8"/>
                    <a:pt x="6972" y="10"/>
                  </a:cubicBezTo>
                  <a:cubicBezTo>
                    <a:pt x="6981" y="12"/>
                    <a:pt x="6990" y="14"/>
                    <a:pt x="6999" y="18"/>
                  </a:cubicBezTo>
                  <a:cubicBezTo>
                    <a:pt x="7008" y="21"/>
                    <a:pt x="7016" y="26"/>
                    <a:pt x="7024" y="31"/>
                  </a:cubicBezTo>
                  <a:cubicBezTo>
                    <a:pt x="7031" y="36"/>
                    <a:pt x="7039" y="42"/>
                    <a:pt x="7045" y="49"/>
                  </a:cubicBezTo>
                  <a:cubicBezTo>
                    <a:pt x="7052" y="55"/>
                    <a:pt x="7058" y="63"/>
                    <a:pt x="7063" y="70"/>
                  </a:cubicBezTo>
                  <a:cubicBezTo>
                    <a:pt x="7068" y="78"/>
                    <a:pt x="7073" y="86"/>
                    <a:pt x="7076" y="95"/>
                  </a:cubicBezTo>
                  <a:cubicBezTo>
                    <a:pt x="7080" y="104"/>
                    <a:pt x="7082" y="113"/>
                    <a:pt x="7084" y="122"/>
                  </a:cubicBezTo>
                  <a:cubicBezTo>
                    <a:pt x="7086" y="131"/>
                    <a:pt x="7087" y="140"/>
                    <a:pt x="7087" y="150"/>
                  </a:cubicBezTo>
                  <a:lnTo>
                    <a:pt x="7087" y="3000"/>
                  </a:lnTo>
                  <a:cubicBezTo>
                    <a:pt x="7087" y="3009"/>
                    <a:pt x="7086" y="3018"/>
                    <a:pt x="7084" y="3027"/>
                  </a:cubicBezTo>
                  <a:cubicBezTo>
                    <a:pt x="7082" y="3036"/>
                    <a:pt x="7080" y="3045"/>
                    <a:pt x="7076" y="3054"/>
                  </a:cubicBezTo>
                  <a:cubicBezTo>
                    <a:pt x="7073" y="3063"/>
                    <a:pt x="7068" y="3071"/>
                    <a:pt x="7063" y="3079"/>
                  </a:cubicBezTo>
                  <a:cubicBezTo>
                    <a:pt x="7058" y="3086"/>
                    <a:pt x="7052" y="3094"/>
                    <a:pt x="7045" y="3100"/>
                  </a:cubicBezTo>
                  <a:cubicBezTo>
                    <a:pt x="7039" y="3107"/>
                    <a:pt x="7031" y="3113"/>
                    <a:pt x="7024" y="3118"/>
                  </a:cubicBezTo>
                  <a:cubicBezTo>
                    <a:pt x="7016" y="3123"/>
                    <a:pt x="7008" y="3128"/>
                    <a:pt x="6999" y="3131"/>
                  </a:cubicBezTo>
                  <a:cubicBezTo>
                    <a:pt x="6990" y="3135"/>
                    <a:pt x="6981" y="3137"/>
                    <a:pt x="6972" y="3139"/>
                  </a:cubicBezTo>
                  <a:cubicBezTo>
                    <a:pt x="6963" y="3141"/>
                    <a:pt x="6954" y="3142"/>
                    <a:pt x="6945" y="3142"/>
                  </a:cubicBezTo>
                  <a:lnTo>
                    <a:pt x="5055" y="3142"/>
                  </a:lnTo>
                  <a:cubicBezTo>
                    <a:pt x="5045" y="3142"/>
                    <a:pt x="5036" y="3141"/>
                    <a:pt x="5027" y="3139"/>
                  </a:cubicBezTo>
                  <a:cubicBezTo>
                    <a:pt x="5018" y="3137"/>
                    <a:pt x="5009" y="3135"/>
                    <a:pt x="5000" y="3131"/>
                  </a:cubicBezTo>
                  <a:cubicBezTo>
                    <a:pt x="4991" y="3128"/>
                    <a:pt x="4983" y="3123"/>
                    <a:pt x="4975" y="3118"/>
                  </a:cubicBezTo>
                  <a:cubicBezTo>
                    <a:pt x="4968" y="3113"/>
                    <a:pt x="4960" y="3107"/>
                    <a:pt x="4954" y="3100"/>
                  </a:cubicBezTo>
                  <a:cubicBezTo>
                    <a:pt x="4947" y="3094"/>
                    <a:pt x="4941" y="3086"/>
                    <a:pt x="4936" y="3079"/>
                  </a:cubicBezTo>
                  <a:cubicBezTo>
                    <a:pt x="4931" y="3071"/>
                    <a:pt x="4926" y="3063"/>
                    <a:pt x="4923" y="3054"/>
                  </a:cubicBezTo>
                  <a:cubicBezTo>
                    <a:pt x="4919" y="3045"/>
                    <a:pt x="4917" y="3036"/>
                    <a:pt x="4915" y="3027"/>
                  </a:cubicBezTo>
                  <a:cubicBezTo>
                    <a:pt x="4913" y="3018"/>
                    <a:pt x="4912" y="3009"/>
                    <a:pt x="4912" y="3000"/>
                  </a:cubicBezTo>
                  <a:moveTo>
                    <a:pt x="7372" y="3000"/>
                  </a:moveTo>
                  <a:lnTo>
                    <a:pt x="7372" y="150"/>
                  </a:lnTo>
                  <a:cubicBezTo>
                    <a:pt x="7372" y="140"/>
                    <a:pt x="7373" y="131"/>
                    <a:pt x="7375" y="122"/>
                  </a:cubicBezTo>
                  <a:cubicBezTo>
                    <a:pt x="7377" y="113"/>
                    <a:pt x="7379" y="104"/>
                    <a:pt x="7383" y="95"/>
                  </a:cubicBezTo>
                  <a:cubicBezTo>
                    <a:pt x="7386" y="86"/>
                    <a:pt x="7391" y="78"/>
                    <a:pt x="7396" y="70"/>
                  </a:cubicBezTo>
                  <a:cubicBezTo>
                    <a:pt x="7401" y="63"/>
                    <a:pt x="7407" y="55"/>
                    <a:pt x="7414" y="49"/>
                  </a:cubicBezTo>
                  <a:cubicBezTo>
                    <a:pt x="7420" y="42"/>
                    <a:pt x="7428" y="36"/>
                    <a:pt x="7435" y="31"/>
                  </a:cubicBezTo>
                  <a:cubicBezTo>
                    <a:pt x="7443" y="26"/>
                    <a:pt x="7451" y="21"/>
                    <a:pt x="7460" y="18"/>
                  </a:cubicBezTo>
                  <a:cubicBezTo>
                    <a:pt x="7469" y="14"/>
                    <a:pt x="7478" y="12"/>
                    <a:pt x="7487" y="10"/>
                  </a:cubicBezTo>
                  <a:cubicBezTo>
                    <a:pt x="7496" y="8"/>
                    <a:pt x="7505" y="7"/>
                    <a:pt x="7515" y="7"/>
                  </a:cubicBezTo>
                  <a:lnTo>
                    <a:pt x="9390" y="7"/>
                  </a:lnTo>
                  <a:cubicBezTo>
                    <a:pt x="9399" y="7"/>
                    <a:pt x="9408" y="8"/>
                    <a:pt x="9417" y="10"/>
                  </a:cubicBezTo>
                  <a:cubicBezTo>
                    <a:pt x="9426" y="12"/>
                    <a:pt x="9435" y="14"/>
                    <a:pt x="9444" y="18"/>
                  </a:cubicBezTo>
                  <a:cubicBezTo>
                    <a:pt x="9453" y="21"/>
                    <a:pt x="9461" y="26"/>
                    <a:pt x="9469" y="31"/>
                  </a:cubicBezTo>
                  <a:cubicBezTo>
                    <a:pt x="9476" y="36"/>
                    <a:pt x="9484" y="42"/>
                    <a:pt x="9490" y="49"/>
                  </a:cubicBezTo>
                  <a:cubicBezTo>
                    <a:pt x="9497" y="55"/>
                    <a:pt x="9503" y="63"/>
                    <a:pt x="9508" y="70"/>
                  </a:cubicBezTo>
                  <a:cubicBezTo>
                    <a:pt x="9513" y="78"/>
                    <a:pt x="9518" y="86"/>
                    <a:pt x="9521" y="95"/>
                  </a:cubicBezTo>
                  <a:cubicBezTo>
                    <a:pt x="9525" y="104"/>
                    <a:pt x="9527" y="113"/>
                    <a:pt x="9529" y="122"/>
                  </a:cubicBezTo>
                  <a:cubicBezTo>
                    <a:pt x="9531" y="131"/>
                    <a:pt x="9532" y="140"/>
                    <a:pt x="9532" y="150"/>
                  </a:cubicBezTo>
                  <a:lnTo>
                    <a:pt x="9532" y="3000"/>
                  </a:lnTo>
                  <a:cubicBezTo>
                    <a:pt x="9532" y="3009"/>
                    <a:pt x="9531" y="3018"/>
                    <a:pt x="9529" y="3027"/>
                  </a:cubicBezTo>
                  <a:cubicBezTo>
                    <a:pt x="9527" y="3036"/>
                    <a:pt x="9525" y="3045"/>
                    <a:pt x="9521" y="3054"/>
                  </a:cubicBezTo>
                  <a:cubicBezTo>
                    <a:pt x="9518" y="3063"/>
                    <a:pt x="9513" y="3071"/>
                    <a:pt x="9508" y="3079"/>
                  </a:cubicBezTo>
                  <a:cubicBezTo>
                    <a:pt x="9503" y="3086"/>
                    <a:pt x="9497" y="3094"/>
                    <a:pt x="9490" y="3100"/>
                  </a:cubicBezTo>
                  <a:cubicBezTo>
                    <a:pt x="9484" y="3107"/>
                    <a:pt x="9476" y="3113"/>
                    <a:pt x="9469" y="3118"/>
                  </a:cubicBezTo>
                  <a:cubicBezTo>
                    <a:pt x="9461" y="3123"/>
                    <a:pt x="9453" y="3128"/>
                    <a:pt x="9444" y="3131"/>
                  </a:cubicBezTo>
                  <a:cubicBezTo>
                    <a:pt x="9435" y="3135"/>
                    <a:pt x="9426" y="3137"/>
                    <a:pt x="9417" y="3139"/>
                  </a:cubicBezTo>
                  <a:cubicBezTo>
                    <a:pt x="9408" y="3141"/>
                    <a:pt x="9399" y="3142"/>
                    <a:pt x="9390" y="3142"/>
                  </a:cubicBezTo>
                  <a:lnTo>
                    <a:pt x="7515" y="3142"/>
                  </a:lnTo>
                  <a:cubicBezTo>
                    <a:pt x="7505" y="3142"/>
                    <a:pt x="7496" y="3141"/>
                    <a:pt x="7487" y="3139"/>
                  </a:cubicBezTo>
                  <a:cubicBezTo>
                    <a:pt x="7478" y="3137"/>
                    <a:pt x="7469" y="3135"/>
                    <a:pt x="7460" y="3131"/>
                  </a:cubicBezTo>
                  <a:cubicBezTo>
                    <a:pt x="7451" y="3128"/>
                    <a:pt x="7443" y="3123"/>
                    <a:pt x="7435" y="3118"/>
                  </a:cubicBezTo>
                  <a:cubicBezTo>
                    <a:pt x="7428" y="3113"/>
                    <a:pt x="7420" y="3107"/>
                    <a:pt x="7414" y="3100"/>
                  </a:cubicBezTo>
                  <a:cubicBezTo>
                    <a:pt x="7407" y="3094"/>
                    <a:pt x="7401" y="3086"/>
                    <a:pt x="7396" y="3079"/>
                  </a:cubicBezTo>
                  <a:cubicBezTo>
                    <a:pt x="7391" y="3071"/>
                    <a:pt x="7386" y="3063"/>
                    <a:pt x="7383" y="3054"/>
                  </a:cubicBezTo>
                  <a:cubicBezTo>
                    <a:pt x="7379" y="3045"/>
                    <a:pt x="7377" y="3036"/>
                    <a:pt x="7375" y="3027"/>
                  </a:cubicBezTo>
                  <a:cubicBezTo>
                    <a:pt x="7373" y="3018"/>
                    <a:pt x="7372" y="3009"/>
                    <a:pt x="7372" y="3000"/>
                  </a:cubicBezTo>
                  <a:moveTo>
                    <a:pt x="9817" y="3000"/>
                  </a:moveTo>
                  <a:lnTo>
                    <a:pt x="9817" y="150"/>
                  </a:lnTo>
                  <a:cubicBezTo>
                    <a:pt x="9817" y="140"/>
                    <a:pt x="9818" y="131"/>
                    <a:pt x="9820" y="122"/>
                  </a:cubicBezTo>
                  <a:cubicBezTo>
                    <a:pt x="9822" y="113"/>
                    <a:pt x="9824" y="104"/>
                    <a:pt x="9828" y="95"/>
                  </a:cubicBezTo>
                  <a:cubicBezTo>
                    <a:pt x="9831" y="86"/>
                    <a:pt x="9836" y="78"/>
                    <a:pt x="9841" y="70"/>
                  </a:cubicBezTo>
                  <a:cubicBezTo>
                    <a:pt x="9846" y="63"/>
                    <a:pt x="9852" y="55"/>
                    <a:pt x="9859" y="49"/>
                  </a:cubicBezTo>
                  <a:cubicBezTo>
                    <a:pt x="9865" y="42"/>
                    <a:pt x="9873" y="36"/>
                    <a:pt x="9880" y="31"/>
                  </a:cubicBezTo>
                  <a:cubicBezTo>
                    <a:pt x="9888" y="26"/>
                    <a:pt x="9896" y="21"/>
                    <a:pt x="9905" y="18"/>
                  </a:cubicBezTo>
                  <a:cubicBezTo>
                    <a:pt x="9914" y="14"/>
                    <a:pt x="9923" y="12"/>
                    <a:pt x="9932" y="10"/>
                  </a:cubicBezTo>
                  <a:cubicBezTo>
                    <a:pt x="9941" y="8"/>
                    <a:pt x="9950" y="7"/>
                    <a:pt x="9960" y="7"/>
                  </a:cubicBezTo>
                  <a:lnTo>
                    <a:pt x="11850" y="7"/>
                  </a:lnTo>
                  <a:cubicBezTo>
                    <a:pt x="11859" y="7"/>
                    <a:pt x="11868" y="8"/>
                    <a:pt x="11877" y="10"/>
                  </a:cubicBezTo>
                  <a:cubicBezTo>
                    <a:pt x="11886" y="12"/>
                    <a:pt x="11895" y="14"/>
                    <a:pt x="11904" y="18"/>
                  </a:cubicBezTo>
                  <a:cubicBezTo>
                    <a:pt x="11913" y="21"/>
                    <a:pt x="11921" y="26"/>
                    <a:pt x="11929" y="31"/>
                  </a:cubicBezTo>
                  <a:cubicBezTo>
                    <a:pt x="11936" y="36"/>
                    <a:pt x="11944" y="42"/>
                    <a:pt x="11950" y="49"/>
                  </a:cubicBezTo>
                  <a:cubicBezTo>
                    <a:pt x="11957" y="55"/>
                    <a:pt x="11963" y="63"/>
                    <a:pt x="11968" y="70"/>
                  </a:cubicBezTo>
                  <a:cubicBezTo>
                    <a:pt x="11973" y="78"/>
                    <a:pt x="11978" y="86"/>
                    <a:pt x="11981" y="95"/>
                  </a:cubicBezTo>
                  <a:cubicBezTo>
                    <a:pt x="11985" y="104"/>
                    <a:pt x="11987" y="113"/>
                    <a:pt x="11989" y="122"/>
                  </a:cubicBezTo>
                  <a:cubicBezTo>
                    <a:pt x="11991" y="131"/>
                    <a:pt x="11992" y="140"/>
                    <a:pt x="11992" y="150"/>
                  </a:cubicBezTo>
                  <a:lnTo>
                    <a:pt x="11992" y="3000"/>
                  </a:lnTo>
                  <a:cubicBezTo>
                    <a:pt x="11992" y="3009"/>
                    <a:pt x="11991" y="3018"/>
                    <a:pt x="11989" y="3027"/>
                  </a:cubicBezTo>
                  <a:cubicBezTo>
                    <a:pt x="11987" y="3036"/>
                    <a:pt x="11985" y="3045"/>
                    <a:pt x="11981" y="3054"/>
                  </a:cubicBezTo>
                  <a:cubicBezTo>
                    <a:pt x="11978" y="3063"/>
                    <a:pt x="11973" y="3071"/>
                    <a:pt x="11968" y="3079"/>
                  </a:cubicBezTo>
                  <a:cubicBezTo>
                    <a:pt x="11963" y="3086"/>
                    <a:pt x="11957" y="3094"/>
                    <a:pt x="11950" y="3100"/>
                  </a:cubicBezTo>
                  <a:cubicBezTo>
                    <a:pt x="11944" y="3107"/>
                    <a:pt x="11936" y="3113"/>
                    <a:pt x="11929" y="3118"/>
                  </a:cubicBezTo>
                  <a:cubicBezTo>
                    <a:pt x="11921" y="3123"/>
                    <a:pt x="11913" y="3128"/>
                    <a:pt x="11904" y="3131"/>
                  </a:cubicBezTo>
                  <a:cubicBezTo>
                    <a:pt x="11895" y="3135"/>
                    <a:pt x="11886" y="3137"/>
                    <a:pt x="11877" y="3139"/>
                  </a:cubicBezTo>
                  <a:cubicBezTo>
                    <a:pt x="11868" y="3141"/>
                    <a:pt x="11859" y="3142"/>
                    <a:pt x="11850" y="3142"/>
                  </a:cubicBezTo>
                  <a:lnTo>
                    <a:pt x="9960" y="3142"/>
                  </a:lnTo>
                  <a:cubicBezTo>
                    <a:pt x="9950" y="3142"/>
                    <a:pt x="9941" y="3141"/>
                    <a:pt x="9932" y="3139"/>
                  </a:cubicBezTo>
                  <a:cubicBezTo>
                    <a:pt x="9923" y="3137"/>
                    <a:pt x="9914" y="3135"/>
                    <a:pt x="9905" y="3131"/>
                  </a:cubicBezTo>
                  <a:cubicBezTo>
                    <a:pt x="9896" y="3128"/>
                    <a:pt x="9888" y="3123"/>
                    <a:pt x="9880" y="3118"/>
                  </a:cubicBezTo>
                  <a:cubicBezTo>
                    <a:pt x="9873" y="3113"/>
                    <a:pt x="9865" y="3107"/>
                    <a:pt x="9859" y="3100"/>
                  </a:cubicBezTo>
                  <a:cubicBezTo>
                    <a:pt x="9852" y="3094"/>
                    <a:pt x="9846" y="3086"/>
                    <a:pt x="9841" y="3079"/>
                  </a:cubicBezTo>
                  <a:cubicBezTo>
                    <a:pt x="9836" y="3071"/>
                    <a:pt x="9831" y="3063"/>
                    <a:pt x="9828" y="3054"/>
                  </a:cubicBezTo>
                  <a:cubicBezTo>
                    <a:pt x="9824" y="3045"/>
                    <a:pt x="9822" y="3036"/>
                    <a:pt x="9820" y="3027"/>
                  </a:cubicBezTo>
                  <a:cubicBezTo>
                    <a:pt x="9818" y="3018"/>
                    <a:pt x="9817" y="3009"/>
                    <a:pt x="9817" y="3000"/>
                  </a:cubicBezTo>
                </a:path>
              </a:pathLst>
            </a:custGeom>
            <a:noFill/>
            <a:ln w="9525" cap="flat">
              <a:solidFill>
                <a:srgbClr val="DFE4EA"/>
              </a:solidFill>
              <a:prstDash val="solid"/>
              <a:miter lim="4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2" name="textbox 272"/>
            <p:cNvSpPr/>
            <p:nvPr/>
          </p:nvSpPr>
          <p:spPr>
            <a:xfrm>
              <a:off x="1803543" y="94818"/>
              <a:ext cx="873125" cy="12579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875" algn="l" rtl="0" eaLnBrk="0">
                <a:lnSpc>
                  <a:spcPts val="6330"/>
                </a:lnSpc>
              </a:pPr>
              <a:r>
                <a:rPr sz="4800" b="1" kern="0" spc="-60" dirty="0">
                  <a:solidFill>
                    <a:srgbClr val="10BDE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02</a:t>
              </a:r>
              <a:endParaRPr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3000"/>
                </a:lnSpc>
              </a:pPr>
              <a:endParaRPr sz="1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</a:pPr>
              <a:r>
                <a:rPr sz="1800" b="1" kern="0" spc="-40" dirty="0">
                  <a:solidFill>
                    <a:srgbClr val="11182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Prompt</a:t>
              </a:r>
              <a:endParaRPr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4" name="textbox 274"/>
            <p:cNvSpPr/>
            <p:nvPr/>
          </p:nvSpPr>
          <p:spPr>
            <a:xfrm>
              <a:off x="4902779" y="94818"/>
              <a:ext cx="774065" cy="12369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ts val="6330"/>
                </a:lnSpc>
              </a:pPr>
              <a:r>
                <a:rPr sz="4800" b="1" kern="0" spc="-60" dirty="0">
                  <a:solidFill>
                    <a:srgbClr val="10BDE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04</a:t>
              </a:r>
              <a:endParaRPr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2000"/>
                </a:lnSpc>
              </a:pPr>
              <a:endParaRPr sz="1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5"/>
                </a:spcBef>
              </a:pPr>
              <a:r>
                <a:rPr sz="1800" b="1" kern="0" spc="-10" dirty="0">
                  <a:solidFill>
                    <a:srgbClr val="11182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修图</a:t>
              </a:r>
              <a:endParaRPr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6" name="textbox 276"/>
            <p:cNvSpPr/>
            <p:nvPr/>
          </p:nvSpPr>
          <p:spPr>
            <a:xfrm>
              <a:off x="3345086" y="94818"/>
              <a:ext cx="773430" cy="12376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ts val="6330"/>
                </a:lnSpc>
              </a:pPr>
              <a:r>
                <a:rPr sz="4800" b="1" kern="0" spc="-60" dirty="0">
                  <a:solidFill>
                    <a:srgbClr val="10BDE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</a:t>
              </a:r>
              <a:endParaRPr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2000"/>
                </a:lnSpc>
              </a:pPr>
              <a:endParaRPr sz="1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5"/>
                </a:spcBef>
              </a:pPr>
              <a:r>
                <a:rPr sz="1800" b="1" kern="0" spc="-20" dirty="0">
                  <a:solidFill>
                    <a:srgbClr val="11182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合成</a:t>
              </a:r>
              <a:endParaRPr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8" name="textbox 278"/>
            <p:cNvSpPr/>
            <p:nvPr/>
          </p:nvSpPr>
          <p:spPr>
            <a:xfrm>
              <a:off x="6461696" y="94818"/>
              <a:ext cx="773430" cy="12369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ts val="6330"/>
                </a:lnSpc>
              </a:pPr>
              <a:r>
                <a:rPr sz="4800" b="1" kern="0" spc="-60" dirty="0">
                  <a:solidFill>
                    <a:srgbClr val="10BDE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05</a:t>
              </a:r>
              <a:endParaRPr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2000"/>
                </a:lnSpc>
              </a:pPr>
              <a:endParaRPr sz="1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0"/>
                </a:spcBef>
              </a:pPr>
              <a:r>
                <a:rPr sz="1800" b="1" kern="0" spc="-20" dirty="0">
                  <a:solidFill>
                    <a:srgbClr val="11182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成品</a:t>
              </a:r>
              <a:endParaRPr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0" name="textbox 280"/>
            <p:cNvSpPr/>
            <p:nvPr/>
          </p:nvSpPr>
          <p:spPr>
            <a:xfrm>
              <a:off x="231597" y="94818"/>
              <a:ext cx="770890" cy="12388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ts val="6330"/>
                </a:lnSpc>
              </a:pPr>
              <a:r>
                <a:rPr sz="4800" b="1" kern="0" spc="-60" dirty="0">
                  <a:solidFill>
                    <a:srgbClr val="10BDE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</a:t>
              </a:r>
              <a:endParaRPr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1000"/>
                </a:lnSpc>
              </a:pPr>
              <a:endParaRPr sz="1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</a:pPr>
              <a:r>
                <a:rPr sz="1800" b="1" kern="0" spc="-20" dirty="0">
                  <a:solidFill>
                    <a:srgbClr val="11182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需求</a:t>
              </a:r>
              <a:endParaRPr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2" name="textbox 282"/>
            <p:cNvSpPr/>
            <p:nvPr/>
          </p:nvSpPr>
          <p:spPr>
            <a:xfrm>
              <a:off x="1261399" y="959707"/>
              <a:ext cx="300354" cy="2178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ts val="1515"/>
                </a:lnSpc>
              </a:pPr>
              <a:r>
                <a:rPr sz="2200" b="1" kern="0" spc="-10" dirty="0">
                  <a:solidFill>
                    <a:srgbClr val="12C8F4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→</a:t>
              </a:r>
              <a:endParaRPr sz="2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4" name="textbox 284"/>
            <p:cNvSpPr/>
            <p:nvPr/>
          </p:nvSpPr>
          <p:spPr>
            <a:xfrm>
              <a:off x="2819630" y="959707"/>
              <a:ext cx="300354" cy="2178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ts val="1515"/>
                </a:lnSpc>
              </a:pPr>
              <a:r>
                <a:rPr sz="2200" b="1" kern="0" spc="-10" dirty="0">
                  <a:solidFill>
                    <a:srgbClr val="12C8F4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→</a:t>
              </a:r>
              <a:endParaRPr sz="2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6" name="textbox 286"/>
            <p:cNvSpPr/>
            <p:nvPr/>
          </p:nvSpPr>
          <p:spPr>
            <a:xfrm>
              <a:off x="4378009" y="959707"/>
              <a:ext cx="300354" cy="2178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ts val="1515"/>
                </a:lnSpc>
              </a:pPr>
              <a:r>
                <a:rPr sz="2200" b="1" kern="0" spc="-10" dirty="0">
                  <a:solidFill>
                    <a:srgbClr val="12C8F4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→</a:t>
              </a:r>
              <a:endParaRPr sz="2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8" name="textbox 288"/>
            <p:cNvSpPr/>
            <p:nvPr/>
          </p:nvSpPr>
          <p:spPr>
            <a:xfrm>
              <a:off x="5936239" y="959707"/>
              <a:ext cx="300354" cy="2178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ts val="1515"/>
                </a:lnSpc>
              </a:pPr>
              <a:r>
                <a:rPr sz="2200" b="1" kern="0" spc="-10" dirty="0">
                  <a:solidFill>
                    <a:srgbClr val="12C8F4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→</a:t>
              </a:r>
              <a:endParaRPr sz="2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90" name="textbox 290"/>
          <p:cNvSpPr/>
          <p:nvPr/>
        </p:nvSpPr>
        <p:spPr>
          <a:xfrm>
            <a:off x="637286" y="503993"/>
            <a:ext cx="2723514" cy="840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" algn="l" rtl="0" eaLnBrk="0">
              <a:lnSpc>
                <a:spcPts val="1285"/>
              </a:lnSpc>
            </a:pP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900" b="1" kern="0" spc="-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25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900" b="1" kern="0" spc="26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VISUAL</a:t>
            </a:r>
            <a:r>
              <a:rPr sz="900" b="1" kern="0" spc="26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</a:t>
            </a:r>
            <a:r>
              <a:rPr sz="900" b="1" kern="0" spc="-8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FLOW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3000" b="1" kern="0" spc="-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AI视觉生成流程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2" name="textbox 292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keting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4" name="textbox 294"/>
          <p:cNvSpPr/>
          <p:nvPr/>
        </p:nvSpPr>
        <p:spPr>
          <a:xfrm>
            <a:off x="636571" y="5132323"/>
            <a:ext cx="2494279" cy="648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6000"/>
              </a:lnSpc>
            </a:pPr>
            <a:r>
              <a:rPr sz="1100" kern="0" spc="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辅助用于快速建立工业场景方向，再</a:t>
            </a: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通过合成、精修与品牌规范控制，把探</a:t>
            </a:r>
            <a:r>
              <a:rPr sz="1100" kern="0" spc="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索效率转化为可交付素材。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6" name="picture 2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47700" y="1543050"/>
            <a:ext cx="1714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 29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0" name="rect 300"/>
          <p:cNvSpPr/>
          <p:nvPr/>
        </p:nvSpPr>
        <p:spPr>
          <a:xfrm>
            <a:off x="0" y="0"/>
            <a:ext cx="12191701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02" name="picture 3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725017" y="1199147"/>
            <a:ext cx="3990109" cy="3773904"/>
          </a:xfrm>
          <a:prstGeom prst="rect">
            <a:avLst/>
          </a:prstGeom>
        </p:spPr>
      </p:pic>
      <p:pic>
        <p:nvPicPr>
          <p:cNvPr id="304" name="picture 3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24300" y="1200150"/>
            <a:ext cx="3648075" cy="3619500"/>
          </a:xfrm>
          <a:prstGeom prst="rect">
            <a:avLst/>
          </a:prstGeom>
        </p:spPr>
      </p:pic>
      <p:pic>
        <p:nvPicPr>
          <p:cNvPr id="306" name="picture 3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96225" y="1200150"/>
            <a:ext cx="3648075" cy="3429000"/>
          </a:xfrm>
          <a:prstGeom prst="rect">
            <a:avLst/>
          </a:prstGeom>
        </p:spPr>
      </p:pic>
      <p:sp>
        <p:nvSpPr>
          <p:cNvPr id="308" name="textbox 308"/>
          <p:cNvSpPr/>
          <p:nvPr/>
        </p:nvSpPr>
        <p:spPr>
          <a:xfrm>
            <a:off x="645772" y="503993"/>
            <a:ext cx="2678429" cy="865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85"/>
              </a:lnSpc>
            </a:pP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BEFORE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</a:t>
            </a:r>
            <a:r>
              <a:rPr sz="900" b="1" kern="0" spc="27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AFTER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925" algn="l" rtl="0" eaLnBrk="0">
              <a:lnSpc>
                <a:spcPts val="3955"/>
              </a:lnSpc>
            </a:pPr>
            <a:r>
              <a:rPr sz="3000" b="1" kern="0" spc="-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Before / After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0" name="textbox 310"/>
          <p:cNvSpPr/>
          <p:nvPr/>
        </p:nvSpPr>
        <p:spPr>
          <a:xfrm>
            <a:off x="7884896" y="4847183"/>
            <a:ext cx="3586479" cy="561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1800" b="1" kern="0" spc="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After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200" kern="0" spc="70" dirty="0">
                <a:solidFill>
                  <a:srgbClr val="46515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从普通产品图转为高级营销图：增强场景氛围、产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2" name="textbox 312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keting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4" name="textbox 314"/>
          <p:cNvSpPr/>
          <p:nvPr/>
        </p:nvSpPr>
        <p:spPr>
          <a:xfrm>
            <a:off x="3915324" y="4990058"/>
            <a:ext cx="2941954" cy="579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575" algn="l" rtl="0" eaLnBrk="0">
              <a:lnSpc>
                <a:spcPct val="82000"/>
              </a:lnSpc>
            </a:pPr>
            <a:r>
              <a:rPr sz="1800" b="1" kern="0" spc="-4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Before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645"/>
              </a:lnSpc>
            </a:pPr>
            <a:r>
              <a:rPr sz="1200" kern="0" spc="60" dirty="0">
                <a:solidFill>
                  <a:srgbClr val="46515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普通产品图 / 信息层级弱 / 场景情绪</a:t>
            </a:r>
            <a:r>
              <a:rPr sz="1200" kern="0" spc="50" dirty="0">
                <a:solidFill>
                  <a:srgbClr val="46515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不足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6" name="textbox 316"/>
          <p:cNvSpPr/>
          <p:nvPr/>
        </p:nvSpPr>
        <p:spPr>
          <a:xfrm>
            <a:off x="636857" y="5132895"/>
            <a:ext cx="2453004" cy="647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270" algn="l" rtl="0" eaLnBrk="0">
              <a:lnSpc>
                <a:spcPct val="126000"/>
              </a:lnSpc>
            </a:pP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前后对比直接体现设计价值：从普通产</a:t>
            </a: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品信息，转化为高可信、高识别的营销</a:t>
            </a:r>
            <a:r>
              <a:rPr sz="1100" kern="0" spc="-5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视觉。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8" name="textbox 318"/>
          <p:cNvSpPr/>
          <p:nvPr/>
        </p:nvSpPr>
        <p:spPr>
          <a:xfrm>
            <a:off x="7894373" y="5460050"/>
            <a:ext cx="2411095" cy="186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10" dirty="0">
                <a:solidFill>
                  <a:srgbClr val="46515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品体积感、信息层级和品牌识别</a:t>
            </a:r>
            <a:r>
              <a:rPr sz="1200" kern="0" spc="0" dirty="0">
                <a:solidFill>
                  <a:srgbClr val="46515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0" name="picture 3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47700" y="1543050"/>
            <a:ext cx="1714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rect 3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24" name="picture 3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1701" cy="6858000"/>
          </a:xfrm>
          <a:prstGeom prst="rect">
            <a:avLst/>
          </a:prstGeom>
        </p:spPr>
      </p:pic>
      <p:sp>
        <p:nvSpPr>
          <p:cNvPr id="326" name="textbox 326"/>
          <p:cNvSpPr/>
          <p:nvPr/>
        </p:nvSpPr>
        <p:spPr>
          <a:xfrm>
            <a:off x="641400" y="503993"/>
            <a:ext cx="6605269" cy="3067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ts val="1285"/>
              </a:lnSpc>
            </a:pP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</a:t>
            </a:r>
            <a:r>
              <a:rPr sz="900" b="1" kern="0" spc="4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900" b="1" kern="0" spc="-8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900" b="1" kern="0" spc="23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CORE</a:t>
            </a:r>
            <a:r>
              <a:rPr sz="900" b="1" kern="0" spc="4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PROJECT</a:t>
            </a:r>
            <a:r>
              <a:rPr sz="900" b="1" kern="0" spc="1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900" b="1" kern="0" spc="-10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8100" indent="23495" algn="l" rtl="0" eaLnBrk="0">
              <a:lnSpc>
                <a:spcPct val="97000"/>
              </a:lnSpc>
              <a:spcBef>
                <a:spcPts val="1540"/>
              </a:spcBef>
            </a:pPr>
            <a:r>
              <a:rPr sz="5100" b="1" kern="0" spc="-6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5100" b="1" kern="0" spc="51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100" b="1" kern="0" spc="-6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5100" b="1" kern="0" spc="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5100" b="1" kern="0" spc="-3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Scene Visual System</a:t>
            </a:r>
            <a:endParaRPr sz="5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800" kern="0" spc="-4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工业产品场景视觉系统：真实工程可信度与</a:t>
            </a:r>
            <a:r>
              <a:rPr sz="1800" kern="0" spc="-5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商业传播画面的结合。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8" name="textbox 328"/>
          <p:cNvSpPr/>
          <p:nvPr/>
        </p:nvSpPr>
        <p:spPr>
          <a:xfrm>
            <a:off x="647134" y="6412493"/>
            <a:ext cx="10908665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P12</a:t>
            </a:r>
            <a:r>
              <a:rPr sz="900" kern="0" spc="1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</a:t>
            </a:r>
            <a:r>
              <a:rPr sz="900" kern="0" spc="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Engineering Scena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rios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rect 3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32" name="picture 3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924300" y="1457325"/>
            <a:ext cx="7620000" cy="3429000"/>
          </a:xfrm>
          <a:prstGeom prst="rect">
            <a:avLst/>
          </a:prstGeom>
        </p:spPr>
      </p:pic>
      <p:sp>
        <p:nvSpPr>
          <p:cNvPr id="334" name="textbox 334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keting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6" name="textbox 336"/>
          <p:cNvSpPr/>
          <p:nvPr/>
        </p:nvSpPr>
        <p:spPr>
          <a:xfrm>
            <a:off x="3914343" y="5050104"/>
            <a:ext cx="6360159" cy="265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800" b="1" kern="0" spc="-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矿洞</a:t>
            </a:r>
            <a:r>
              <a:rPr sz="1800" b="1" kern="0" spc="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</a:t>
            </a:r>
            <a:r>
              <a:rPr sz="1800" b="1" kern="0" spc="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隧道</a:t>
            </a:r>
            <a:r>
              <a:rPr sz="1800" b="1" kern="0" spc="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</a:t>
            </a:r>
            <a:r>
              <a:rPr sz="1800" b="1" kern="0" spc="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1800" b="1" kern="0" spc="-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地下停车场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8" name="textbox 338"/>
          <p:cNvSpPr/>
          <p:nvPr/>
        </p:nvSpPr>
        <p:spPr>
          <a:xfrm>
            <a:off x="635857" y="5360781"/>
            <a:ext cx="2453639" cy="420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indent="-1905" algn="l" rtl="0" eaLnBrk="0">
              <a:lnSpc>
                <a:spcPct val="121000"/>
              </a:lnSpc>
            </a:pP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低照度、高反差和空间纵深，让设备能</a:t>
            </a:r>
            <a:r>
              <a:rPr sz="1100" kern="0" spc="-1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力进入真实工程语境。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0" name="textbox 340"/>
          <p:cNvSpPr/>
          <p:nvPr/>
        </p:nvSpPr>
        <p:spPr>
          <a:xfrm>
            <a:off x="640715" y="921511"/>
            <a:ext cx="1544319" cy="422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3000" b="1" kern="0" spc="-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地下空间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2" name="textbox 342"/>
          <p:cNvSpPr/>
          <p:nvPr/>
        </p:nvSpPr>
        <p:spPr>
          <a:xfrm>
            <a:off x="645772" y="503993"/>
            <a:ext cx="2173604" cy="189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85"/>
              </a:lnSpc>
            </a:pP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900" b="1" kern="0" spc="-6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r>
              <a:rPr sz="900" b="1" kern="0" spc="24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UNDERGROUND</a:t>
            </a:r>
            <a:r>
              <a:rPr sz="900" b="1" kern="0" spc="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SPACE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44" name="picture 3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7700" y="1543050"/>
            <a:ext cx="1714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rect 3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48" name="picture 3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924300" y="1457325"/>
            <a:ext cx="7620000" cy="3429000"/>
          </a:xfrm>
          <a:prstGeom prst="rect">
            <a:avLst/>
          </a:prstGeom>
        </p:spPr>
      </p:pic>
      <p:sp>
        <p:nvSpPr>
          <p:cNvPr id="350" name="textbox 350"/>
          <p:cNvSpPr/>
          <p:nvPr/>
        </p:nvSpPr>
        <p:spPr>
          <a:xfrm>
            <a:off x="635857" y="5050561"/>
            <a:ext cx="9410065" cy="716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1800" b="1" kern="0" spc="-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矿区定位</a:t>
            </a:r>
            <a:r>
              <a:rPr sz="1800" b="1" kern="0" spc="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</a:t>
            </a:r>
            <a:r>
              <a:rPr sz="1800" b="1" kern="0" spc="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1800" b="1" kern="0" spc="-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土方测量</a:t>
            </a:r>
            <a:r>
              <a:rPr sz="1800" b="1" kern="0" spc="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sz="1800" b="1" kern="0" spc="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sz="1800" b="1" kern="0" spc="-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施工管理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10" algn="l" rtl="0" eaLnBrk="0">
              <a:lnSpc>
                <a:spcPct val="84000"/>
              </a:lnSpc>
              <a:spcBef>
                <a:spcPts val="570"/>
              </a:spcBef>
            </a:pP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强调大尺度空间、机械环境与定位精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1875"/>
              </a:lnSpc>
            </a:pPr>
            <a:r>
              <a:rPr sz="1100" kern="0" spc="-4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度，让画面具备现场可信度。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2" name="textbox 352"/>
          <p:cNvSpPr/>
          <p:nvPr/>
        </p:nvSpPr>
        <p:spPr>
          <a:xfrm>
            <a:off x="639572" y="841502"/>
            <a:ext cx="2713354" cy="894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3810" algn="l" rtl="0" eaLnBrk="0">
              <a:lnSpc>
                <a:spcPct val="95000"/>
              </a:lnSpc>
            </a:pPr>
            <a:r>
              <a:rPr sz="3000" b="1" kern="0" spc="-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土方工程 / 露天</a:t>
            </a:r>
            <a:r>
              <a:rPr sz="3000" b="1" kern="0" spc="-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矿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4" name="textbox 354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keting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6" name="textbox 356"/>
          <p:cNvSpPr/>
          <p:nvPr/>
        </p:nvSpPr>
        <p:spPr>
          <a:xfrm>
            <a:off x="645772" y="503993"/>
            <a:ext cx="2259964" cy="189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85"/>
              </a:lnSpc>
            </a:pP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900" b="1" kern="0" spc="-7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EARTHWORK</a:t>
            </a:r>
            <a:r>
              <a:rPr sz="900" b="1" kern="0" spc="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</a:t>
            </a:r>
            <a:r>
              <a:rPr sz="900" b="1" kern="0" spc="4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MINING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8" name="picture 3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7700" y="1952625"/>
            <a:ext cx="1714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rect 3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62" name="picture 3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924300" y="1457325"/>
            <a:ext cx="7620000" cy="3429000"/>
          </a:xfrm>
          <a:prstGeom prst="rect">
            <a:avLst/>
          </a:prstGeom>
        </p:spPr>
      </p:pic>
      <p:sp>
        <p:nvSpPr>
          <p:cNvPr id="364" name="textbox 364"/>
          <p:cNvSpPr/>
          <p:nvPr/>
        </p:nvSpPr>
        <p:spPr>
          <a:xfrm>
            <a:off x="636428" y="5049875"/>
            <a:ext cx="9409430" cy="716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1800" b="1" kern="0" spc="-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高压塔架</a:t>
            </a:r>
            <a:r>
              <a:rPr sz="1800" b="1" kern="0" spc="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</a:t>
            </a:r>
            <a:r>
              <a:rPr sz="1800" b="1" kern="0" spc="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1800" b="1" kern="0" spc="-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线路巡检</a:t>
            </a:r>
            <a:r>
              <a:rPr sz="1800" b="1" kern="0" spc="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</a:t>
            </a:r>
            <a:r>
              <a:rPr sz="1800" b="1" kern="0" spc="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r>
              <a:rPr sz="1800" b="1" kern="0" spc="-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树木扫描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4000"/>
              </a:lnSpc>
              <a:spcBef>
                <a:spcPts val="570"/>
              </a:spcBef>
            </a:pP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通过专业场景说明产品在复杂环境中的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1875"/>
              </a:lnSpc>
            </a:pPr>
            <a:r>
              <a:rPr sz="1100" kern="0" spc="-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适用性，而不仅是单一产品展示。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6" name="textbox 366"/>
          <p:cNvSpPr/>
          <p:nvPr/>
        </p:nvSpPr>
        <p:spPr>
          <a:xfrm>
            <a:off x="641095" y="841502"/>
            <a:ext cx="2712085" cy="8902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6510" algn="l" rtl="0" eaLnBrk="0">
              <a:lnSpc>
                <a:spcPct val="95000"/>
              </a:lnSpc>
            </a:pPr>
            <a:r>
              <a:rPr sz="3000" b="1" kern="0" spc="-3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电力巡检 / 林业</a:t>
            </a:r>
            <a:r>
              <a:rPr sz="3000" b="1" kern="0" spc="-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调查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8" name="textbox 368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keting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0" name="textbox 370"/>
          <p:cNvSpPr/>
          <p:nvPr/>
        </p:nvSpPr>
        <p:spPr>
          <a:xfrm>
            <a:off x="645772" y="503993"/>
            <a:ext cx="1998345" cy="189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85"/>
              </a:lnSpc>
            </a:pP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900" b="1" kern="0" spc="-7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POWER</a:t>
            </a:r>
            <a:r>
              <a:rPr sz="900" b="1" kern="0" spc="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</a:t>
            </a:r>
            <a:r>
              <a:rPr sz="900" b="1" kern="0" spc="4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FORES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TRY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72" name="picture 3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7700" y="1952625"/>
            <a:ext cx="1714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rect 3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76" name="picture 3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924300" y="1457325"/>
            <a:ext cx="7620000" cy="3429000"/>
          </a:xfrm>
          <a:prstGeom prst="rect">
            <a:avLst/>
          </a:prstGeom>
        </p:spPr>
      </p:pic>
      <p:sp>
        <p:nvSpPr>
          <p:cNvPr id="378" name="textbox 378"/>
          <p:cNvSpPr/>
          <p:nvPr/>
        </p:nvSpPr>
        <p:spPr>
          <a:xfrm>
            <a:off x="636857" y="5050790"/>
            <a:ext cx="9408794" cy="7156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6000"/>
              </a:lnSpc>
            </a:pPr>
            <a:r>
              <a:rPr sz="1800" b="1" kern="0" spc="-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建筑保护</a:t>
            </a:r>
            <a:r>
              <a:rPr sz="1800" b="1" kern="0" spc="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</a:t>
            </a:r>
            <a:r>
              <a:rPr sz="1800" b="1" kern="0" spc="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1800" b="1" kern="0" spc="-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数据采集</a:t>
            </a:r>
            <a:r>
              <a:rPr sz="1800" b="1" kern="0" spc="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</a:t>
            </a:r>
            <a:r>
              <a:rPr sz="1800" b="1" kern="0" spc="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r>
              <a:rPr sz="1800" b="1" kern="0" spc="-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点云建模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575"/>
              </a:spcBef>
            </a:pP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把不可见的数据能力转化成可视化科技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1865"/>
              </a:lnSpc>
            </a:pPr>
            <a:r>
              <a:rPr sz="1000" kern="0" spc="-7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表达。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0" name="textbox 380"/>
          <p:cNvSpPr/>
          <p:nvPr/>
        </p:nvSpPr>
        <p:spPr>
          <a:xfrm>
            <a:off x="639191" y="841502"/>
            <a:ext cx="2605404" cy="8915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indent="-2540" algn="l" rtl="0" eaLnBrk="0">
              <a:lnSpc>
                <a:spcPct val="95000"/>
              </a:lnSpc>
            </a:pPr>
            <a:r>
              <a:rPr sz="3000" b="1" kern="0" spc="-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历史建筑建模 /</a:t>
            </a:r>
            <a:r>
              <a:rPr sz="3000" b="1" kern="0" spc="-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点云扫描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2" name="textbox 382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keting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4" name="textbox 384"/>
          <p:cNvSpPr/>
          <p:nvPr/>
        </p:nvSpPr>
        <p:spPr>
          <a:xfrm>
            <a:off x="645772" y="503993"/>
            <a:ext cx="2481579" cy="189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85"/>
              </a:lnSpc>
            </a:pP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900" b="1" kern="0" spc="-7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sz="900" b="1" kern="0" spc="24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HERITAGE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POINT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LOUD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86" name="picture 3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7700" y="1952625"/>
            <a:ext cx="1714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rect 3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90" name="picture 3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924300" y="1457325"/>
            <a:ext cx="7620000" cy="3429000"/>
          </a:xfrm>
          <a:prstGeom prst="rect">
            <a:avLst/>
          </a:prstGeom>
        </p:spPr>
      </p:pic>
      <p:sp>
        <p:nvSpPr>
          <p:cNvPr id="392" name="textbox 392"/>
          <p:cNvSpPr/>
          <p:nvPr/>
        </p:nvSpPr>
        <p:spPr>
          <a:xfrm>
            <a:off x="638809" y="503993"/>
            <a:ext cx="2713989" cy="1225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algn="l" rtl="0" eaLnBrk="0">
              <a:lnSpc>
                <a:spcPts val="1285"/>
              </a:lnSpc>
            </a:pP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900" b="1" kern="0" spc="-7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r>
              <a:rPr sz="900" b="1" kern="0" spc="24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BRIDGE</a:t>
            </a:r>
            <a:r>
              <a:rPr sz="900" b="1" kern="0" spc="4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MONITORI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NG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indent="-1905" algn="l" rtl="0" eaLnBrk="0">
              <a:lnSpc>
                <a:spcPct val="94000"/>
              </a:lnSpc>
            </a:pPr>
            <a:r>
              <a:rPr sz="3000" b="1" kern="0" spc="-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桥梁检测 / 结构</a:t>
            </a:r>
            <a:r>
              <a:rPr sz="3000" b="1" kern="0" spc="-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监测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4" name="textbox 394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keting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6" name="textbox 396"/>
          <p:cNvSpPr/>
          <p:nvPr/>
        </p:nvSpPr>
        <p:spPr>
          <a:xfrm>
            <a:off x="636857" y="5132466"/>
            <a:ext cx="2310129" cy="648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905" algn="l" rtl="0" eaLnBrk="0">
              <a:lnSpc>
                <a:spcPct val="126000"/>
              </a:lnSpc>
            </a:pP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工程场景的重点是可信度：环境、产</a:t>
            </a: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品、数据反馈和商业文案需要互相支</a:t>
            </a:r>
            <a:r>
              <a:rPr sz="1100" kern="0" spc="-6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撑。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8" name="textbox 398"/>
          <p:cNvSpPr/>
          <p:nvPr/>
        </p:nvSpPr>
        <p:spPr>
          <a:xfrm>
            <a:off x="3913885" y="5050561"/>
            <a:ext cx="6132195" cy="263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800" b="1" kern="0" spc="-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桥梁测绘</a:t>
            </a:r>
            <a:r>
              <a:rPr sz="1800" b="1" kern="0" spc="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</a:t>
            </a:r>
            <a:r>
              <a:rPr sz="1800" b="1" kern="0" spc="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1800" b="1" kern="0" spc="-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结构监测</a:t>
            </a:r>
            <a:r>
              <a:rPr sz="1800" b="1" kern="0" spc="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</a:t>
            </a:r>
            <a:r>
              <a:rPr sz="1800" b="1" kern="0" spc="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r>
              <a:rPr sz="1800" b="1" kern="0" spc="-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安全评估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00" name="picture 4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7700" y="1952625"/>
            <a:ext cx="1714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rect 40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04" name="picture 4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1701" cy="6858000"/>
          </a:xfrm>
          <a:prstGeom prst="rect">
            <a:avLst/>
          </a:prstGeom>
        </p:spPr>
      </p:pic>
      <p:pic>
        <p:nvPicPr>
          <p:cNvPr id="406" name="picture 4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277354" y="1046913"/>
            <a:ext cx="4437379" cy="5105548"/>
          </a:xfrm>
          <a:prstGeom prst="rect">
            <a:avLst/>
          </a:prstGeom>
        </p:spPr>
      </p:pic>
      <p:sp>
        <p:nvSpPr>
          <p:cNvPr id="408" name="textbox 408"/>
          <p:cNvSpPr/>
          <p:nvPr/>
        </p:nvSpPr>
        <p:spPr>
          <a:xfrm>
            <a:off x="638200" y="2285168"/>
            <a:ext cx="5965825" cy="2232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ts val="1285"/>
              </a:lnSpc>
            </a:pPr>
            <a:r>
              <a:rPr sz="900" b="1" kern="0" spc="10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</a:t>
            </a:r>
            <a:r>
              <a:rPr sz="900" b="1" kern="0" spc="1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0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900" b="1" kern="0" spc="-14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0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900" b="1" kern="0" spc="23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0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0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CORE</a:t>
            </a:r>
            <a:r>
              <a:rPr sz="900" b="1" kern="0" spc="4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0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ROJECT</a:t>
            </a:r>
            <a:r>
              <a:rPr sz="900" b="1" kern="0" spc="1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900" b="1" kern="0" spc="-7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8895" algn="l" rtl="0" eaLnBrk="0">
              <a:lnSpc>
                <a:spcPct val="99000"/>
              </a:lnSpc>
              <a:spcBef>
                <a:spcPts val="1125"/>
              </a:spcBef>
            </a:pPr>
            <a:r>
              <a:rPr sz="3600" b="1" kern="0" spc="-6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Brand</a:t>
            </a:r>
            <a:r>
              <a:rPr sz="3600" b="1" kern="0" spc="35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600" b="1" kern="0" spc="-6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Marketing</a:t>
            </a:r>
            <a:r>
              <a:rPr sz="3600" b="1" kern="0" spc="31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600" b="1" kern="0" spc="-6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Poster</a:t>
            </a:r>
            <a:r>
              <a:rPr sz="3600" b="1" kern="0" spc="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600" b="1" kern="0" spc="-5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765" algn="l" rtl="0" eaLnBrk="0">
              <a:lnSpc>
                <a:spcPct val="83000"/>
              </a:lnSpc>
              <a:spcBef>
                <a:spcPts val="550"/>
              </a:spcBef>
            </a:pPr>
            <a:r>
              <a:rPr sz="1800" kern="0" spc="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品牌营销海报设计系统：新</a:t>
            </a:r>
            <a:r>
              <a:rPr sz="1800" kern="0" spc="-1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品、卖点、展会与社媒素材统一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595"/>
              </a:lnSpc>
            </a:pPr>
            <a:r>
              <a:rPr sz="1600" kern="0" spc="-13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化。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0" name="textbox 410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Poster /</a:t>
            </a:r>
            <a:r>
              <a:rPr sz="900" kern="0" spc="11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Banner /</a:t>
            </a:r>
            <a:r>
              <a:rPr sz="900" kern="0" spc="11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Packag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ing /</a:t>
            </a:r>
            <a:r>
              <a:rPr sz="900" kern="0" spc="10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Exhibition / Social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Media</a:t>
            </a:r>
            <a:r>
              <a:rPr sz="900" kern="0" spc="1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sz="900" kern="0" spc="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P18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rect 4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4" name="rect 414"/>
          <p:cNvSpPr/>
          <p:nvPr/>
        </p:nvSpPr>
        <p:spPr>
          <a:xfrm>
            <a:off x="0" y="0"/>
            <a:ext cx="12191701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16" name="picture 4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286250" y="1123950"/>
            <a:ext cx="1714500" cy="2152650"/>
          </a:xfrm>
          <a:prstGeom prst="rect">
            <a:avLst/>
          </a:prstGeom>
        </p:spPr>
      </p:pic>
      <p:pic>
        <p:nvPicPr>
          <p:cNvPr id="418" name="picture 4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286250" y="3581400"/>
            <a:ext cx="1714500" cy="2152650"/>
          </a:xfrm>
          <a:prstGeom prst="rect">
            <a:avLst/>
          </a:prstGeom>
        </p:spPr>
      </p:pic>
      <p:pic>
        <p:nvPicPr>
          <p:cNvPr id="420" name="picture 4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77050" y="1123950"/>
            <a:ext cx="1714500" cy="2152650"/>
          </a:xfrm>
          <a:prstGeom prst="rect">
            <a:avLst/>
          </a:prstGeom>
        </p:spPr>
      </p:pic>
      <p:pic>
        <p:nvPicPr>
          <p:cNvPr id="422" name="picture 4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77050" y="3581400"/>
            <a:ext cx="1714500" cy="2152650"/>
          </a:xfrm>
          <a:prstGeom prst="rect">
            <a:avLst/>
          </a:prstGeom>
        </p:spPr>
      </p:pic>
      <p:pic>
        <p:nvPicPr>
          <p:cNvPr id="424" name="picture 4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467850" y="1123950"/>
            <a:ext cx="1714500" cy="2152650"/>
          </a:xfrm>
          <a:prstGeom prst="rect">
            <a:avLst/>
          </a:prstGeom>
        </p:spPr>
      </p:pic>
      <p:sp>
        <p:nvSpPr>
          <p:cNvPr id="426" name="textbox 426"/>
          <p:cNvSpPr/>
          <p:nvPr/>
        </p:nvSpPr>
        <p:spPr>
          <a:xfrm>
            <a:off x="645772" y="503993"/>
            <a:ext cx="1871345" cy="11804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85"/>
              </a:lnSpc>
            </a:pP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900" b="1" kern="0" spc="-7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LAUNCH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925" algn="l" rtl="0" eaLnBrk="0">
              <a:lnSpc>
                <a:spcPct val="89000"/>
              </a:lnSpc>
            </a:pPr>
            <a:r>
              <a:rPr sz="3000" b="1" kern="0" spc="-5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3000" b="1" kern="0" spc="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3000" b="1" kern="0" spc="-5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Launch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8" name="textbox 428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keting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0" name="textbox 430"/>
          <p:cNvSpPr/>
          <p:nvPr/>
        </p:nvSpPr>
        <p:spPr>
          <a:xfrm>
            <a:off x="636285" y="5132466"/>
            <a:ext cx="2453004" cy="648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635" algn="l" rtl="0" eaLnBrk="0">
              <a:lnSpc>
                <a:spcPct val="126000"/>
              </a:lnSpc>
            </a:pP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新品海报统一产品角度、标题比例、参</a:t>
            </a: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数模块与底部信息，让系列产品在同一</a:t>
            </a:r>
            <a:r>
              <a:rPr sz="1100" kern="0" spc="-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系统内表达。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32" name="picture 4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47700" y="1952625"/>
            <a:ext cx="1714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rect 4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6" name="rect 436"/>
          <p:cNvSpPr/>
          <p:nvPr/>
        </p:nvSpPr>
        <p:spPr>
          <a:xfrm>
            <a:off x="0" y="0"/>
            <a:ext cx="12191701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38" name="picture 4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924300" y="3505200"/>
            <a:ext cx="2438400" cy="2305050"/>
          </a:xfrm>
          <a:prstGeom prst="rect">
            <a:avLst/>
          </a:prstGeom>
        </p:spPr>
      </p:pic>
      <p:pic>
        <p:nvPicPr>
          <p:cNvPr id="440" name="picture 4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05900" y="1047750"/>
            <a:ext cx="2438400" cy="2305050"/>
          </a:xfrm>
          <a:prstGeom prst="rect">
            <a:avLst/>
          </a:prstGeom>
        </p:spPr>
      </p:pic>
      <p:pic>
        <p:nvPicPr>
          <p:cNvPr id="442" name="picture 4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286250" y="1123950"/>
            <a:ext cx="1714500" cy="2152650"/>
          </a:xfrm>
          <a:prstGeom prst="rect">
            <a:avLst/>
          </a:prstGeom>
        </p:spPr>
      </p:pic>
      <p:pic>
        <p:nvPicPr>
          <p:cNvPr id="444" name="picture 4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77050" y="1123950"/>
            <a:ext cx="1714500" cy="2152650"/>
          </a:xfrm>
          <a:prstGeom prst="rect">
            <a:avLst/>
          </a:prstGeom>
        </p:spPr>
      </p:pic>
      <p:pic>
        <p:nvPicPr>
          <p:cNvPr id="446" name="picture 4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77050" y="3581400"/>
            <a:ext cx="1714500" cy="2152650"/>
          </a:xfrm>
          <a:prstGeom prst="rect">
            <a:avLst/>
          </a:prstGeom>
        </p:spPr>
      </p:pic>
      <p:sp>
        <p:nvSpPr>
          <p:cNvPr id="448" name="textbox 448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Marketi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0" name="textbox 450"/>
          <p:cNvSpPr/>
          <p:nvPr/>
        </p:nvSpPr>
        <p:spPr>
          <a:xfrm>
            <a:off x="650240" y="952372"/>
            <a:ext cx="1942464" cy="8267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480" algn="l" rtl="0" eaLnBrk="0">
              <a:lnSpc>
                <a:spcPts val="2350"/>
              </a:lnSpc>
            </a:pPr>
            <a:r>
              <a:rPr sz="3000" b="1" kern="0" spc="-5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Feature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3955"/>
              </a:lnSpc>
            </a:pPr>
            <a:r>
              <a:rPr sz="3000" b="1" kern="0" spc="-3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Campaign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2" name="textbox 452"/>
          <p:cNvSpPr/>
          <p:nvPr/>
        </p:nvSpPr>
        <p:spPr>
          <a:xfrm>
            <a:off x="636571" y="5132181"/>
            <a:ext cx="2453004" cy="634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635" algn="l" rtl="0" eaLnBrk="0">
              <a:lnSpc>
                <a:spcPct val="118000"/>
              </a:lnSpc>
            </a:pP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卖点海报围绕型号差异组织信息，同时</a:t>
            </a: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保持品牌色、版面节奏与产品识别一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92000"/>
              </a:lnSpc>
              <a:spcBef>
                <a:spcPts val="5"/>
              </a:spcBef>
            </a:pPr>
            <a:r>
              <a:rPr sz="1000" kern="0" spc="-10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致。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4" name="textbox 454"/>
          <p:cNvSpPr/>
          <p:nvPr/>
        </p:nvSpPr>
        <p:spPr>
          <a:xfrm>
            <a:off x="645772" y="503993"/>
            <a:ext cx="1997710" cy="189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85"/>
              </a:lnSpc>
            </a:pP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900" b="1" kern="0" spc="-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900" b="1" kern="0" spc="-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900" b="1" kern="0" spc="24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FEATURE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CAMPAIG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56" name="picture 4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47700" y="1952625"/>
            <a:ext cx="1714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rect 4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60" name="picture 4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924300" y="1047750"/>
            <a:ext cx="2438400" cy="2305050"/>
          </a:xfrm>
          <a:prstGeom prst="rect">
            <a:avLst/>
          </a:prstGeom>
        </p:spPr>
      </p:pic>
      <p:pic>
        <p:nvPicPr>
          <p:cNvPr id="462" name="picture 4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24300" y="3505200"/>
            <a:ext cx="2438400" cy="2305050"/>
          </a:xfrm>
          <a:prstGeom prst="rect">
            <a:avLst/>
          </a:prstGeom>
        </p:spPr>
      </p:pic>
      <p:pic>
        <p:nvPicPr>
          <p:cNvPr id="464" name="picture 4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15100" y="1047750"/>
            <a:ext cx="2438400" cy="2305050"/>
          </a:xfrm>
          <a:prstGeom prst="rect">
            <a:avLst/>
          </a:prstGeom>
        </p:spPr>
      </p:pic>
      <p:pic>
        <p:nvPicPr>
          <p:cNvPr id="466" name="picture 4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515100" y="3505200"/>
            <a:ext cx="2438400" cy="2305050"/>
          </a:xfrm>
          <a:prstGeom prst="rect">
            <a:avLst/>
          </a:prstGeom>
        </p:spPr>
      </p:pic>
      <p:pic>
        <p:nvPicPr>
          <p:cNvPr id="468" name="picture 4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105900" y="1047750"/>
            <a:ext cx="2438400" cy="2305050"/>
          </a:xfrm>
          <a:prstGeom prst="rect">
            <a:avLst/>
          </a:prstGeom>
        </p:spPr>
      </p:pic>
      <p:sp>
        <p:nvSpPr>
          <p:cNvPr id="470" name="textbox 470"/>
          <p:cNvSpPr/>
          <p:nvPr/>
        </p:nvSpPr>
        <p:spPr>
          <a:xfrm>
            <a:off x="654050" y="935609"/>
            <a:ext cx="2439035" cy="11582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algn="l" rtl="0" eaLnBrk="0">
              <a:lnSpc>
                <a:spcPct val="69000"/>
              </a:lnSpc>
            </a:pPr>
            <a:r>
              <a:rPr sz="3000" b="1" kern="0" spc="-3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Exhibition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3970" algn="l" rtl="0" eaLnBrk="0">
              <a:lnSpc>
                <a:spcPct val="89000"/>
              </a:lnSpc>
              <a:spcBef>
                <a:spcPts val="30"/>
              </a:spcBef>
            </a:pPr>
            <a:r>
              <a:rPr sz="3000" b="1" kern="0" spc="-3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Promotion /</a:t>
            </a:r>
            <a:r>
              <a:rPr sz="3000" b="1" kern="0" spc="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000" b="1" kern="0" spc="-5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Social</a:t>
            </a:r>
            <a:r>
              <a:rPr sz="3000" b="1" kern="0" spc="33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000" b="1" kern="0" spc="-5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Media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2" name="textbox 472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Marketi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4" name="textbox 474"/>
          <p:cNvSpPr/>
          <p:nvPr/>
        </p:nvSpPr>
        <p:spPr>
          <a:xfrm>
            <a:off x="636857" y="5133323"/>
            <a:ext cx="2453004" cy="647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6000"/>
              </a:lnSpc>
            </a:pP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社媒</a:t>
            </a:r>
            <a:r>
              <a:rPr sz="1100" kern="0" spc="11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kern="0" spc="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</a:t>
            </a: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用节日节点和产品</a:t>
            </a:r>
            <a:r>
              <a:rPr sz="1100" kern="0" spc="1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信息共同承</a:t>
            </a: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担品牌曝光，兼顾传播效率和视觉记忆</a:t>
            </a:r>
            <a:r>
              <a:rPr sz="1100" kern="0" spc="-6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点。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6" name="textbox 476"/>
          <p:cNvSpPr/>
          <p:nvPr/>
        </p:nvSpPr>
        <p:spPr>
          <a:xfrm>
            <a:off x="645772" y="503993"/>
            <a:ext cx="2140585" cy="189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85"/>
              </a:lnSpc>
            </a:pP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900" b="1" kern="0" spc="-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900" b="1" kern="0" spc="-6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EXHIBITION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</a:t>
            </a:r>
            <a:r>
              <a:rPr sz="900" b="1" kern="0" spc="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OCIAL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78" name="picture 4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47700" y="2362200"/>
            <a:ext cx="1714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rect 4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82" name="picture 4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924300" y="1047750"/>
            <a:ext cx="2438400" cy="2305050"/>
          </a:xfrm>
          <a:prstGeom prst="rect">
            <a:avLst/>
          </a:prstGeom>
        </p:spPr>
      </p:pic>
      <p:pic>
        <p:nvPicPr>
          <p:cNvPr id="484" name="picture 4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24300" y="3505200"/>
            <a:ext cx="2438400" cy="2305050"/>
          </a:xfrm>
          <a:prstGeom prst="rect">
            <a:avLst/>
          </a:prstGeom>
        </p:spPr>
      </p:pic>
      <p:pic>
        <p:nvPicPr>
          <p:cNvPr id="486" name="picture 4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15100" y="1047750"/>
            <a:ext cx="2438400" cy="2305050"/>
          </a:xfrm>
          <a:prstGeom prst="rect">
            <a:avLst/>
          </a:prstGeom>
        </p:spPr>
      </p:pic>
      <p:pic>
        <p:nvPicPr>
          <p:cNvPr id="488" name="picture 4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515100" y="3505200"/>
            <a:ext cx="2438400" cy="2305050"/>
          </a:xfrm>
          <a:prstGeom prst="rect">
            <a:avLst/>
          </a:prstGeom>
        </p:spPr>
      </p:pic>
      <p:pic>
        <p:nvPicPr>
          <p:cNvPr id="490" name="picture 4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105900" y="1047750"/>
            <a:ext cx="2438400" cy="2305050"/>
          </a:xfrm>
          <a:prstGeom prst="rect">
            <a:avLst/>
          </a:prstGeom>
        </p:spPr>
      </p:pic>
      <p:sp>
        <p:nvSpPr>
          <p:cNvPr id="492" name="textbox 492"/>
          <p:cNvSpPr/>
          <p:nvPr/>
        </p:nvSpPr>
        <p:spPr>
          <a:xfrm>
            <a:off x="640333" y="923797"/>
            <a:ext cx="2552700" cy="814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635" algn="l" rtl="0" eaLnBrk="0">
              <a:lnSpc>
                <a:spcPct val="86000"/>
              </a:lnSpc>
              <a:spcBef>
                <a:spcPts val="0"/>
              </a:spcBef>
            </a:pPr>
            <a:r>
              <a:rPr sz="3000" b="1" kern="0" spc="-5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TOKNAV 节日</a:t>
            </a:r>
            <a:r>
              <a:rPr sz="3000" b="1" kern="0" spc="-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社媒营销视觉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4" name="textbox 494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Marketi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6" name="textbox 496"/>
          <p:cNvSpPr/>
          <p:nvPr/>
        </p:nvSpPr>
        <p:spPr>
          <a:xfrm>
            <a:off x="635428" y="5133467"/>
            <a:ext cx="2454275" cy="647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26" rIns="0" bIns="0"/>
          <a:lstStyle/>
          <a:p>
            <a:pPr marL="12700" indent="635" algn="l" rtl="0" eaLnBrk="0">
              <a:lnSpc>
                <a:spcPct val="126000"/>
              </a:lnSpc>
              <a:spcBef>
                <a:spcPts val="5"/>
              </a:spcBef>
            </a:pP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春节、元旦、圣诞等节日内容以品牌蓝</a:t>
            </a: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为主线，结合节日符号、产品矩阵和社</a:t>
            </a:r>
            <a:r>
              <a:rPr sz="1100" kern="0" spc="-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媒信息模块。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8" name="textbox 498"/>
          <p:cNvSpPr/>
          <p:nvPr/>
        </p:nvSpPr>
        <p:spPr>
          <a:xfrm>
            <a:off x="645772" y="503993"/>
            <a:ext cx="2032000" cy="189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85"/>
              </a:lnSpc>
            </a:pP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900" b="1" kern="0" spc="-10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900" b="1" kern="0" spc="-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900" b="1" kern="0" spc="24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FESTIVAL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CAMPAIGN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00" name="picture 5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47700" y="1952625"/>
            <a:ext cx="1714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rect 50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04" name="picture 5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1701" cy="6858000"/>
          </a:xfrm>
          <a:prstGeom prst="rect">
            <a:avLst/>
          </a:prstGeom>
        </p:spPr>
      </p:pic>
      <p:sp>
        <p:nvSpPr>
          <p:cNvPr id="506" name="textbox 506"/>
          <p:cNvSpPr/>
          <p:nvPr/>
        </p:nvSpPr>
        <p:spPr>
          <a:xfrm>
            <a:off x="637743" y="503993"/>
            <a:ext cx="6513830" cy="2401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320" algn="l" rtl="0" eaLnBrk="0">
              <a:lnSpc>
                <a:spcPts val="1285"/>
              </a:lnSpc>
            </a:pPr>
            <a:r>
              <a:rPr sz="900" b="1" kern="0" spc="12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</a:t>
            </a:r>
            <a:r>
              <a:rPr sz="900" b="1" kern="0" spc="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2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900" b="1" kern="0" spc="-6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sz="900" b="1" kern="0" spc="24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1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2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STY</a:t>
            </a:r>
            <a:r>
              <a:rPr sz="900" b="1" kern="0" spc="11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</a:t>
            </a:r>
            <a:r>
              <a:rPr sz="900" b="1" kern="0" spc="3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EXPLORATION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1910" algn="l" rtl="0" eaLnBrk="0">
              <a:lnSpc>
                <a:spcPts val="6725"/>
              </a:lnSpc>
              <a:spcBef>
                <a:spcPts val="1540"/>
              </a:spcBef>
            </a:pPr>
            <a:r>
              <a:rPr sz="5100" b="1" kern="0" spc="-5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Style</a:t>
            </a:r>
            <a:r>
              <a:rPr sz="5100" b="1" kern="0" spc="43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100" b="1" kern="0" spc="-5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Expl</a:t>
            </a:r>
            <a:r>
              <a:rPr sz="5100" b="1" kern="0" spc="-6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oration</a:t>
            </a:r>
            <a:endParaRPr sz="5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  <a:spcBef>
                <a:spcPts val="5"/>
              </a:spcBef>
            </a:pPr>
            <a:r>
              <a:rPr sz="1800" kern="0" spc="-3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风格探索只占少量篇幅，用于</a:t>
            </a:r>
            <a:r>
              <a:rPr sz="1800" kern="0" spc="-4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展示审美跨度与 AI 创意控制能力。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8" name="textbox 508"/>
          <p:cNvSpPr/>
          <p:nvPr/>
        </p:nvSpPr>
        <p:spPr>
          <a:xfrm>
            <a:off x="647134" y="6383642"/>
            <a:ext cx="10909300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11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P23</a:t>
            </a:r>
            <a:r>
              <a:rPr sz="900" kern="0" spc="1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</a:t>
            </a:r>
            <a:r>
              <a:rPr sz="900" kern="0" spc="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Creative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Range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rect 5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12" name="rect 512"/>
          <p:cNvSpPr/>
          <p:nvPr/>
        </p:nvSpPr>
        <p:spPr>
          <a:xfrm>
            <a:off x="0" y="0"/>
            <a:ext cx="12191701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14" name="rect 514"/>
          <p:cNvSpPr/>
          <p:nvPr/>
        </p:nvSpPr>
        <p:spPr>
          <a:xfrm>
            <a:off x="3924299" y="514350"/>
            <a:ext cx="1781175" cy="4095750"/>
          </a:xfrm>
          <a:prstGeom prst="rect">
            <a:avLst/>
          </a:prstGeom>
          <a:solidFill>
            <a:srgbClr val="FF6F9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16" name="rect 516"/>
          <p:cNvSpPr/>
          <p:nvPr/>
        </p:nvSpPr>
        <p:spPr>
          <a:xfrm>
            <a:off x="7820025" y="514350"/>
            <a:ext cx="1781175" cy="4095750"/>
          </a:xfrm>
          <a:prstGeom prst="rect">
            <a:avLst/>
          </a:prstGeom>
          <a:solidFill>
            <a:srgbClr val="20114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18" name="rect 518"/>
          <p:cNvSpPr/>
          <p:nvPr/>
        </p:nvSpPr>
        <p:spPr>
          <a:xfrm>
            <a:off x="5876925" y="514350"/>
            <a:ext cx="1771650" cy="4095750"/>
          </a:xfrm>
          <a:prstGeom prst="rect">
            <a:avLst/>
          </a:prstGeom>
          <a:solidFill>
            <a:srgbClr val="FFD16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0" name="rect 520"/>
          <p:cNvSpPr/>
          <p:nvPr/>
        </p:nvSpPr>
        <p:spPr>
          <a:xfrm>
            <a:off x="9772650" y="514350"/>
            <a:ext cx="1771650" cy="4095750"/>
          </a:xfrm>
          <a:prstGeom prst="rect">
            <a:avLst/>
          </a:prstGeom>
          <a:solidFill>
            <a:srgbClr val="00E5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22" name="picture 5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924299" y="4781550"/>
            <a:ext cx="1781175" cy="2076449"/>
          </a:xfrm>
          <a:prstGeom prst="rect">
            <a:avLst/>
          </a:prstGeom>
        </p:spPr>
      </p:pic>
      <p:sp>
        <p:nvSpPr>
          <p:cNvPr id="524" name="textbox 524"/>
          <p:cNvSpPr/>
          <p:nvPr/>
        </p:nvSpPr>
        <p:spPr>
          <a:xfrm>
            <a:off x="636905" y="503993"/>
            <a:ext cx="2351404" cy="12712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" algn="l" rtl="0" eaLnBrk="0">
              <a:lnSpc>
                <a:spcPts val="1285"/>
              </a:lnSpc>
            </a:pP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900" b="1" kern="0" spc="-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900" b="1" kern="0" spc="-1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CITY</a:t>
            </a:r>
            <a:r>
              <a:rPr sz="900" b="1" kern="0" spc="4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POP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</a:t>
            </a:r>
            <a:r>
              <a:rPr sz="900" b="1" kern="0" spc="26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0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VAPO</a:t>
            </a:r>
            <a:r>
              <a:rPr sz="900" b="1" kern="0" spc="9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sz="900" b="1" kern="0" spc="-15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9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WAVE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2700" algn="l" rtl="0" eaLnBrk="0">
              <a:lnSpc>
                <a:spcPct val="99000"/>
              </a:lnSpc>
            </a:pPr>
            <a:r>
              <a:rPr sz="3000" b="1" kern="0" spc="-6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City</a:t>
            </a:r>
            <a:r>
              <a:rPr sz="3000" b="1" kern="0" spc="3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000" b="1" kern="0" spc="-6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Pop /</a:t>
            </a:r>
            <a:r>
              <a:rPr sz="3000" b="1" kern="0" spc="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3000" b="1" kern="0" spc="-3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Vaporwave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6" name="textbox 526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Marketi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28" name="picture 5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7700" y="1952625"/>
            <a:ext cx="1714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rect 5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32" name="rect 532"/>
          <p:cNvSpPr/>
          <p:nvPr/>
        </p:nvSpPr>
        <p:spPr>
          <a:xfrm>
            <a:off x="0" y="0"/>
            <a:ext cx="12191701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34" name="rect 534"/>
          <p:cNvSpPr/>
          <p:nvPr/>
        </p:nvSpPr>
        <p:spPr>
          <a:xfrm>
            <a:off x="3924299" y="514350"/>
            <a:ext cx="1781175" cy="4095750"/>
          </a:xfrm>
          <a:prstGeom prst="rect">
            <a:avLst/>
          </a:prstGeom>
          <a:solidFill>
            <a:srgbClr val="F4EFE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36" name="rect 536"/>
          <p:cNvSpPr/>
          <p:nvPr/>
        </p:nvSpPr>
        <p:spPr>
          <a:xfrm>
            <a:off x="7820025" y="514350"/>
            <a:ext cx="1781175" cy="4095750"/>
          </a:xfrm>
          <a:prstGeom prst="rect">
            <a:avLst/>
          </a:prstGeom>
          <a:solidFill>
            <a:srgbClr val="2F80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38" name="rect 538"/>
          <p:cNvSpPr/>
          <p:nvPr/>
        </p:nvSpPr>
        <p:spPr>
          <a:xfrm>
            <a:off x="5876925" y="514350"/>
            <a:ext cx="1771650" cy="4095750"/>
          </a:xfrm>
          <a:prstGeom prst="rect">
            <a:avLst/>
          </a:prstGeom>
          <a:solidFill>
            <a:srgbClr val="11182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0" name="rect 540"/>
          <p:cNvSpPr/>
          <p:nvPr/>
        </p:nvSpPr>
        <p:spPr>
          <a:xfrm>
            <a:off x="9772650" y="514350"/>
            <a:ext cx="1771650" cy="4095750"/>
          </a:xfrm>
          <a:prstGeom prst="rect">
            <a:avLst/>
          </a:prstGeom>
          <a:solidFill>
            <a:srgbClr val="F2994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2" name="textbox 542"/>
          <p:cNvSpPr/>
          <p:nvPr/>
        </p:nvSpPr>
        <p:spPr>
          <a:xfrm>
            <a:off x="635000" y="503993"/>
            <a:ext cx="2855595" cy="1499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285"/>
              </a:lnSpc>
            </a:pP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900" b="1" kern="0" spc="-6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900" b="1" kern="0" spc="-7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ILLUSTRATION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COLOR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STUDY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indent="635" algn="l" rtl="0" eaLnBrk="0">
              <a:lnSpc>
                <a:spcPct val="95000"/>
              </a:lnSpc>
              <a:spcBef>
                <a:spcPts val="1335"/>
              </a:spcBef>
            </a:pPr>
            <a:r>
              <a:rPr sz="3000" b="1" kern="0" spc="-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插画视觉 / 色彩</a:t>
            </a:r>
            <a:r>
              <a:rPr sz="3000" b="1" kern="0" spc="-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1000"/>
              </a:lnSpc>
              <a:spcBef>
                <a:spcPts val="5"/>
              </a:spcBef>
              <a:tabLst>
                <a:tab pos="184150" algn="l"/>
              </a:tabLst>
            </a:pPr>
            <a:r>
              <a:rPr sz="10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111827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44" name="rect 544"/>
          <p:cNvSpPr/>
          <p:nvPr/>
        </p:nvSpPr>
        <p:spPr>
          <a:xfrm>
            <a:off x="3924299" y="4781550"/>
            <a:ext cx="1781175" cy="2076449"/>
          </a:xfrm>
          <a:prstGeom prst="rect">
            <a:avLst/>
          </a:prstGeom>
          <a:solidFill>
            <a:srgbClr val="27AE60">
              <a:alpha val="99607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6" name="textbox 546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Marketi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rect 5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50" name="picture 5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924300" y="1047750"/>
            <a:ext cx="2438400" cy="2305050"/>
          </a:xfrm>
          <a:prstGeom prst="rect">
            <a:avLst/>
          </a:prstGeom>
        </p:spPr>
      </p:pic>
      <p:pic>
        <p:nvPicPr>
          <p:cNvPr id="552" name="picture 5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24300" y="3505200"/>
            <a:ext cx="2438400" cy="2305050"/>
          </a:xfrm>
          <a:prstGeom prst="rect">
            <a:avLst/>
          </a:prstGeom>
        </p:spPr>
      </p:pic>
      <p:pic>
        <p:nvPicPr>
          <p:cNvPr id="554" name="picture 5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15100" y="1047750"/>
            <a:ext cx="2438400" cy="2305050"/>
          </a:xfrm>
          <a:prstGeom prst="rect">
            <a:avLst/>
          </a:prstGeom>
        </p:spPr>
      </p:pic>
      <p:pic>
        <p:nvPicPr>
          <p:cNvPr id="556" name="picture 5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515100" y="3505200"/>
            <a:ext cx="2438400" cy="2305050"/>
          </a:xfrm>
          <a:prstGeom prst="rect">
            <a:avLst/>
          </a:prstGeom>
        </p:spPr>
      </p:pic>
      <p:pic>
        <p:nvPicPr>
          <p:cNvPr id="558" name="picture 5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105900" y="1047750"/>
            <a:ext cx="2438400" cy="2305050"/>
          </a:xfrm>
          <a:prstGeom prst="rect">
            <a:avLst/>
          </a:prstGeom>
        </p:spPr>
      </p:pic>
      <p:sp>
        <p:nvSpPr>
          <p:cNvPr id="560" name="textbox 560"/>
          <p:cNvSpPr/>
          <p:nvPr/>
        </p:nvSpPr>
        <p:spPr>
          <a:xfrm>
            <a:off x="637286" y="841502"/>
            <a:ext cx="2214879" cy="934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180" indent="-30480" algn="l" rtl="0" eaLnBrk="0">
              <a:lnSpc>
                <a:spcPct val="99000"/>
              </a:lnSpc>
              <a:spcBef>
                <a:spcPts val="0"/>
              </a:spcBef>
            </a:pPr>
            <a:r>
              <a:rPr sz="3000" b="1" kern="0" spc="-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Creative </a:t>
            </a:r>
            <a:r>
              <a:rPr sz="3000" b="1" kern="0" spc="-3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Experiment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2" name="textbox 562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Marketi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4" name="textbox 564"/>
          <p:cNvSpPr/>
          <p:nvPr/>
        </p:nvSpPr>
        <p:spPr>
          <a:xfrm>
            <a:off x="636571" y="5133323"/>
            <a:ext cx="2494279" cy="647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901" rIns="0" bIns="0"/>
          <a:lstStyle/>
          <a:p>
            <a:pPr marL="12700" algn="l" rtl="0" eaLnBrk="0">
              <a:lnSpc>
                <a:spcPct val="126000"/>
              </a:lnSpc>
              <a:spcBef>
                <a:spcPts val="5"/>
              </a:spcBef>
            </a:pPr>
            <a:r>
              <a:rPr sz="1100" kern="0" spc="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图像生成用于快速探索节日氛围、产</a:t>
            </a: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品场景和海外</a:t>
            </a:r>
            <a:r>
              <a:rPr sz="1100" kern="0" spc="11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kern="0" spc="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</a:t>
            </a: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方向，再</a:t>
            </a:r>
            <a:r>
              <a:rPr sz="1100" kern="0" spc="1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进入人工筛</a:t>
            </a:r>
            <a:r>
              <a:rPr sz="1100" kern="0" spc="-3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选与精修。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6" name="textbox 566"/>
          <p:cNvSpPr/>
          <p:nvPr/>
        </p:nvSpPr>
        <p:spPr>
          <a:xfrm>
            <a:off x="645772" y="503993"/>
            <a:ext cx="2416175" cy="189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85"/>
              </a:lnSpc>
            </a:pP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900" b="1" kern="0" spc="-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900" b="1" kern="0" spc="-9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25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CREATIV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EXPERIMENT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68" name="picture 56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47700" y="1952625"/>
            <a:ext cx="1714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rect 5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72" name="rect 572"/>
          <p:cNvSpPr/>
          <p:nvPr/>
        </p:nvSpPr>
        <p:spPr>
          <a:xfrm>
            <a:off x="0" y="0"/>
            <a:ext cx="12191701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74" name="picture 5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924300" y="3505200"/>
            <a:ext cx="2438400" cy="2305050"/>
          </a:xfrm>
          <a:prstGeom prst="rect">
            <a:avLst/>
          </a:prstGeom>
        </p:spPr>
      </p:pic>
      <p:pic>
        <p:nvPicPr>
          <p:cNvPr id="576" name="picture 5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15100" y="3505200"/>
            <a:ext cx="2438400" cy="2305050"/>
          </a:xfrm>
          <a:prstGeom prst="rect">
            <a:avLst/>
          </a:prstGeom>
        </p:spPr>
      </p:pic>
      <p:pic>
        <p:nvPicPr>
          <p:cNvPr id="578" name="picture 5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67525" y="1123950"/>
            <a:ext cx="1733550" cy="2152650"/>
          </a:xfrm>
          <a:prstGeom prst="rect">
            <a:avLst/>
          </a:prstGeom>
        </p:spPr>
      </p:pic>
      <p:pic>
        <p:nvPicPr>
          <p:cNvPr id="580" name="picture 5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286250" y="1123950"/>
            <a:ext cx="1714500" cy="2152650"/>
          </a:xfrm>
          <a:prstGeom prst="rect">
            <a:avLst/>
          </a:prstGeom>
        </p:spPr>
      </p:pic>
      <p:pic>
        <p:nvPicPr>
          <p:cNvPr id="582" name="picture 5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467850" y="1123950"/>
            <a:ext cx="1714500" cy="2152650"/>
          </a:xfrm>
          <a:prstGeom prst="rect">
            <a:avLst/>
          </a:prstGeom>
        </p:spPr>
      </p:pic>
      <p:sp>
        <p:nvSpPr>
          <p:cNvPr id="584" name="textbox 584"/>
          <p:cNvSpPr/>
          <p:nvPr/>
        </p:nvSpPr>
        <p:spPr>
          <a:xfrm>
            <a:off x="642619" y="503993"/>
            <a:ext cx="2772410" cy="12338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algn="l" rtl="0" eaLnBrk="0">
              <a:lnSpc>
                <a:spcPts val="1285"/>
              </a:lnSpc>
            </a:pP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900" b="1" kern="0" spc="-6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900" b="1" kern="0" spc="-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MULTILINGUAL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LOCALIZATION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3000" b="1" kern="0" spc="-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多语言本地化视</a:t>
            </a:r>
            <a:r>
              <a:rPr sz="3000" b="1" kern="0" spc="-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觉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6" name="textbox 586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Marketi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8" name="textbox 588"/>
          <p:cNvSpPr/>
          <p:nvPr/>
        </p:nvSpPr>
        <p:spPr>
          <a:xfrm>
            <a:off x="637286" y="5132609"/>
            <a:ext cx="2422525" cy="648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9525" algn="l" rtl="0" eaLnBrk="0">
              <a:lnSpc>
                <a:spcPct val="126000"/>
              </a:lnSpc>
            </a:pP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同一视觉框架下适配英语、法</a:t>
            </a:r>
            <a:r>
              <a:rPr sz="1100" kern="0" spc="1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语、俄</a:t>
            </a:r>
            <a:r>
              <a:rPr sz="1100" kern="0" spc="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语、阿拉伯语等市场，处理文本长度</a:t>
            </a:r>
            <a:r>
              <a:rPr sz="1100" kern="0" spc="-1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100" kern="0" spc="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阅读方向和版面重心</a:t>
            </a:r>
            <a:r>
              <a:rPr sz="1100" kern="0" spc="-1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90" name="picture 59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47700" y="1952625"/>
            <a:ext cx="1714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rect 5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94" name="rect 594"/>
          <p:cNvSpPr/>
          <p:nvPr/>
        </p:nvSpPr>
        <p:spPr>
          <a:xfrm>
            <a:off x="0" y="0"/>
            <a:ext cx="12191701" cy="6858000"/>
          </a:xfrm>
          <a:prstGeom prst="rect">
            <a:avLst/>
          </a:prstGeom>
          <a:solidFill>
            <a:srgbClr val="F6F7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96" name="picture 5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924300" y="1552575"/>
            <a:ext cx="1419225" cy="1809750"/>
          </a:xfrm>
          <a:prstGeom prst="rect">
            <a:avLst/>
          </a:prstGeom>
        </p:spPr>
      </p:pic>
      <p:pic>
        <p:nvPicPr>
          <p:cNvPr id="598" name="picture 5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24300" y="3495675"/>
            <a:ext cx="1419225" cy="1809750"/>
          </a:xfrm>
          <a:prstGeom prst="rect">
            <a:avLst/>
          </a:prstGeom>
        </p:spPr>
      </p:pic>
      <p:pic>
        <p:nvPicPr>
          <p:cNvPr id="600" name="picture 6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476875" y="1552575"/>
            <a:ext cx="1419225" cy="1809750"/>
          </a:xfrm>
          <a:prstGeom prst="rect">
            <a:avLst/>
          </a:prstGeom>
        </p:spPr>
      </p:pic>
      <p:pic>
        <p:nvPicPr>
          <p:cNvPr id="602" name="picture 6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476875" y="3495675"/>
            <a:ext cx="1419225" cy="1809750"/>
          </a:xfrm>
          <a:prstGeom prst="rect">
            <a:avLst/>
          </a:prstGeom>
        </p:spPr>
      </p:pic>
      <p:pic>
        <p:nvPicPr>
          <p:cNvPr id="604" name="picture 60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572500" y="1552575"/>
            <a:ext cx="1419225" cy="1809750"/>
          </a:xfrm>
          <a:prstGeom prst="rect">
            <a:avLst/>
          </a:prstGeom>
        </p:spPr>
      </p:pic>
      <p:pic>
        <p:nvPicPr>
          <p:cNvPr id="606" name="picture 60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572500" y="3495675"/>
            <a:ext cx="1419225" cy="1809750"/>
          </a:xfrm>
          <a:prstGeom prst="rect">
            <a:avLst/>
          </a:prstGeom>
        </p:spPr>
      </p:pic>
      <p:pic>
        <p:nvPicPr>
          <p:cNvPr id="608" name="picture 60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125075" y="1552575"/>
            <a:ext cx="1419225" cy="1809750"/>
          </a:xfrm>
          <a:prstGeom prst="rect">
            <a:avLst/>
          </a:prstGeom>
        </p:spPr>
      </p:pic>
      <p:pic>
        <p:nvPicPr>
          <p:cNvPr id="610" name="picture 6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125075" y="3495675"/>
            <a:ext cx="1419225" cy="1809750"/>
          </a:xfrm>
          <a:prstGeom prst="rect">
            <a:avLst/>
          </a:prstGeom>
        </p:spPr>
      </p:pic>
      <p:pic>
        <p:nvPicPr>
          <p:cNvPr id="612" name="picture 6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029450" y="1552575"/>
            <a:ext cx="1409700" cy="1809750"/>
          </a:xfrm>
          <a:prstGeom prst="rect">
            <a:avLst/>
          </a:prstGeom>
        </p:spPr>
      </p:pic>
      <p:pic>
        <p:nvPicPr>
          <p:cNvPr id="614" name="picture 6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029450" y="3495675"/>
            <a:ext cx="1409700" cy="1809750"/>
          </a:xfrm>
          <a:prstGeom prst="rect">
            <a:avLst/>
          </a:prstGeom>
        </p:spPr>
      </p:pic>
      <p:sp>
        <p:nvSpPr>
          <p:cNvPr id="616" name="textbox 616"/>
          <p:cNvSpPr/>
          <p:nvPr/>
        </p:nvSpPr>
        <p:spPr>
          <a:xfrm>
            <a:off x="641095" y="503993"/>
            <a:ext cx="2444114" cy="838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ts val="1285"/>
              </a:lnSpc>
            </a:pP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900" b="1" kern="0" spc="-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900" b="1" kern="0" spc="-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900" b="1" kern="0" spc="2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2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SELECTED</a:t>
            </a:r>
            <a:r>
              <a:rPr sz="900" b="1" kern="0" spc="27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WORKS</a:t>
            </a:r>
            <a:r>
              <a:rPr sz="900" b="1" kern="0" spc="3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10" dirty="0">
                <a:solidFill>
                  <a:srgbClr val="12C8F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MATRIX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5"/>
              </a:spcBef>
            </a:pPr>
            <a:r>
              <a:rPr sz="3000" b="1" kern="0" spc="-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作品矩阵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8" name="textbox 618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Marketi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ng Visual</a:t>
            </a:r>
            <a:r>
              <a:rPr sz="900" kern="0" spc="1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</a:t>
            </a:r>
            <a:r>
              <a:rPr sz="900" kern="0" spc="1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</a:t>
            </a:r>
            <a:r>
              <a:rPr sz="900" kern="0" spc="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7D87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0" name="textbox 620"/>
          <p:cNvSpPr/>
          <p:nvPr/>
        </p:nvSpPr>
        <p:spPr>
          <a:xfrm>
            <a:off x="636285" y="5133181"/>
            <a:ext cx="2423160" cy="647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indent="-1270" algn="l" rtl="0" eaLnBrk="0">
              <a:lnSpc>
                <a:spcPct val="126000"/>
              </a:lnSpc>
            </a:pPr>
            <a:r>
              <a:rPr sz="1100" kern="0" spc="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精选作品矩阵集中展示</a:t>
            </a:r>
            <a:r>
              <a:rPr sz="1100" kern="0" spc="-1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工业产品海报、</a:t>
            </a: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节日营销、多语言本地化与 </a:t>
            </a:r>
            <a:r>
              <a:rPr sz="1100" kern="0" spc="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100" kern="0" spc="2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创意视</a:t>
            </a:r>
            <a:r>
              <a:rPr sz="1100" kern="0" spc="-60" dirty="0">
                <a:solidFill>
                  <a:srgbClr val="5260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觉。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22" name="picture 6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47700" y="1543050"/>
            <a:ext cx="1714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rect 6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26" name="picture 6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1701" cy="6858000"/>
          </a:xfrm>
          <a:prstGeom prst="rect">
            <a:avLst/>
          </a:prstGeom>
        </p:spPr>
      </p:pic>
      <p:sp>
        <p:nvSpPr>
          <p:cNvPr id="628" name="textbox 628"/>
          <p:cNvSpPr/>
          <p:nvPr/>
        </p:nvSpPr>
        <p:spPr>
          <a:xfrm>
            <a:off x="645772" y="503993"/>
            <a:ext cx="6996430" cy="24155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85"/>
              </a:lnSpc>
            </a:pPr>
            <a:r>
              <a:rPr sz="900" b="1" kern="0" spc="10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</a:t>
            </a:r>
            <a:r>
              <a:rPr sz="900" b="1" kern="0" spc="1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0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900" b="1" kern="0" spc="-10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0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sz="900" b="1" kern="0" spc="23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10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900" b="1" kern="0" spc="1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10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ACT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1530"/>
              </a:spcBef>
            </a:pPr>
            <a:r>
              <a:rPr sz="5100" b="1" kern="0" spc="-5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 You</a:t>
            </a:r>
            <a:endParaRPr sz="5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130" algn="l" rtl="0" eaLnBrk="0">
              <a:lnSpc>
                <a:spcPts val="2325"/>
              </a:lnSpc>
              <a:spcBef>
                <a:spcPts val="5"/>
              </a:spcBef>
            </a:pPr>
            <a:r>
              <a:rPr sz="1800" kern="0" spc="-1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 V</a:t>
            </a:r>
            <a:r>
              <a:rPr sz="1800" kern="0" spc="-2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isual</a:t>
            </a:r>
            <a:r>
              <a:rPr sz="1800" kern="0" spc="16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 /</a:t>
            </a:r>
            <a:r>
              <a:rPr sz="1800" kern="0" spc="16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Marketing</a:t>
            </a:r>
            <a:r>
              <a:rPr sz="1800" kern="0" spc="17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 / AI Creative</a:t>
            </a:r>
            <a:r>
              <a:rPr sz="1800" kern="0" spc="17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0" name="textbox 630"/>
          <p:cNvSpPr/>
          <p:nvPr/>
        </p:nvSpPr>
        <p:spPr>
          <a:xfrm>
            <a:off x="647134" y="6383642"/>
            <a:ext cx="10909300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Email:</a:t>
            </a:r>
            <a:r>
              <a:rPr sz="900" kern="0" spc="10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>
                  <a:extLst>
                    <a:ext uri="{DAF060AB-1E55-43B9-8AAB-6FB025537F2F}">
                      <wpsdc:hlinkClr xmlns:wpsdc="http://www.wps.cn/officeDocument/2017/drawingmlCustomData" val="B9C8D2"/>
                      <wpsdc:folHlinkClr xmlns:wpsdc="http://www.wps.cn/officeDocument/2017/drawingmlCustomData" val="B9C8D2"/>
                      <wpsdc:hlinkUnderline xmlns:wpsdc="http://www.wps.cn/officeDocument/2017/drawingmlCustomData" val="0"/>
                    </a:ext>
                  </a:extLst>
                </a:hlinkClick>
              </a:rPr>
              <a:t>name@example.com</a:t>
            </a:r>
            <a:r>
              <a:rPr sz="900" kern="0" spc="1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</a:t>
            </a:r>
            <a:r>
              <a:rPr sz="900" kern="0" spc="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Behance /</a:t>
            </a:r>
            <a:r>
              <a:rPr sz="900" kern="0" spc="11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Portf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olio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Link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2" name="textbox 632"/>
          <p:cNvSpPr/>
          <p:nvPr/>
        </p:nvSpPr>
        <p:spPr>
          <a:xfrm>
            <a:off x="646175" y="3179064"/>
            <a:ext cx="1859279" cy="384175"/>
          </a:xfrm>
          <a:prstGeom prst="rect">
            <a:avLst/>
          </a:prstGeom>
          <a:solidFill>
            <a:srgbClr val="12C8F4">
              <a:alpha val="14901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0" algn="l" rtl="0" eaLnBrk="0">
              <a:lnSpc>
                <a:spcPts val="1385"/>
              </a:lnSpc>
              <a:spcBef>
                <a:spcPts val="5"/>
              </a:spcBef>
            </a:pPr>
            <a:r>
              <a:rPr sz="1000" b="1" kern="0" spc="20" dirty="0">
                <a:solidFill>
                  <a:srgbClr val="DFF8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</a:t>
            </a:r>
            <a:r>
              <a:rPr sz="1000" b="1" kern="0" spc="10" dirty="0">
                <a:solidFill>
                  <a:srgbClr val="DFF8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Visual</a:t>
            </a:r>
            <a:r>
              <a:rPr sz="1000" b="1" kern="0" spc="100" dirty="0">
                <a:solidFill>
                  <a:srgbClr val="DFF8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b="1" kern="0" spc="10" dirty="0">
                <a:solidFill>
                  <a:srgbClr val="DFF8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4" name="group 14"/>
          <p:cNvGrpSpPr/>
          <p:nvPr/>
        </p:nvGrpSpPr>
        <p:grpSpPr>
          <a:xfrm rot="21600000">
            <a:off x="4151376" y="3179064"/>
            <a:ext cx="1508759" cy="384047"/>
            <a:chOff x="0" y="0"/>
            <a:chExt cx="1508759" cy="384047"/>
          </a:xfrm>
        </p:grpSpPr>
        <p:pic>
          <p:nvPicPr>
            <p:cNvPr id="634" name="picture 6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508759" cy="384047"/>
            </a:xfrm>
            <a:prstGeom prst="rect">
              <a:avLst/>
            </a:prstGeom>
          </p:spPr>
        </p:pic>
        <p:sp>
          <p:nvSpPr>
            <p:cNvPr id="636" name="textbox 636"/>
            <p:cNvSpPr/>
            <p:nvPr/>
          </p:nvSpPr>
          <p:spPr>
            <a:xfrm>
              <a:off x="-12700" y="-12700"/>
              <a:ext cx="1534160" cy="409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</a:pPr>
              <a:endParaRPr sz="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1765" algn="l" rtl="0" eaLnBrk="0">
                <a:lnSpc>
                  <a:spcPts val="1385"/>
                </a:lnSpc>
              </a:pPr>
              <a:r>
                <a:rPr sz="1000" b="1" kern="0" spc="20" dirty="0">
                  <a:solidFill>
                    <a:srgbClr val="DFF8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 Creative</a:t>
              </a:r>
              <a:r>
                <a:rPr sz="1000" b="1" kern="0" spc="100" dirty="0">
                  <a:solidFill>
                    <a:srgbClr val="DFF8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000" b="1" kern="0" spc="10" dirty="0">
                  <a:solidFill>
                    <a:srgbClr val="DFF8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Design</a:t>
              </a:r>
              <a:endParaRPr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638" name="textbox 638"/>
          <p:cNvSpPr/>
          <p:nvPr/>
        </p:nvSpPr>
        <p:spPr>
          <a:xfrm>
            <a:off x="2599944" y="3179064"/>
            <a:ext cx="1460500" cy="384175"/>
          </a:xfrm>
          <a:prstGeom prst="rect">
            <a:avLst/>
          </a:prstGeom>
          <a:solidFill>
            <a:srgbClr val="12C8F4">
              <a:alpha val="18431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0970" algn="l" rtl="0" eaLnBrk="0">
              <a:lnSpc>
                <a:spcPts val="1385"/>
              </a:lnSpc>
              <a:spcBef>
                <a:spcPts val="5"/>
              </a:spcBef>
            </a:pPr>
            <a:r>
              <a:rPr sz="1000" b="1" kern="0" spc="10" dirty="0">
                <a:solidFill>
                  <a:srgbClr val="DFF8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Marketing</a:t>
            </a:r>
            <a:r>
              <a:rPr sz="1000" b="1" kern="0" spc="130" dirty="0">
                <a:solidFill>
                  <a:srgbClr val="DFF8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b="1" kern="0" spc="10" dirty="0">
                <a:solidFill>
                  <a:srgbClr val="DFF8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rect 6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42" name="picture 6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1701" cy="6858000"/>
          </a:xfrm>
          <a:prstGeom prst="rect">
            <a:avLst/>
          </a:prstGeom>
        </p:spPr>
      </p:pic>
      <p:sp>
        <p:nvSpPr>
          <p:cNvPr id="644" name="textbox 644"/>
          <p:cNvSpPr/>
          <p:nvPr/>
        </p:nvSpPr>
        <p:spPr>
          <a:xfrm>
            <a:off x="638238" y="503993"/>
            <a:ext cx="7059930" cy="37249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ts val="1285"/>
              </a:lnSpc>
            </a:pP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PORTFOLIO</a:t>
            </a:r>
            <a:r>
              <a:rPr sz="900" b="1" kern="0" spc="6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900" b="1" kern="0" spc="-12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900" b="1" kern="0" spc="-10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900" b="1" kern="0" spc="-10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kern="0" spc="90" dirty="0">
                <a:solidFill>
                  <a:srgbClr val="61E6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1540"/>
              </a:spcBef>
            </a:pPr>
            <a:r>
              <a:rPr sz="5100" b="1" kern="0" spc="-3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Visual</a:t>
            </a:r>
            <a:r>
              <a:rPr sz="5100" b="1" kern="0" spc="43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100" b="1" kern="0" spc="-3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Designer for</a:t>
            </a:r>
            <a:endParaRPr sz="5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5405" algn="l" rtl="0" eaLnBrk="0">
              <a:lnSpc>
                <a:spcPct val="91000"/>
              </a:lnSpc>
              <a:spcBef>
                <a:spcPts val="65"/>
              </a:spcBef>
            </a:pPr>
            <a:r>
              <a:rPr sz="5100" b="1" kern="0" spc="-5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 Technology</a:t>
            </a:r>
            <a:r>
              <a:rPr sz="5100" b="1" kern="0" spc="7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100" b="1" kern="0" spc="-70" dirty="0">
                <a:solidFill>
                  <a:srgbClr val="F7F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Products</a:t>
            </a:r>
            <a:endParaRPr sz="5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algn="l" rtl="0" eaLnBrk="0">
              <a:lnSpc>
                <a:spcPct val="87000"/>
              </a:lnSpc>
            </a:pPr>
            <a:r>
              <a:rPr sz="1800" kern="0" spc="-10" dirty="0">
                <a:solidFill>
                  <a:srgbClr val="DCE8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工业科技产品视觉设计师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6" name="textbox 646"/>
          <p:cNvSpPr/>
          <p:nvPr/>
        </p:nvSpPr>
        <p:spPr>
          <a:xfrm>
            <a:off x="647134" y="6383642"/>
            <a:ext cx="1090993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Industrial</a:t>
            </a:r>
            <a:r>
              <a:rPr sz="900" kern="0" spc="11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 Visual · Overseas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Marketing ·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</a:t>
            </a:r>
            <a:r>
              <a:rPr sz="900" kern="0" spc="7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Creative</a:t>
            </a:r>
            <a:r>
              <a:rPr sz="900" kern="0" spc="1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</a:t>
            </a:r>
            <a:r>
              <a:rPr sz="900" kern="0" spc="1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r>
              <a:rPr sz="900" kern="0" spc="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20" dirty="0">
                <a:solidFill>
                  <a:srgbClr val="B9C8D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8" name="textbox 648"/>
          <p:cNvSpPr/>
          <p:nvPr/>
        </p:nvSpPr>
        <p:spPr>
          <a:xfrm>
            <a:off x="646175" y="4495800"/>
            <a:ext cx="1859279" cy="393700"/>
          </a:xfrm>
          <a:prstGeom prst="rect">
            <a:avLst/>
          </a:prstGeom>
          <a:solidFill>
            <a:srgbClr val="12C8F4">
              <a:alpha val="19215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0" algn="l" rtl="0" eaLnBrk="0">
              <a:lnSpc>
                <a:spcPts val="1385"/>
              </a:lnSpc>
              <a:spcBef>
                <a:spcPts val="0"/>
              </a:spcBef>
            </a:pPr>
            <a:r>
              <a:rPr sz="1000" b="1" kern="0" spc="20" dirty="0">
                <a:solidFill>
                  <a:srgbClr val="DFF8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Industria</a:t>
            </a:r>
            <a:r>
              <a:rPr sz="1000" b="1" kern="0" spc="10" dirty="0">
                <a:solidFill>
                  <a:srgbClr val="DFF8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Visual</a:t>
            </a:r>
            <a:r>
              <a:rPr sz="1000" b="1" kern="0" spc="100" dirty="0">
                <a:solidFill>
                  <a:srgbClr val="DFF8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b="1" kern="0" spc="10" dirty="0">
                <a:solidFill>
                  <a:srgbClr val="DFF8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0" name="textbox 650"/>
          <p:cNvSpPr/>
          <p:nvPr/>
        </p:nvSpPr>
        <p:spPr>
          <a:xfrm>
            <a:off x="4151376" y="4495800"/>
            <a:ext cx="1508760" cy="393700"/>
          </a:xfrm>
          <a:prstGeom prst="rect">
            <a:avLst/>
          </a:prstGeom>
          <a:solidFill>
            <a:srgbClr val="12C8F4">
              <a:alpha val="13333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065" algn="l" rtl="0" eaLnBrk="0">
              <a:lnSpc>
                <a:spcPts val="1385"/>
              </a:lnSpc>
              <a:spcBef>
                <a:spcPts val="0"/>
              </a:spcBef>
            </a:pPr>
            <a:r>
              <a:rPr sz="1000" b="1" kern="0" spc="20" dirty="0">
                <a:solidFill>
                  <a:srgbClr val="DFF8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Creative</a:t>
            </a:r>
            <a:r>
              <a:rPr sz="1000" b="1" kern="0" spc="100" dirty="0">
                <a:solidFill>
                  <a:srgbClr val="DFF8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b="1" kern="0" spc="10" dirty="0">
                <a:solidFill>
                  <a:srgbClr val="DFF8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2" name="textbox 652"/>
          <p:cNvSpPr/>
          <p:nvPr/>
        </p:nvSpPr>
        <p:spPr>
          <a:xfrm>
            <a:off x="2599944" y="4495800"/>
            <a:ext cx="1460500" cy="393700"/>
          </a:xfrm>
          <a:prstGeom prst="rect">
            <a:avLst/>
          </a:prstGeom>
          <a:solidFill>
            <a:srgbClr val="12C8F4">
              <a:alpha val="12549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0970" algn="l" rtl="0" eaLnBrk="0">
              <a:lnSpc>
                <a:spcPts val="1385"/>
              </a:lnSpc>
              <a:spcBef>
                <a:spcPts val="0"/>
              </a:spcBef>
            </a:pPr>
            <a:r>
              <a:rPr sz="1000" b="1" kern="0" spc="10" dirty="0">
                <a:solidFill>
                  <a:srgbClr val="DFF8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Marketing</a:t>
            </a:r>
            <a:r>
              <a:rPr sz="1000" b="1" kern="0" spc="130" dirty="0">
                <a:solidFill>
                  <a:srgbClr val="DFF8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b="1" kern="0" spc="10" dirty="0">
                <a:solidFill>
                  <a:srgbClr val="DFF8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12126</Words>
  <Application>WPS 演示</Application>
  <PresentationFormat/>
  <Paragraphs>489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Product Visual Portfolio</dc:title>
  <dc:creator/>
  <cp:lastModifiedBy>senorita@悦</cp:lastModifiedBy>
  <cp:revision>1</cp:revision>
  <dcterms:created xsi:type="dcterms:W3CDTF">2026-06-09T12:12:17Z</dcterms:created>
  <dcterms:modified xsi:type="dcterms:W3CDTF">2026-06-09T12:12:17Z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2026-06-09T19:42:15Z</vt:filetime>
  </property>
  <property fmtid="{D5CDD505-2E9C-101B-9397-08002B2CF9AE}" pid="4" name="KSOProductBuildVer">
    <vt:lpwstr>2052-12.1.0.26895</vt:lpwstr>
  </property>
  <property fmtid="{D5CDD505-2E9C-101B-9397-08002B2CF9AE}" pid="5" name="ICV">
    <vt:lpwstr>E9DE0B2A526E4C9480C45DA493FBC7D5_12</vt:lpwstr>
  </property>
</Properties>
</file>